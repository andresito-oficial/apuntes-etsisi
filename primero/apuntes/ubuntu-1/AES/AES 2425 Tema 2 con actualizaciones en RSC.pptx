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2.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4"/>
  </p:notesMasterIdLst>
  <p:sldIdLst>
    <p:sldId id="256" r:id="rId5"/>
    <p:sldId id="428" r:id="rId6"/>
    <p:sldId id="308" r:id="rId7"/>
    <p:sldId id="338" r:id="rId8"/>
    <p:sldId id="315" r:id="rId9"/>
    <p:sldId id="316" r:id="rId10"/>
    <p:sldId id="317" r:id="rId11"/>
    <p:sldId id="476" r:id="rId12"/>
    <p:sldId id="477" r:id="rId13"/>
    <p:sldId id="470" r:id="rId14"/>
    <p:sldId id="472" r:id="rId15"/>
    <p:sldId id="473" r:id="rId16"/>
    <p:sldId id="474" r:id="rId17"/>
    <p:sldId id="475" r:id="rId18"/>
    <p:sldId id="426"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427" r:id="rId33"/>
    <p:sldId id="333" r:id="rId34"/>
    <p:sldId id="481" r:id="rId35"/>
    <p:sldId id="480" r:id="rId36"/>
    <p:sldId id="484" r:id="rId37"/>
    <p:sldId id="435" r:id="rId38"/>
    <p:sldId id="459" r:id="rId39"/>
    <p:sldId id="490" r:id="rId40"/>
    <p:sldId id="429" r:id="rId41"/>
    <p:sldId id="482" r:id="rId42"/>
    <p:sldId id="386" r:id="rId43"/>
    <p:sldId id="486" r:id="rId44"/>
    <p:sldId id="483" r:id="rId45"/>
    <p:sldId id="431" r:id="rId46"/>
    <p:sldId id="432" r:id="rId47"/>
    <p:sldId id="460" r:id="rId48"/>
    <p:sldId id="448" r:id="rId49"/>
    <p:sldId id="487" r:id="rId50"/>
    <p:sldId id="488" r:id="rId51"/>
    <p:sldId id="452" r:id="rId52"/>
    <p:sldId id="423" r:id="rId5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a:srgbClr val="8D1B77"/>
    <a:srgbClr val="0060DF"/>
    <a:srgbClr val="005362"/>
    <a:srgbClr val="0094AF"/>
    <a:srgbClr val="FFAD42"/>
    <a:srgbClr val="FF76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79521" autoAdjust="0"/>
  </p:normalViewPr>
  <p:slideViewPr>
    <p:cSldViewPr snapToGrid="0">
      <p:cViewPr varScale="1">
        <p:scale>
          <a:sx n="86" d="100"/>
          <a:sy n="86" d="100"/>
        </p:scale>
        <p:origin x="1566" y="120"/>
      </p:cViewPr>
      <p:guideLst/>
    </p:cSldViewPr>
  </p:slideViewPr>
  <p:notesTextViewPr>
    <p:cViewPr>
      <p:scale>
        <a:sx n="300" d="100"/>
        <a:sy n="300" d="100"/>
      </p:scale>
      <p:origin x="0" y="0"/>
    </p:cViewPr>
  </p:notesTextViewPr>
  <p:sorterViewPr>
    <p:cViewPr>
      <p:scale>
        <a:sx n="100" d="100"/>
        <a:sy n="100" d="100"/>
      </p:scale>
      <p:origin x="0" y="-18076"/>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03T12:07:54.538"/>
    </inkml:context>
    <inkml:brush xml:id="br0">
      <inkml:brushProperty name="width" value="0.05" units="cm"/>
      <inkml:brushProperty name="height" value="0.05" units="cm"/>
      <inkml:brushProperty name="color" value="#66CC00"/>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29T23:24:25.50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1 247,'46'3,"-1"1,48 11,-34-5,12 2,88 11,314-19,-255-6,549 2,-738-2,-1-1,0-1,0-2,41-13,-34 9,1 1,35-4,181-24,1-18,-135 25,-38 8,-47 13,0 0,0 2,44-3,49-6,4 0,10-2,-3 0,308 16,-226 4,2133-2,-2301 3,-1 2,90 21,-79-13,73 7,228-16,-196-6,1096 2,-1224-2,57-10,-6 0,464 2,-336 12,2653-2,-2831-2,75-14,12-1,248 15,-191 4,1903-2,-2056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516698-0A7E-4179-B81A-30B2783F2C15}" type="datetimeFigureOut">
              <a:rPr lang="es-ES" smtClean="0"/>
              <a:t>27/03/2025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D7475-3A4C-451E-84F4-15FDA2C826AA}" type="slidenum">
              <a:rPr lang="es-ES" smtClean="0"/>
              <a:t>‹Nº›</a:t>
            </a:fld>
            <a:endParaRPr lang="es-ES"/>
          </a:p>
        </p:txBody>
      </p:sp>
    </p:spTree>
    <p:extLst>
      <p:ext uri="{BB962C8B-B14F-4D97-AF65-F5344CB8AC3E}">
        <p14:creationId xmlns:p14="http://schemas.microsoft.com/office/powerpoint/2010/main" val="1589470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youtube.com/watch?v=Ts5i3FnbLug"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thicsunwrapped.utexas.edu/glossary/virtue-ethic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elpais.com/tecnologia/2022-04-22/un-algoritmo-opaco-al-que-han-detectado-errores-decide-quien-recibe-ayudas-publicas-del-bono-social.html#?rel=mas"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www.politico.eu/article/dutch-scandal-serves-as-a-warning-for-europe-over-risks-of-using-algorithms/"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theguardian.com/technology/2023/mar/17/openai-sam-altman-artificial-intelligence-warning-gpt4" TargetMode="External"/><Relationship Id="rId2" Type="http://schemas.openxmlformats.org/officeDocument/2006/relationships/slide" Target="../slides/slide37.xml"/><Relationship Id="rId1" Type="http://schemas.openxmlformats.org/officeDocument/2006/relationships/notesMaster" Target="../notesMasters/notesMaster1.xml"/><Relationship Id="rId5" Type="http://schemas.openxmlformats.org/officeDocument/2006/relationships/hyperlink" Target="https://drive.upm.es/s/hpPTJzOsaeMh9qX" TargetMode="External"/><Relationship Id="rId4" Type="http://schemas.openxmlformats.org/officeDocument/2006/relationships/hyperlink" Target="https://wtmbarcelona.com/" TargetMode="Externa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legifrance.gouv.fr/jorf/id/JORFTEXT000034290626/" TargetMode="External"/><Relationship Id="rId2" Type="http://schemas.openxmlformats.org/officeDocument/2006/relationships/slide" Target="../slides/slide38.xml"/><Relationship Id="rId1" Type="http://schemas.openxmlformats.org/officeDocument/2006/relationships/notesMaster" Target="../notesMasters/notesMaster1.xml"/><Relationship Id="rId5" Type="http://schemas.openxmlformats.org/officeDocument/2006/relationships/hyperlink" Target="https://stortinget.no/no/Saker-og-publikasjoner/Vedtak/Beslutninger/Lovvedtak/2020-2021/vedtak-202021-176/" TargetMode="External"/><Relationship Id="rId4" Type="http://schemas.openxmlformats.org/officeDocument/2006/relationships/hyperlink" Target="https://www.mvoplatform.nl/en/frequently-asked-questions-about-the-new-dutch-child-labour-due-diligence-law/"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empresasresponsables.org/que-es-la-debida-diligencia/"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youtube.com/watch?v=uJQorBhZL7w&amp;feature=youtu.be"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www.ted.com/talks/michael_porter_why_business_can_be_good_at_solving_social_problems?language=es" TargetMode="Externa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youtube.com/watch?v=uJQorBhZL7w&amp;feature=youtu.be" TargetMode="External"/><Relationship Id="rId2" Type="http://schemas.openxmlformats.org/officeDocument/2006/relationships/slide" Target="../slides/slide46.xml"/><Relationship Id="rId1" Type="http://schemas.openxmlformats.org/officeDocument/2006/relationships/notesMaster" Target="../notesMasters/notesMaster1.xml"/><Relationship Id="rId4" Type="http://schemas.openxmlformats.org/officeDocument/2006/relationships/hyperlink" Target="http://www.ted.com/talks/michael_porter_why_business_can_be_good_at_solving_social_problems?language=es" TargetMode="Externa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youtube.com/watch?v=uJQorBhZL7w&amp;feature=youtu.be" TargetMode="External"/><Relationship Id="rId2" Type="http://schemas.openxmlformats.org/officeDocument/2006/relationships/slide" Target="../slides/slide47.xml"/><Relationship Id="rId1" Type="http://schemas.openxmlformats.org/officeDocument/2006/relationships/notesMaster" Target="../notesMasters/notesMaster1.xml"/><Relationship Id="rId4" Type="http://schemas.openxmlformats.org/officeDocument/2006/relationships/hyperlink" Target="http://www.ted.com/talks/michael_porter_why_business_can_be_good_at_solving_social_problems?language=es"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sz="800"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1</a:t>
            </a:fld>
            <a:endParaRPr lang="es-ES"/>
          </a:p>
        </p:txBody>
      </p:sp>
    </p:spTree>
    <p:extLst>
      <p:ext uri="{BB962C8B-B14F-4D97-AF65-F5344CB8AC3E}">
        <p14:creationId xmlns:p14="http://schemas.microsoft.com/office/powerpoint/2010/main" val="3993429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D0D48B6C-C8FC-4088-A352-1D70E26D8F4B}" type="slidenum">
              <a:rPr lang="es-ES" smtClean="0"/>
              <a:pPr/>
              <a:t>5</a:t>
            </a:fld>
            <a:endParaRPr lang="es-ES"/>
          </a:p>
        </p:txBody>
      </p:sp>
    </p:spTree>
    <p:extLst>
      <p:ext uri="{BB962C8B-B14F-4D97-AF65-F5344CB8AC3E}">
        <p14:creationId xmlns:p14="http://schemas.microsoft.com/office/powerpoint/2010/main" val="37361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nchor="b"/>
          <a:lstStyle>
            <a:lvl1pPr defTabSz="957263">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defTabSz="957263">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defTabSz="957263">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defTabSz="957263">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defTabSz="957263">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pPr>
            <a:fld id="{105936EE-843D-4A40-81A4-5CEB34FA30B1}" type="slidenum">
              <a:rPr lang="es-ES" altLang="es-ES" sz="1300">
                <a:cs typeface="Arial" panose="020B0604020202020204" pitchFamily="34" charset="0"/>
              </a:rPr>
              <a:pPr algn="r" eaLnBrk="1" hangingPunct="1">
                <a:spcBef>
                  <a:spcPct val="0"/>
                </a:spcBef>
              </a:pPr>
              <a:t>6</a:t>
            </a:fld>
            <a:endParaRPr lang="es-ES" altLang="es-ES" sz="1300">
              <a:cs typeface="Arial" panose="020B0604020202020204" pitchFamily="34"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lstStyle/>
          <a:p>
            <a:endParaRPr lang="es-ES" altLang="es-ES">
              <a:latin typeface="Arial" panose="020B0604020202020204" pitchFamily="34" charset="0"/>
            </a:endParaRPr>
          </a:p>
        </p:txBody>
      </p:sp>
    </p:spTree>
    <p:extLst>
      <p:ext uri="{BB962C8B-B14F-4D97-AF65-F5344CB8AC3E}">
        <p14:creationId xmlns:p14="http://schemas.microsoft.com/office/powerpoint/2010/main" val="4243338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nchor="b"/>
          <a:lstStyle>
            <a:lvl1pPr defTabSz="957263">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defTabSz="957263">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defTabSz="957263">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defTabSz="957263">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defTabSz="957263">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defTabSz="957263"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defTabSz="957263"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defTabSz="957263"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defTabSz="957263"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lgn="r" eaLnBrk="1" hangingPunct="1">
              <a:spcBef>
                <a:spcPct val="0"/>
              </a:spcBef>
            </a:pPr>
            <a:fld id="{2420B844-DEEA-41E2-8CC9-ADC3E489174F}" type="slidenum">
              <a:rPr lang="es-ES" altLang="es-ES" sz="1300">
                <a:cs typeface="Arial" panose="020B0604020202020204" pitchFamily="34" charset="0"/>
              </a:rPr>
              <a:pPr algn="r" eaLnBrk="1" hangingPunct="1">
                <a:spcBef>
                  <a:spcPct val="0"/>
                </a:spcBef>
              </a:pPr>
              <a:t>7</a:t>
            </a:fld>
            <a:endParaRPr lang="es-ES" altLang="es-ES" sz="1300">
              <a:cs typeface="Arial" panose="020B0604020202020204" pitchFamily="34" charset="0"/>
            </a:endParaRPr>
          </a:p>
        </p:txBody>
      </p:sp>
      <p:sp>
        <p:nvSpPr>
          <p:cNvPr id="60419"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lstStyle/>
          <a:p>
            <a:pPr>
              <a:defRPr/>
            </a:pPr>
            <a:r>
              <a:rPr lang="es-ES" altLang="es-ES" sz="1100" dirty="0">
                <a:latin typeface="+mn-lt"/>
              </a:rPr>
              <a:t>La idea es visibilizar distintas componentes que hay que tener en cuenta a la hora de tomar y argumentar decisiones éticas: los principios y normas éticas, las consecuencias de la acción, la propia escala de valores, tener en cuenta a todas las partes afectadas,… </a:t>
            </a:r>
          </a:p>
          <a:p>
            <a:pPr>
              <a:defRPr/>
            </a:pPr>
            <a:r>
              <a:rPr lang="es-ES" altLang="es-ES" sz="1100" dirty="0">
                <a:latin typeface="+mn-lt"/>
              </a:rPr>
              <a:t>Se puede ver cómo se enfocarían los dilemas éticos desde cada una</a:t>
            </a:r>
            <a:r>
              <a:rPr lang="es-ES" altLang="es-ES" sz="1100" baseline="0" dirty="0">
                <a:latin typeface="+mn-lt"/>
              </a:rPr>
              <a:t> de ellas</a:t>
            </a:r>
            <a:r>
              <a:rPr lang="es-ES" altLang="es-ES" sz="1100" dirty="0">
                <a:latin typeface="+mn-lt"/>
              </a:rPr>
              <a:t>…</a:t>
            </a:r>
          </a:p>
          <a:p>
            <a:pPr marL="228600" marR="0" indent="-228600" algn="l" defTabSz="914400" rtl="0" eaLnBrk="0" fontAlgn="base" latinLnBrk="0" hangingPunct="0">
              <a:lnSpc>
                <a:spcPct val="100000"/>
              </a:lnSpc>
              <a:spcBef>
                <a:spcPct val="30000"/>
              </a:spcBef>
              <a:spcAft>
                <a:spcPct val="0"/>
              </a:spcAft>
              <a:buClrTx/>
              <a:buSzTx/>
              <a:buFontTx/>
              <a:buAutoNum type="arabicPeriod"/>
              <a:tabLst/>
              <a:defRPr/>
            </a:pPr>
            <a:r>
              <a:rPr lang="es-ES" altLang="es-ES" sz="1100" b="1" dirty="0" err="1">
                <a:latin typeface="+mn-lt"/>
              </a:rPr>
              <a:t>Consecuencialista</a:t>
            </a:r>
            <a:r>
              <a:rPr lang="es-ES" altLang="es-ES" sz="1100" b="1" dirty="0">
                <a:latin typeface="+mn-lt"/>
              </a:rPr>
              <a:t>-Utilitarista (Mill, </a:t>
            </a:r>
            <a:r>
              <a:rPr lang="es-ES" altLang="es-ES" sz="1100" b="1" dirty="0" err="1">
                <a:latin typeface="+mn-lt"/>
              </a:rPr>
              <a:t>Benthan</a:t>
            </a:r>
            <a:r>
              <a:rPr lang="es-ES" altLang="es-ES" sz="1100" b="1" dirty="0">
                <a:latin typeface="+mn-lt"/>
              </a:rPr>
              <a:t>) </a:t>
            </a:r>
            <a:r>
              <a:rPr lang="es-ES" altLang="es-ES" sz="1100" dirty="0">
                <a:latin typeface="+mn-lt"/>
              </a:rPr>
              <a:t>es el enfoque más utilizado en el mundo empresarial. Su objetivo es encontrar la solución que produzca un mayor beneficio para</a:t>
            </a:r>
          </a:p>
          <a:p>
            <a:pPr marL="0" marR="0" indent="0" algn="l" defTabSz="914400" rtl="0" eaLnBrk="0" fontAlgn="base" latinLnBrk="0" hangingPunct="0">
              <a:lnSpc>
                <a:spcPct val="100000"/>
              </a:lnSpc>
              <a:spcBef>
                <a:spcPct val="30000"/>
              </a:spcBef>
              <a:spcAft>
                <a:spcPct val="0"/>
              </a:spcAft>
              <a:buClrTx/>
              <a:buSzTx/>
              <a:buFontTx/>
              <a:buNone/>
              <a:tabLst/>
              <a:defRPr/>
            </a:pPr>
            <a:r>
              <a:rPr lang="es-ES" altLang="es-ES" sz="1100" dirty="0">
                <a:latin typeface="+mn-lt"/>
              </a:rPr>
              <a:t>mayor número de afectados.  (se  podría esclavizar a un 2%</a:t>
            </a:r>
            <a:r>
              <a:rPr lang="es-ES" altLang="es-ES" sz="1100" baseline="0" dirty="0">
                <a:latin typeface="+mn-lt"/>
              </a:rPr>
              <a:t> para que la mayoría viviese bien).</a:t>
            </a:r>
            <a:endParaRPr lang="es-ES" altLang="es-ES" sz="1100" dirty="0">
              <a:latin typeface="+mn-lt"/>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s-ES" altLang="es-ES" sz="1100" dirty="0">
                <a:latin typeface="+mn-lt"/>
              </a:rPr>
              <a:t>2. Para superar las posibles limitaciones del utilitarismo, </a:t>
            </a:r>
            <a:r>
              <a:rPr lang="es-ES" altLang="es-ES" sz="1100" b="1" dirty="0">
                <a:latin typeface="+mn-lt"/>
              </a:rPr>
              <a:t>Rawls </a:t>
            </a:r>
            <a:r>
              <a:rPr lang="es-ES" altLang="es-ES" sz="1100" dirty="0">
                <a:latin typeface="+mn-lt"/>
              </a:rPr>
              <a:t>propone la </a:t>
            </a:r>
            <a:r>
              <a:rPr lang="es-ES" altLang="es-ES" sz="1100" b="1" dirty="0">
                <a:latin typeface="+mn-lt"/>
              </a:rPr>
              <a:t>ética de la justicia</a:t>
            </a:r>
            <a:r>
              <a:rPr lang="es-ES" altLang="es-ES" sz="1100" dirty="0">
                <a:latin typeface="+mn-lt"/>
              </a:rPr>
              <a:t>, un contrato social mediante el que las personas deben establecer las condiciones en que están dispuestos a vivir en sociedad. </a:t>
            </a:r>
          </a:p>
          <a:p>
            <a:pPr marL="0" indent="0">
              <a:buFontTx/>
              <a:buNone/>
              <a:defRPr/>
            </a:pPr>
            <a:r>
              <a:rPr lang="es-ES" altLang="es-ES" sz="1100" b="1" dirty="0">
                <a:latin typeface="+mn-lt"/>
              </a:rPr>
              <a:t>3.</a:t>
            </a:r>
            <a:r>
              <a:rPr lang="es-ES" altLang="es-ES" sz="1100" b="1" baseline="0" dirty="0">
                <a:latin typeface="+mn-lt"/>
              </a:rPr>
              <a:t> </a:t>
            </a:r>
            <a:r>
              <a:rPr lang="es-ES" altLang="es-ES" sz="1100" b="1" dirty="0" err="1">
                <a:latin typeface="+mn-lt"/>
              </a:rPr>
              <a:t>Etica</a:t>
            </a:r>
            <a:r>
              <a:rPr lang="es-ES" altLang="es-ES" sz="1100" b="1" dirty="0">
                <a:latin typeface="+mn-lt"/>
              </a:rPr>
              <a:t> del deber racional-deontológica (Kant): </a:t>
            </a:r>
            <a:r>
              <a:rPr lang="es-ES" altLang="es-ES" sz="1100" dirty="0">
                <a:latin typeface="+mn-lt"/>
              </a:rPr>
              <a:t>pone el foco no en las consecuencias, sino en ciertos principios y normas a los que se llega a través del uso de la razón. Este enfoque parte de que la razón que compartimos nos hace personas, con dignidad propia. Debemos hacernos tres preguntas: a) es nuestra acción universalizable. b) nos sentiríamos cómodos haciendo pública nuestra decisión-acción. C) Estamos tratando a los demás como fines en sí mismos, y no sólo como medios. (En el dilema de Snowden, no cabría</a:t>
            </a:r>
            <a:r>
              <a:rPr lang="es-ES" altLang="es-ES" sz="1100" baseline="0" dirty="0">
                <a:latin typeface="+mn-lt"/>
              </a:rPr>
              <a:t> saltarse el deber de confidencialidad…)</a:t>
            </a:r>
            <a:endParaRPr lang="es-ES" altLang="es-ES" sz="1100" dirty="0">
              <a:latin typeface="+mn-lt"/>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s-ES" altLang="es-ES" sz="1100" b="1" dirty="0">
                <a:latin typeface="+mn-lt"/>
              </a:rPr>
              <a:t>4. </a:t>
            </a:r>
            <a:r>
              <a:rPr lang="es-ES" altLang="es-ES" sz="1100" b="1" dirty="0" err="1">
                <a:latin typeface="+mn-lt"/>
              </a:rPr>
              <a:t>Etica</a:t>
            </a:r>
            <a:r>
              <a:rPr lang="es-ES" altLang="es-ES" sz="1100" b="1" dirty="0">
                <a:latin typeface="+mn-lt"/>
              </a:rPr>
              <a:t> dialógica (Habermas/Adela Cortina) </a:t>
            </a:r>
            <a:r>
              <a:rPr lang="es-ES" altLang="es-ES" sz="1100" dirty="0">
                <a:latin typeface="+mn-lt"/>
              </a:rPr>
              <a:t>sostiene que lo éticamente adecuado puede emerger de la comunicación con otros, en vez del razonamiento individual. Corrección</a:t>
            </a:r>
            <a:r>
              <a:rPr lang="es-ES" altLang="es-ES" sz="1100" baseline="0" dirty="0">
                <a:latin typeface="+mn-lt"/>
              </a:rPr>
              <a:t> de la acción: diálogo, argumentación y participación de afectados. </a:t>
            </a:r>
            <a:endParaRPr lang="es-ES" altLang="es-ES" sz="1100" b="1" dirty="0">
              <a:latin typeface="+mn-lt"/>
            </a:endParaRPr>
          </a:p>
          <a:p>
            <a:pPr>
              <a:defRPr/>
            </a:pPr>
            <a:r>
              <a:rPr lang="es-ES" altLang="es-ES" sz="1100" b="1" dirty="0">
                <a:latin typeface="+mn-lt"/>
              </a:rPr>
              <a:t>5.</a:t>
            </a:r>
            <a:r>
              <a:rPr lang="es-ES" altLang="es-ES" sz="1100" b="1" baseline="0" dirty="0">
                <a:latin typeface="+mn-lt"/>
              </a:rPr>
              <a:t> </a:t>
            </a:r>
            <a:r>
              <a:rPr lang="es-ES" altLang="es-ES" sz="1100" b="1" dirty="0" err="1">
                <a:latin typeface="+mn-lt"/>
              </a:rPr>
              <a:t>Etica</a:t>
            </a:r>
            <a:r>
              <a:rPr lang="es-ES" altLang="es-ES" sz="1100" b="1" dirty="0">
                <a:latin typeface="+mn-lt"/>
              </a:rPr>
              <a:t> de la virtud (Aristóteles). </a:t>
            </a:r>
            <a:r>
              <a:rPr lang="es-ES" altLang="es-ES" sz="1100" dirty="0">
                <a:latin typeface="+mn-lt"/>
              </a:rPr>
              <a:t>Propone que cada persona se sitúe en una función social para la que tenga buenas aptitudes y, una vez en ella, debe perseguir la excelencia en las cualidades necesarias para desempeñar óptimamente  esa función, que serían las virtudes propias de la función, incluyendo las cualidades morales. </a:t>
            </a:r>
          </a:p>
          <a:p>
            <a:pPr>
              <a:defRPr/>
            </a:pPr>
            <a:r>
              <a:rPr lang="es-ES" sz="1100" b="1" kern="1200" dirty="0" err="1">
                <a:solidFill>
                  <a:schemeClr val="tx1"/>
                </a:solidFill>
                <a:effectLst/>
                <a:latin typeface="+mn-lt"/>
                <a:ea typeface="+mn-ea"/>
                <a:cs typeface="+mn-cs"/>
              </a:rPr>
              <a:t>Etica</a:t>
            </a:r>
            <a:r>
              <a:rPr lang="es-ES" sz="1100" b="1" kern="1200" dirty="0">
                <a:solidFill>
                  <a:schemeClr val="tx1"/>
                </a:solidFill>
                <a:effectLst/>
                <a:latin typeface="+mn-lt"/>
                <a:ea typeface="+mn-ea"/>
                <a:cs typeface="+mn-cs"/>
              </a:rPr>
              <a:t> del cuidado,</a:t>
            </a:r>
            <a:r>
              <a:rPr lang="es-ES" sz="1100" b="1" kern="1200" baseline="0" dirty="0">
                <a:solidFill>
                  <a:schemeClr val="tx1"/>
                </a:solidFill>
                <a:effectLst/>
                <a:latin typeface="+mn-lt"/>
                <a:ea typeface="+mn-ea"/>
                <a:cs typeface="+mn-cs"/>
              </a:rPr>
              <a:t> </a:t>
            </a:r>
            <a:r>
              <a:rPr lang="es-ES" sz="1100" kern="1200" dirty="0">
                <a:solidFill>
                  <a:schemeClr val="tx1"/>
                </a:solidFill>
                <a:effectLst/>
                <a:latin typeface="+mn-lt"/>
                <a:ea typeface="+mn-ea"/>
                <a:cs typeface="+mn-cs"/>
              </a:rPr>
              <a:t> para la incorporación de la experiencia femenina en la teoría moral, que la llevará a proponer una </a:t>
            </a:r>
            <a:r>
              <a:rPr lang="es-ES" sz="1100" i="1" kern="1200" dirty="0">
                <a:solidFill>
                  <a:schemeClr val="tx1"/>
                </a:solidFill>
                <a:effectLst/>
                <a:latin typeface="+mn-lt"/>
                <a:ea typeface="+mn-ea"/>
                <a:cs typeface="+mn-cs"/>
              </a:rPr>
              <a:t>ética del cuidado</a:t>
            </a:r>
            <a:r>
              <a:rPr lang="es-ES" sz="1100" kern="1200" dirty="0">
                <a:solidFill>
                  <a:schemeClr val="tx1"/>
                </a:solidFill>
                <a:effectLst/>
                <a:latin typeface="+mn-lt"/>
                <a:ea typeface="+mn-ea"/>
                <a:cs typeface="+mn-cs"/>
              </a:rPr>
              <a:t> que ponga el énfasis en las cuestiones de afecto y cuidado entre los seres humanos (Gilligan, 1982) </a:t>
            </a:r>
            <a:r>
              <a:rPr lang="es-ES" sz="1100" dirty="0">
                <a:latin typeface="+mn-lt"/>
              </a:rPr>
              <a:t> </a:t>
            </a:r>
            <a:endParaRPr lang="es-ES" altLang="es-ES" sz="1100" b="1" dirty="0">
              <a:latin typeface="+mn-lt"/>
            </a:endParaRPr>
          </a:p>
          <a:p>
            <a:pPr>
              <a:defRPr/>
            </a:pPr>
            <a:endParaRPr lang="es-ES" altLang="es-ES" b="1" dirty="0">
              <a:latin typeface="Arial" panose="020B0604020202020204" pitchFamily="34" charset="0"/>
            </a:endParaRPr>
          </a:p>
        </p:txBody>
      </p:sp>
    </p:spTree>
    <p:extLst>
      <p:ext uri="{BB962C8B-B14F-4D97-AF65-F5344CB8AC3E}">
        <p14:creationId xmlns:p14="http://schemas.microsoft.com/office/powerpoint/2010/main" val="3475159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eaLnBrk="0" fontAlgn="base" hangingPunct="0">
              <a:spcBef>
                <a:spcPct val="30000"/>
              </a:spcBef>
              <a:spcAft>
                <a:spcPct val="0"/>
              </a:spcAft>
              <a:buNone/>
              <a:defRPr/>
            </a:pPr>
            <a:r>
              <a:rPr lang="es-ES" altLang="es-ES" dirty="0"/>
              <a:t>Según esta ética, se  podría esclavizar a un 2% para que la mayoría viviese bien</a:t>
            </a:r>
          </a:p>
          <a:p>
            <a:endParaRPr lang="es-ES" dirty="0"/>
          </a:p>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8</a:t>
            </a:fld>
            <a:endParaRPr lang="es-ES"/>
          </a:p>
        </p:txBody>
      </p:sp>
    </p:spTree>
    <p:extLst>
      <p:ext uri="{BB962C8B-B14F-4D97-AF65-F5344CB8AC3E}">
        <p14:creationId xmlns:p14="http://schemas.microsoft.com/office/powerpoint/2010/main" val="535631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sz="1200" dirty="0"/>
              <a:t> En el dilema de </a:t>
            </a:r>
            <a:r>
              <a:rPr lang="es-ES" altLang="es-ES" sz="1200" dirty="0" err="1"/>
              <a:t>Snowden</a:t>
            </a:r>
            <a:r>
              <a:rPr lang="es-ES" altLang="es-ES" sz="1200" dirty="0"/>
              <a:t>, no cabría saltarse el deber de confidencialidad…</a:t>
            </a:r>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10</a:t>
            </a:fld>
            <a:endParaRPr lang="es-ES"/>
          </a:p>
        </p:txBody>
      </p:sp>
    </p:spTree>
    <p:extLst>
      <p:ext uri="{BB962C8B-B14F-4D97-AF65-F5344CB8AC3E}">
        <p14:creationId xmlns:p14="http://schemas.microsoft.com/office/powerpoint/2010/main" val="2828205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altLang="es-ES" sz="1200" dirty="0">
                <a:cs typeface="Arial" panose="020B0604020202020204" pitchFamily="34" charset="0"/>
                <a:hlinkClick r:id="rId3"/>
              </a:rPr>
              <a:t>www.youtube.com/watch?v=Ts5i3FnbLug</a:t>
            </a:r>
            <a:r>
              <a:rPr lang="es-ES" altLang="es-ES" sz="1200" dirty="0">
                <a:cs typeface="Arial" panose="020B0604020202020204" pitchFamily="34" charset="0"/>
              </a:rPr>
              <a:t> </a:t>
            </a:r>
          </a:p>
        </p:txBody>
      </p:sp>
      <p:sp>
        <p:nvSpPr>
          <p:cNvPr id="4" name="Marcador de número de diapositiva 3"/>
          <p:cNvSpPr>
            <a:spLocks noGrp="1"/>
          </p:cNvSpPr>
          <p:nvPr>
            <p:ph type="sldNum" sz="quarter" idx="5"/>
          </p:nvPr>
        </p:nvSpPr>
        <p:spPr/>
        <p:txBody>
          <a:bodyPr/>
          <a:lstStyle/>
          <a:p>
            <a:fld id="{7C1D7475-3A4C-451E-84F4-15FDA2C826AA}" type="slidenum">
              <a:rPr lang="es-ES" smtClean="0"/>
              <a:t>11</a:t>
            </a:fld>
            <a:endParaRPr lang="es-ES"/>
          </a:p>
        </p:txBody>
      </p:sp>
    </p:spTree>
    <p:extLst>
      <p:ext uri="{BB962C8B-B14F-4D97-AF65-F5344CB8AC3E}">
        <p14:creationId xmlns:p14="http://schemas.microsoft.com/office/powerpoint/2010/main" val="1423927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altLang="es-ES" sz="1200" dirty="0">
                <a:cs typeface="Arial" panose="020B0604020202020204" pitchFamily="34" charset="0"/>
                <a:hlinkClick r:id="rId3"/>
              </a:rPr>
              <a:t>https://ethicsunwrapped.utexas.edu/glossary/virtue-ethics</a:t>
            </a:r>
            <a:r>
              <a:rPr lang="es-ES" altLang="es-ES" sz="1200" dirty="0">
                <a:cs typeface="Arial" panose="020B0604020202020204" pitchFamily="34" charset="0"/>
              </a:rPr>
              <a:t>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12</a:t>
            </a:fld>
            <a:endParaRPr lang="es-ES"/>
          </a:p>
        </p:txBody>
      </p:sp>
    </p:spTree>
    <p:extLst>
      <p:ext uri="{BB962C8B-B14F-4D97-AF65-F5344CB8AC3E}">
        <p14:creationId xmlns:p14="http://schemas.microsoft.com/office/powerpoint/2010/main" val="1802325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https://www.youtube.com/watch?v=4iaCpAFypq8</a:t>
            </a:r>
          </a:p>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13</a:t>
            </a:fld>
            <a:endParaRPr lang="es-ES"/>
          </a:p>
        </p:txBody>
      </p:sp>
    </p:spTree>
    <p:extLst>
      <p:ext uri="{BB962C8B-B14F-4D97-AF65-F5344CB8AC3E}">
        <p14:creationId xmlns:p14="http://schemas.microsoft.com/office/powerpoint/2010/main" val="1278170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D0D48B6C-C8FC-4088-A352-1D70E26D8F4B}" type="slidenum">
              <a:rPr lang="es-ES" smtClean="0"/>
              <a:pPr/>
              <a:t>14</a:t>
            </a:fld>
            <a:endParaRPr lang="es-ES"/>
          </a:p>
        </p:txBody>
      </p:sp>
    </p:spTree>
    <p:extLst>
      <p:ext uri="{BB962C8B-B14F-4D97-AF65-F5344CB8AC3E}">
        <p14:creationId xmlns:p14="http://schemas.microsoft.com/office/powerpoint/2010/main" val="96909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a:solidFill>
                  <a:schemeClr val="tx1"/>
                </a:solidFill>
                <a:latin typeface="+mn-lt"/>
                <a:ea typeface="+mn-ea"/>
                <a:cs typeface="+mn-cs"/>
              </a:rPr>
              <a:t>Fuente: Prof. Miguel </a:t>
            </a:r>
            <a:r>
              <a:rPr lang="es-ES" sz="1200" b="0" i="0" u="none" strike="noStrike" kern="1200" baseline="0" dirty="0" err="1">
                <a:solidFill>
                  <a:schemeClr val="tx1"/>
                </a:solidFill>
                <a:latin typeface="+mn-lt"/>
                <a:ea typeface="+mn-ea"/>
                <a:cs typeface="+mn-cs"/>
              </a:rPr>
              <a:t>Angel</a:t>
            </a:r>
            <a:r>
              <a:rPr lang="es-ES" sz="1200" b="0" i="0" u="none" strike="noStrike" kern="1200" baseline="0" dirty="0">
                <a:solidFill>
                  <a:schemeClr val="tx1"/>
                </a:solidFill>
                <a:latin typeface="+mn-lt"/>
                <a:ea typeface="+mn-ea"/>
                <a:cs typeface="+mn-cs"/>
              </a:rPr>
              <a:t> Valero </a:t>
            </a:r>
            <a:r>
              <a:rPr lang="es-ES" sz="1200" b="0" i="0" u="none" strike="noStrike" kern="1200" baseline="0" dirty="0" err="1">
                <a:solidFill>
                  <a:schemeClr val="tx1"/>
                </a:solidFill>
                <a:latin typeface="+mn-lt"/>
                <a:ea typeface="+mn-ea"/>
                <a:cs typeface="+mn-cs"/>
              </a:rPr>
              <a:t>Duboy</a:t>
            </a:r>
            <a:endParaRPr lang="es-ES" sz="1200" b="0" i="0" u="none" strike="noStrike" kern="1200" baseline="0" dirty="0">
              <a:solidFill>
                <a:schemeClr val="tx1"/>
              </a:solidFill>
              <a:latin typeface="+mn-lt"/>
              <a:ea typeface="+mn-ea"/>
              <a:cs typeface="+mn-cs"/>
            </a:endParaRPr>
          </a:p>
          <a:p>
            <a:endParaRPr lang="es-ES" sz="1200" b="0" i="0" u="none" strike="noStrike" kern="1200" baseline="0" dirty="0">
              <a:solidFill>
                <a:schemeClr val="tx1"/>
              </a:solidFill>
              <a:latin typeface="+mn-lt"/>
              <a:ea typeface="+mn-ea"/>
              <a:cs typeface="+mn-cs"/>
            </a:endParaRPr>
          </a:p>
          <a:p>
            <a:r>
              <a:rPr lang="es-ES" sz="1200" b="0" i="0" u="none" strike="noStrike" kern="1200" baseline="0" dirty="0">
                <a:solidFill>
                  <a:schemeClr val="tx1"/>
                </a:solidFill>
                <a:latin typeface="+mn-lt"/>
                <a:ea typeface="+mn-ea"/>
                <a:cs typeface="+mn-cs"/>
              </a:rPr>
              <a:t>IMPRESCINDIBLE SOBRE OPACIDAD DE LOS ALGORITMOS</a:t>
            </a:r>
          </a:p>
          <a:p>
            <a:endParaRPr lang="es-E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Cathy O'Neil. (2017). The era of blind faith in big data must end. TED. </a:t>
            </a:r>
          </a:p>
          <a:p>
            <a:r>
              <a:rPr lang="es-ES" sz="1200" b="0" i="0" u="none" strike="noStrike" kern="1200" baseline="0" dirty="0">
                <a:solidFill>
                  <a:schemeClr val="tx1"/>
                </a:solidFill>
                <a:latin typeface="+mn-lt"/>
                <a:ea typeface="+mn-ea"/>
                <a:cs typeface="+mn-cs"/>
              </a:rPr>
              <a:t>https://www.ted.com/talks/cathy_o_neil_the_era_of_blind_faith_in_big_data_must_end </a:t>
            </a:r>
          </a:p>
          <a:p>
            <a:endParaRPr lang="es-ES" dirty="0"/>
          </a:p>
        </p:txBody>
      </p:sp>
      <p:sp>
        <p:nvSpPr>
          <p:cNvPr id="4" name="Marcador de número de diapositiva 3"/>
          <p:cNvSpPr>
            <a:spLocks noGrp="1"/>
          </p:cNvSpPr>
          <p:nvPr>
            <p:ph type="sldNum" sz="quarter" idx="10"/>
          </p:nvPr>
        </p:nvSpPr>
        <p:spPr/>
        <p:txBody>
          <a:bodyPr/>
          <a:lstStyle/>
          <a:p>
            <a:fld id="{09616D75-CA15-4029-8B45-DEA8378EDB40}" type="slidenum">
              <a:rPr lang="es-ES" smtClean="0"/>
              <a:t>15</a:t>
            </a:fld>
            <a:endParaRPr lang="es-ES"/>
          </a:p>
        </p:txBody>
      </p:sp>
    </p:spTree>
    <p:extLst>
      <p:ext uri="{BB962C8B-B14F-4D97-AF65-F5344CB8AC3E}">
        <p14:creationId xmlns:p14="http://schemas.microsoft.com/office/powerpoint/2010/main" val="2693701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18</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r>
              <a:rPr lang="es-ES" dirty="0">
                <a:latin typeface="Arial" pitchFamily="34" charset="0"/>
                <a:ea typeface="ＭＳ Ｐゴシック" pitchFamily="34" charset="-128"/>
              </a:rPr>
              <a:t>Añadir el caso de hackers que “asaltaron” vehículo autónomo</a:t>
            </a:r>
            <a:r>
              <a:rPr lang="es-ES" baseline="0" dirty="0">
                <a:latin typeface="Arial" pitchFamily="34" charset="0"/>
                <a:ea typeface="ＭＳ Ｐゴシック" pitchFamily="34" charset="-128"/>
              </a:rPr>
              <a:t> para secuestrarlo</a:t>
            </a:r>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900714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19</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763054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20</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2589317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21</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3326150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22</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r>
              <a:rPr lang="es-ES" dirty="0">
                <a:latin typeface="Arial" pitchFamily="34" charset="0"/>
                <a:ea typeface="ＭＳ Ｐゴシック" pitchFamily="34" charset="-128"/>
              </a:rPr>
              <a:t>Ej. </a:t>
            </a:r>
            <a:r>
              <a:rPr lang="es-ES" dirty="0" err="1">
                <a:latin typeface="Arial" pitchFamily="34" charset="0"/>
                <a:ea typeface="ＭＳ Ｐゴシック" pitchFamily="34" charset="-128"/>
              </a:rPr>
              <a:t>Snowden</a:t>
            </a:r>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33106373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23</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3842679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24</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r>
              <a:rPr lang="es-ES" b="1"/>
              <a:t>Ley </a:t>
            </a:r>
            <a:r>
              <a:rPr lang="es-ES" b="1" dirty="0"/>
              <a:t>2/2023, de 20 de febrero, reguladora de la protección de las personas que informen sobre infracciones normativas y de lucha contra la corrupción</a:t>
            </a:r>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3791961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25</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pPr marL="0" marR="0" indent="0" algn="l" defTabSz="914400" rtl="0" eaLnBrk="1" fontAlgn="auto" latinLnBrk="0" hangingPunct="1">
              <a:lnSpc>
                <a:spcPct val="100000"/>
              </a:lnSpc>
              <a:spcBef>
                <a:spcPts val="0"/>
              </a:spcBef>
              <a:spcAft>
                <a:spcPts val="0"/>
              </a:spcAft>
              <a:buClrTx/>
              <a:buSzTx/>
              <a:buFontTx/>
              <a:buNone/>
              <a:tabLst/>
              <a:defRPr/>
            </a:pPr>
            <a:r>
              <a:rPr lang="es-ES" altLang="es-ES" sz="800" b="0" dirty="0">
                <a:solidFill>
                  <a:schemeClr val="tx1"/>
                </a:solidFill>
                <a:cs typeface="Arial" panose="020B0604020202020204" pitchFamily="34" charset="0"/>
                <a:hlinkClick r:id="rId3"/>
              </a:rPr>
              <a:t>https://elpais.com/tecnologia/2022-04-22/un-algoritmo-opaco-al-que-han-detectado-errores-decide-quien-recibe-ayudas-publicas-del-bono-social.html#?rel=mas</a:t>
            </a:r>
            <a:endParaRPr lang="es-ES" altLang="es-ES" sz="1000" b="0" dirty="0">
              <a:solidFill>
                <a:schemeClr val="tx1"/>
              </a:solidFill>
              <a:latin typeface="Arial" panose="020B0604020202020204" pitchFamily="34" charset="0"/>
              <a:cs typeface="Arial" panose="020B0604020202020204" pitchFamily="34" charset="0"/>
            </a:endParaRPr>
          </a:p>
          <a:p>
            <a:endParaRPr lang="es-ES" sz="1000" dirty="0">
              <a:latin typeface="Arial" panose="020B0604020202020204" pitchFamily="34" charset="0"/>
              <a:cs typeface="Arial" panose="020B0604020202020204" pitchFamily="34" charset="0"/>
            </a:endParaRPr>
          </a:p>
          <a:p>
            <a:r>
              <a:rPr lang="es-ES" sz="100" dirty="0">
                <a:latin typeface="Arial" panose="020B0604020202020204" pitchFamily="34" charset="0"/>
                <a:cs typeface="Arial" panose="020B0604020202020204" pitchFamily="34" charset="0"/>
              </a:rPr>
              <a:t>En Europa, la sentencia del Tribunal de Distrito de la Haya de 2020 prohibió la utilización del algoritmo </a:t>
            </a:r>
            <a:r>
              <a:rPr lang="es-ES" sz="100" dirty="0" err="1">
                <a:latin typeface="Arial" panose="020B0604020202020204" pitchFamily="34" charset="0"/>
                <a:cs typeface="Arial" panose="020B0604020202020204" pitchFamily="34" charset="0"/>
              </a:rPr>
              <a:t>SyRI</a:t>
            </a:r>
            <a:r>
              <a:rPr lang="es-ES" sz="100" dirty="0">
                <a:latin typeface="Arial" panose="020B0604020202020204" pitchFamily="34" charset="0"/>
                <a:cs typeface="Arial" panose="020B0604020202020204" pitchFamily="34" charset="0"/>
              </a:rPr>
              <a:t>, Sistema de Indicación de Riesgos. </a:t>
            </a:r>
          </a:p>
          <a:p>
            <a:r>
              <a:rPr lang="es-ES" sz="100" dirty="0">
                <a:latin typeface="Arial" panose="020B0604020202020204" pitchFamily="34" charset="0"/>
                <a:cs typeface="Arial" panose="020B0604020202020204" pitchFamily="34" charset="0"/>
              </a:rPr>
              <a:t>En 2022 se alertó de los resultados injustos del uso de algoritmos en la </a:t>
            </a:r>
            <a:r>
              <a:rPr lang="es-ES" sz="100" b="1" dirty="0">
                <a:latin typeface="Arial" panose="020B0604020202020204" pitchFamily="34" charset="0"/>
                <a:cs typeface="Arial" panose="020B0604020202020204" pitchFamily="34" charset="0"/>
              </a:rPr>
              <a:t>distribución de ayudas sociales </a:t>
            </a:r>
            <a:r>
              <a:rPr lang="es-ES" sz="100" dirty="0">
                <a:latin typeface="Arial" panose="020B0604020202020204" pitchFamily="34" charset="0"/>
                <a:cs typeface="Arial" panose="020B0604020202020204" pitchFamily="34" charset="0"/>
              </a:rPr>
              <a:t> en Países Bajos:</a:t>
            </a:r>
          </a:p>
          <a:p>
            <a:endParaRPr lang="es-ES" sz="100" dirty="0">
              <a:latin typeface="Arial" panose="020B0604020202020204" pitchFamily="34" charset="0"/>
              <a:cs typeface="Arial" panose="020B0604020202020204" pitchFamily="34" charset="0"/>
            </a:endParaRPr>
          </a:p>
          <a:p>
            <a:r>
              <a:rPr lang="es-ES" sz="100" dirty="0">
                <a:latin typeface="Arial" panose="020B0604020202020204" pitchFamily="34" charset="0"/>
                <a:cs typeface="Arial" panose="020B0604020202020204" pitchFamily="34" charset="0"/>
                <a:hlinkClick r:id="rId4"/>
              </a:rPr>
              <a:t>https://www.politico.eu/article/dutch-scandal-serves-as-a-warning-for-europe-over-risks-of-using-algorithms/</a:t>
            </a:r>
            <a:endParaRPr lang="es-ES" sz="10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s-ES" sz="100" dirty="0">
                <a:latin typeface="Arial" panose="020B0604020202020204" pitchFamily="34" charset="0"/>
                <a:cs typeface="Arial" panose="020B0604020202020204" pitchFamily="34" charset="0"/>
              </a:rPr>
              <a:t>En Europa</a:t>
            </a:r>
            <a:r>
              <a:rPr lang="es-ES" sz="100" baseline="0" dirty="0">
                <a:latin typeface="Arial" panose="020B0604020202020204" pitchFamily="34" charset="0"/>
                <a:cs typeface="Arial" panose="020B0604020202020204" pitchFamily="34" charset="0"/>
              </a:rPr>
              <a:t> sí se dio la razón al demandante que alegaba vulneración de sus derechos. Pero, igual que en el caso del Bono social energético en España, no se entendió que había que dar publicidad al código fuente del algoritmo por temas de propiedad intelectual. El tema está recurrido.</a:t>
            </a:r>
          </a:p>
          <a:p>
            <a:pPr marL="0" marR="0" indent="0" algn="l" defTabSz="914400" rtl="0" eaLnBrk="1" fontAlgn="auto" latinLnBrk="0" hangingPunct="1">
              <a:lnSpc>
                <a:spcPct val="100000"/>
              </a:lnSpc>
              <a:spcBef>
                <a:spcPts val="0"/>
              </a:spcBef>
              <a:spcAft>
                <a:spcPts val="0"/>
              </a:spcAft>
              <a:buClrTx/>
              <a:buSzTx/>
              <a:buFontTx/>
              <a:buNone/>
              <a:tabLst/>
              <a:defRPr/>
            </a:pPr>
            <a:r>
              <a:rPr lang="es-ES" sz="100" baseline="0" dirty="0">
                <a:latin typeface="Arial" panose="020B0604020202020204" pitchFamily="34" charset="0"/>
                <a:cs typeface="Arial" panose="020B0604020202020204" pitchFamily="34" charset="0"/>
              </a:rPr>
              <a:t>Art. 13 y 22 RGPD. </a:t>
            </a:r>
          </a:p>
          <a:p>
            <a:pPr marL="0" marR="0" indent="0" algn="l" defTabSz="914400" rtl="0" eaLnBrk="1" fontAlgn="auto" latinLnBrk="0" hangingPunct="1">
              <a:lnSpc>
                <a:spcPct val="100000"/>
              </a:lnSpc>
              <a:spcBef>
                <a:spcPts val="0"/>
              </a:spcBef>
              <a:spcAft>
                <a:spcPts val="0"/>
              </a:spcAft>
              <a:buClrTx/>
              <a:buSzTx/>
              <a:buFontTx/>
              <a:buNone/>
              <a:tabLst/>
              <a:defRPr/>
            </a:pPr>
            <a:r>
              <a:rPr lang="es-ES" sz="100" baseline="0" dirty="0">
                <a:latin typeface="Arial" panose="020B0604020202020204" pitchFamily="34" charset="0"/>
                <a:cs typeface="Arial" panose="020B0604020202020204" pitchFamily="34" charset="0"/>
              </a:rPr>
              <a:t>Si hay ley que lo permite, no se puede recurrir (pero han de haberse tomado medidas para amparar los derechos de los interesados). Pero si el uso del algoritmo lo ampara un contrato o un consentí</a:t>
            </a:r>
          </a:p>
          <a:p>
            <a:pPr marL="0" marR="0" indent="0" algn="l" defTabSz="914400" rtl="0" eaLnBrk="1" fontAlgn="auto" latinLnBrk="0" hangingPunct="1">
              <a:lnSpc>
                <a:spcPct val="100000"/>
              </a:lnSpc>
              <a:spcBef>
                <a:spcPts val="0"/>
              </a:spcBef>
              <a:spcAft>
                <a:spcPts val="0"/>
              </a:spcAft>
              <a:buClrTx/>
              <a:buSzTx/>
              <a:buFontTx/>
              <a:buNone/>
              <a:tabLst/>
              <a:defRPr/>
            </a:pPr>
            <a:r>
              <a:rPr lang="es-ES" sz="100" baseline="0" dirty="0" err="1">
                <a:latin typeface="Arial" panose="020B0604020202020204" pitchFamily="34" charset="0"/>
                <a:cs typeface="Arial" panose="020B0604020202020204" pitchFamily="34" charset="0"/>
              </a:rPr>
              <a:t>mienttot</a:t>
            </a:r>
            <a:r>
              <a:rPr lang="es-ES" sz="100" baseline="0" dirty="0">
                <a:latin typeface="Arial" panose="020B0604020202020204" pitchFamily="34" charset="0"/>
                <a:cs typeface="Arial" panose="020B0604020202020204" pitchFamily="34" charset="0"/>
              </a:rPr>
              <a:t>, hay que informar de la lógica aplicada, se puede recurrir la decisión y se puede exigir intervención humana. </a:t>
            </a:r>
          </a:p>
          <a:p>
            <a:pPr marL="0" marR="0" indent="0" algn="l" defTabSz="914400" rtl="0" eaLnBrk="1" fontAlgn="auto" latinLnBrk="0" hangingPunct="1">
              <a:lnSpc>
                <a:spcPct val="100000"/>
              </a:lnSpc>
              <a:spcBef>
                <a:spcPts val="0"/>
              </a:spcBef>
              <a:spcAft>
                <a:spcPts val="0"/>
              </a:spcAft>
              <a:buClrTx/>
              <a:buSzTx/>
              <a:buFontTx/>
              <a:buNone/>
              <a:tabLst/>
              <a:defRPr/>
            </a:pPr>
            <a:endParaRPr lang="es-ES" sz="100" baseline="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s-ES" sz="100" dirty="0">
              <a:latin typeface="Arial" panose="020B0604020202020204" pitchFamily="34" charset="0"/>
              <a:cs typeface="Arial" panose="020B0604020202020204" pitchFamily="34" charset="0"/>
            </a:endParaRPr>
          </a:p>
          <a:p>
            <a:endParaRPr lang="es-ES" sz="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2635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26</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r>
              <a:rPr lang="es-ES" dirty="0">
                <a:latin typeface="Arial" pitchFamily="34" charset="0"/>
                <a:ea typeface="ＭＳ Ｐゴシック" pitchFamily="34" charset="-128"/>
              </a:rPr>
              <a:t>Hincapié en el concepto </a:t>
            </a:r>
            <a:r>
              <a:rPr lang="es-ES" b="0" dirty="0">
                <a:latin typeface="Arial" pitchFamily="34" charset="0"/>
                <a:ea typeface="ＭＳ Ｐゴシック" pitchFamily="34" charset="-128"/>
              </a:rPr>
              <a:t>de</a:t>
            </a:r>
            <a:r>
              <a:rPr lang="es-ES" b="1" dirty="0">
                <a:latin typeface="Arial" pitchFamily="34" charset="0"/>
                <a:ea typeface="ＭＳ Ｐゴシック" pitchFamily="34" charset="-128"/>
              </a:rPr>
              <a:t> accesibilidad electrónica (obligatoria</a:t>
            </a:r>
            <a:r>
              <a:rPr lang="es-ES" b="1" baseline="0" dirty="0">
                <a:latin typeface="Arial" pitchFamily="34" charset="0"/>
                <a:ea typeface="ＭＳ Ｐゴシック" pitchFamily="34" charset="-128"/>
              </a:rPr>
              <a:t> en webs y aplicaciones móviles de organismos públicos). </a:t>
            </a:r>
            <a:r>
              <a:rPr lang="es-ES" b="0" baseline="0" dirty="0">
                <a:latin typeface="Arial" pitchFamily="34" charset="0"/>
                <a:ea typeface="ＭＳ Ｐゴシック" pitchFamily="34" charset="-128"/>
              </a:rPr>
              <a:t>Falta aún…</a:t>
            </a:r>
            <a:endParaRPr lang="es-ES" b="1" dirty="0">
              <a:latin typeface="Arial" pitchFamily="34" charset="0"/>
              <a:ea typeface="ＭＳ Ｐゴシック" pitchFamily="34" charset="-128"/>
            </a:endParaRPr>
          </a:p>
        </p:txBody>
      </p:sp>
    </p:spTree>
    <p:extLst>
      <p:ext uri="{BB962C8B-B14F-4D97-AF65-F5344CB8AC3E}">
        <p14:creationId xmlns:p14="http://schemas.microsoft.com/office/powerpoint/2010/main" val="2496944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4E27B704-C38F-4112-9926-F0E5C02C0709}" type="slidenum">
              <a:rPr lang="es-ES" sz="1300"/>
              <a:pPr algn="r" defTabSz="957185"/>
              <a:t>27</a:t>
            </a:fld>
            <a:endParaRPr lang="es-ES" sz="13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lIns="95634" tIns="47817" rIns="95634" bIns="47817"/>
          <a:lstStyle/>
          <a:p>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3352563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txBox="1">
            <a:spLocks noGrp="1" noChangeArrowheads="1"/>
          </p:cNvSpPr>
          <p:nvPr/>
        </p:nvSpPr>
        <p:spPr bwMode="auto">
          <a:xfrm>
            <a:off x="5797023" y="6743620"/>
            <a:ext cx="4435304" cy="354580"/>
          </a:xfrm>
          <a:prstGeom prst="rect">
            <a:avLst/>
          </a:prstGeom>
          <a:noFill/>
          <a:ln w="9525">
            <a:noFill/>
            <a:miter lim="800000"/>
            <a:headEnd/>
            <a:tailEnd/>
          </a:ln>
        </p:spPr>
        <p:txBody>
          <a:bodyPr lIns="95634" tIns="47817" rIns="95634" bIns="47817" anchor="b"/>
          <a:lstStyle/>
          <a:p>
            <a:pPr algn="r" defTabSz="957185"/>
            <a:fld id="{BF700766-2C08-4DEE-B65B-A5807E8BA1A8}" type="slidenum">
              <a:rPr lang="es-ES" sz="1300"/>
              <a:pPr algn="r" defTabSz="957185"/>
              <a:t>28</a:t>
            </a:fld>
            <a:endParaRPr lang="es-ES" sz="1300" dirty="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lIns="95634" tIns="47817" rIns="95634" bIns="47817"/>
          <a:lstStyle/>
          <a:p>
            <a:endParaRPr lang="es-ES" dirty="0">
              <a:latin typeface="Arial" pitchFamily="34" charset="0"/>
              <a:ea typeface="ＭＳ Ｐゴシック" pitchFamily="34" charset="-128"/>
            </a:endParaRPr>
          </a:p>
        </p:txBody>
      </p:sp>
    </p:spTree>
    <p:extLst>
      <p:ext uri="{BB962C8B-B14F-4D97-AF65-F5344CB8AC3E}">
        <p14:creationId xmlns:p14="http://schemas.microsoft.com/office/powerpoint/2010/main" val="27227974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a:t>https://theconversation.com/a-level-results-why-algorithms-get-things-so-wrong-and-what-we-can-do-to-fix-them-142879</a:t>
            </a:r>
          </a:p>
          <a:p>
            <a:endParaRPr lang="es-ES" dirty="0"/>
          </a:p>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29</a:t>
            </a:fld>
            <a:endParaRPr lang="es-ES"/>
          </a:p>
        </p:txBody>
      </p:sp>
    </p:spTree>
    <p:extLst>
      <p:ext uri="{BB962C8B-B14F-4D97-AF65-F5344CB8AC3E}">
        <p14:creationId xmlns:p14="http://schemas.microsoft.com/office/powerpoint/2010/main" val="2867873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NOTICIA RELEVANTE</a:t>
            </a:r>
          </a:p>
          <a:p>
            <a:r>
              <a:rPr lang="es-ES" dirty="0"/>
              <a:t>https://elpais.com/economia/2024-01-22/una-propuesta-de-ley-plantea-penas-de-carcel-en-ee-uu-por-invertir-con-criterios-esg.html</a:t>
            </a:r>
          </a:p>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33</a:t>
            </a:fld>
            <a:endParaRPr lang="es-ES"/>
          </a:p>
        </p:txBody>
      </p:sp>
    </p:spTree>
    <p:extLst>
      <p:ext uri="{BB962C8B-B14F-4D97-AF65-F5344CB8AC3E}">
        <p14:creationId xmlns:p14="http://schemas.microsoft.com/office/powerpoint/2010/main" val="2629048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34</a:t>
            </a:fld>
            <a:endParaRPr lang="es-ES"/>
          </a:p>
        </p:txBody>
      </p:sp>
    </p:spTree>
    <p:extLst>
      <p:ext uri="{BB962C8B-B14F-4D97-AF65-F5344CB8AC3E}">
        <p14:creationId xmlns:p14="http://schemas.microsoft.com/office/powerpoint/2010/main" val="12609676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CBCF8B5-93D2-4D62-897A-3E2EAF2AB031}" type="slidenum">
              <a:rPr lang="es-ES" smtClean="0"/>
              <a:t>35</a:t>
            </a:fld>
            <a:endParaRPr lang="es-ES"/>
          </a:p>
        </p:txBody>
      </p:sp>
    </p:spTree>
    <p:extLst>
      <p:ext uri="{BB962C8B-B14F-4D97-AF65-F5344CB8AC3E}">
        <p14:creationId xmlns:p14="http://schemas.microsoft.com/office/powerpoint/2010/main" val="25585336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CBCF8B5-93D2-4D62-897A-3E2EAF2AB031}" type="slidenum">
              <a:rPr lang="es-ES" smtClean="0"/>
              <a:t>36</a:t>
            </a:fld>
            <a:endParaRPr lang="es-ES"/>
          </a:p>
        </p:txBody>
      </p:sp>
    </p:spTree>
    <p:extLst>
      <p:ext uri="{BB962C8B-B14F-4D97-AF65-F5344CB8AC3E}">
        <p14:creationId xmlns:p14="http://schemas.microsoft.com/office/powerpoint/2010/main" val="237747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000" dirty="0"/>
              <a:t>Noticias recientes sobre responsabilidad empresarial: OPEN AI reconoce riesgos; una </a:t>
            </a:r>
            <a:r>
              <a:rPr lang="es-ES" sz="1000" dirty="0" err="1"/>
              <a:t>start</a:t>
            </a:r>
            <a:r>
              <a:rPr lang="es-ES" sz="1000" dirty="0"/>
              <a:t>-up española consigue horario de trabajo de 4 días a la semana.</a:t>
            </a:r>
            <a:endParaRPr lang="es-ES" sz="1000" dirty="0">
              <a:hlinkClick r:id="rId3"/>
            </a:endParaRPr>
          </a:p>
          <a:p>
            <a:pPr algn="l"/>
            <a:endParaRPr lang="es-ES" sz="1000" dirty="0">
              <a:hlinkClick r:id="rId3"/>
            </a:endParaRPr>
          </a:p>
          <a:p>
            <a:pPr algn="l"/>
            <a:r>
              <a:rPr lang="es-ES" sz="1000" dirty="0">
                <a:hlinkClick r:id="rId3"/>
              </a:rPr>
              <a:t>https://www.theguardian.com/technology/2023/mar/17/openai-sam-altman-artificial-intelligence-warning-gpt4</a:t>
            </a:r>
            <a:endParaRPr lang="es-ES" sz="1000" dirty="0"/>
          </a:p>
          <a:p>
            <a:pPr algn="l"/>
            <a:r>
              <a:rPr lang="es-ES" sz="1000" dirty="0">
                <a:hlinkClick r:id="rId4"/>
              </a:rPr>
              <a:t>https://wtmbarcelona.com/</a:t>
            </a:r>
            <a:endParaRPr lang="es-ES" sz="1000" dirty="0"/>
          </a:p>
          <a:p>
            <a:pPr>
              <a:defRPr/>
            </a:pPr>
            <a:r>
              <a:rPr lang="es-ES" sz="1000" b="0" dirty="0"/>
              <a:t>¿Cuál es el mensaje clave?</a:t>
            </a:r>
          </a:p>
          <a:p>
            <a:pPr>
              <a:defRPr/>
            </a:pPr>
            <a:r>
              <a:rPr lang="es-ES" sz="1000" b="0" dirty="0"/>
              <a:t>Se producen</a:t>
            </a:r>
            <a:r>
              <a:rPr lang="es-ES" sz="1000" b="0" baseline="0" dirty="0"/>
              <a:t> muchos impactos al hilo de la actividad de las organizaciones. </a:t>
            </a:r>
            <a:endParaRPr lang="es-ES" sz="1000" b="0" dirty="0"/>
          </a:p>
          <a:p>
            <a:pPr marL="0" marR="0" indent="0" algn="l" defTabSz="914400" rtl="0" eaLnBrk="1" fontAlgn="auto" latinLnBrk="0" hangingPunct="1">
              <a:lnSpc>
                <a:spcPct val="100000"/>
              </a:lnSpc>
              <a:spcBef>
                <a:spcPts val="0"/>
              </a:spcBef>
              <a:spcAft>
                <a:spcPts val="0"/>
              </a:spcAft>
              <a:buClrTx/>
              <a:buSzTx/>
              <a:buFontTx/>
              <a:buNone/>
              <a:tabLst/>
              <a:defRPr/>
            </a:pPr>
            <a:r>
              <a:rPr lang="es-ES" sz="1000" dirty="0">
                <a:hlinkClick r:id="rId5"/>
              </a:rPr>
              <a:t>https://drive.upm.es/s/hpPTJzOsaeMh9qX</a:t>
            </a:r>
            <a:endParaRPr lang="es-ES" sz="1000" dirty="0"/>
          </a:p>
          <a:p>
            <a:pPr>
              <a:defRPr/>
            </a:pPr>
            <a:endParaRPr lang="es-ES" sz="1000" dirty="0"/>
          </a:p>
          <a:p>
            <a:pPr>
              <a:defRPr/>
            </a:pPr>
            <a:r>
              <a:rPr lang="es-ES" sz="1000" dirty="0"/>
              <a:t>Actualmente,</a:t>
            </a:r>
            <a:r>
              <a:rPr lang="es-ES" sz="1000" baseline="0" dirty="0"/>
              <a:t> no</a:t>
            </a:r>
            <a:r>
              <a:rPr lang="es-ES" sz="1000" dirty="0"/>
              <a:t> es posible exigir jurídicamente responsabilidad a las empresas por impactos negativos en los </a:t>
            </a:r>
            <a:r>
              <a:rPr lang="es-ES" sz="1000" dirty="0" err="1"/>
              <a:t>ddhh</a:t>
            </a:r>
            <a:r>
              <a:rPr lang="es-ES" sz="1000" dirty="0"/>
              <a:t> si se producen en terceros países</a:t>
            </a:r>
          </a:p>
          <a:p>
            <a:endParaRPr lang="es-ES" sz="1000"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37</a:t>
            </a:fld>
            <a:endParaRPr lang="es-ES"/>
          </a:p>
        </p:txBody>
      </p:sp>
    </p:spTree>
    <p:extLst>
      <p:ext uri="{BB962C8B-B14F-4D97-AF65-F5344CB8AC3E}">
        <p14:creationId xmlns:p14="http://schemas.microsoft.com/office/powerpoint/2010/main" val="17954703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700" dirty="0"/>
              <a:t>En España, ya nos acercamos al nivel 3. A</a:t>
            </a:r>
            <a:r>
              <a:rPr lang="es-ES" sz="700" baseline="0" dirty="0"/>
              <a:t>lgunos países europeos en 3 con leyes de debida diligencia (Francia, </a:t>
            </a:r>
            <a:r>
              <a:rPr lang="es-ES" sz="700" baseline="0" dirty="0" err="1"/>
              <a:t>Paises</a:t>
            </a:r>
            <a:r>
              <a:rPr lang="es-ES" sz="700" baseline="0" dirty="0"/>
              <a:t> Bajos, Alemania, Noruega).. </a:t>
            </a:r>
          </a:p>
          <a:p>
            <a:r>
              <a:rPr lang="es-ES" sz="700" dirty="0">
                <a:solidFill>
                  <a:srgbClr val="0070C0"/>
                </a:solidFill>
              </a:rPr>
              <a:t>DIRECTIVA DE DILIGENCIA DEBIDA</a:t>
            </a:r>
          </a:p>
          <a:p>
            <a:endParaRPr lang="es-ES" sz="700" dirty="0">
              <a:solidFill>
                <a:schemeClr val="dk1"/>
              </a:solidFill>
            </a:endParaRPr>
          </a:p>
          <a:p>
            <a:pPr marL="285750" indent="-285750" algn="just">
              <a:buFont typeface="Arial" panose="020B0604020202020204" pitchFamily="34" charset="0"/>
              <a:buChar char="•"/>
            </a:pPr>
            <a:r>
              <a:rPr lang="es-ES" sz="700" dirty="0">
                <a:solidFill>
                  <a:schemeClr val="dk1"/>
                </a:solidFill>
              </a:rPr>
              <a:t>Diseño e implantación de procesos de identificación, mitigación y corrección de riesgos, incluidos mecanismos de queja y de rectificación de la empresa en materia de derechos humanos y medioambiente, así como en procesos de investigación internos y externos, en la rendición de cuentas y en la prevención del </a:t>
            </a:r>
            <a:r>
              <a:rPr lang="es-ES" sz="700" i="1" dirty="0" err="1">
                <a:solidFill>
                  <a:schemeClr val="dk1"/>
                </a:solidFill>
              </a:rPr>
              <a:t>greenwashing</a:t>
            </a:r>
            <a:r>
              <a:rPr lang="es-ES" sz="700" dirty="0">
                <a:solidFill>
                  <a:schemeClr val="dk1"/>
                </a:solidFill>
              </a:rPr>
              <a:t> y </a:t>
            </a:r>
            <a:r>
              <a:rPr lang="es-ES" sz="700" i="1" dirty="0" err="1">
                <a:solidFill>
                  <a:schemeClr val="dk1"/>
                </a:solidFill>
              </a:rPr>
              <a:t>socialwashing</a:t>
            </a:r>
            <a:r>
              <a:rPr lang="es-ES" sz="700" dirty="0">
                <a:solidFill>
                  <a:schemeClr val="dk1"/>
                </a:solidFill>
              </a:rPr>
              <a:t>.</a:t>
            </a:r>
          </a:p>
          <a:p>
            <a:pPr marL="285750" indent="-285750" algn="just">
              <a:buFont typeface="Arial" panose="020B0604020202020204" pitchFamily="34" charset="0"/>
              <a:buChar char="•"/>
            </a:pPr>
            <a:endParaRPr lang="es-ES" sz="700" dirty="0">
              <a:solidFill>
                <a:schemeClr val="dk1"/>
              </a:solidFill>
            </a:endParaRPr>
          </a:p>
          <a:p>
            <a:pPr marL="285750" indent="-285750" algn="just">
              <a:buFont typeface="Arial" panose="020B0604020202020204" pitchFamily="34" charset="0"/>
              <a:buChar char="•"/>
            </a:pPr>
            <a:r>
              <a:rPr lang="es-ES" sz="700" dirty="0">
                <a:solidFill>
                  <a:schemeClr val="dk1"/>
                </a:solidFill>
              </a:rPr>
              <a:t>La identificación y gestión de riesgos de impacto en los derechos humanos y en el medioambiente en todo tipo de transacciones y proyectos de inversión y su regulación contractual.</a:t>
            </a:r>
          </a:p>
          <a:p>
            <a:pPr marL="285750" indent="-285750" algn="just">
              <a:buFont typeface="Arial" panose="020B0604020202020204" pitchFamily="34" charset="0"/>
              <a:buChar char="•"/>
            </a:pPr>
            <a:endParaRPr lang="es-ES" sz="700" dirty="0">
              <a:solidFill>
                <a:schemeClr val="dk1"/>
              </a:solidFill>
            </a:endParaRPr>
          </a:p>
          <a:p>
            <a:pPr marL="285750" indent="-285750" algn="just">
              <a:buFont typeface="Arial" panose="020B0604020202020204" pitchFamily="34" charset="0"/>
              <a:buChar char="•"/>
            </a:pPr>
            <a:r>
              <a:rPr lang="es-ES" sz="700" dirty="0">
                <a:solidFill>
                  <a:schemeClr val="dk1"/>
                </a:solidFill>
              </a:rPr>
              <a:t>El diseño de marcos contractuales de diligencia debida y vigilancia en la cadena de suministro.</a:t>
            </a:r>
          </a:p>
          <a:p>
            <a:pPr algn="l" fontAlgn="ctr"/>
            <a:r>
              <a:rPr lang="es-ES" sz="700" b="0" i="0" dirty="0">
                <a:effectLst/>
              </a:rPr>
              <a:t>La nueva normativa —salvo las obligaciones de comunicación— se aplicará gradualmente a las empresas de la UE y a las de fuera que alcancen los umbrales de facturación indicados en la Unión:</a:t>
            </a:r>
          </a:p>
          <a:p>
            <a:pPr algn="l" fontAlgn="ctr">
              <a:buFont typeface="Arial" panose="020B0604020202020204" pitchFamily="34" charset="0"/>
              <a:buChar char="•"/>
            </a:pPr>
            <a:r>
              <a:rPr lang="es-ES" sz="700" b="0" i="0" dirty="0">
                <a:effectLst/>
              </a:rPr>
              <a:t>a partir de 2027 para las empresas con más de 5.000 empleados y un volumen de negocios mundial superior a 1.500 millones de euros;</a:t>
            </a:r>
          </a:p>
          <a:p>
            <a:pPr algn="l" fontAlgn="ctr">
              <a:buFont typeface="Arial" panose="020B0604020202020204" pitchFamily="34" charset="0"/>
              <a:buChar char="•"/>
            </a:pPr>
            <a:r>
              <a:rPr lang="es-ES" sz="700" b="0" i="0" dirty="0">
                <a:effectLst/>
              </a:rPr>
              <a:t>a partir de 2028 para las empresas con más de 3.000 empleados y un volumen de negocios global de 900 millones de euros o más;</a:t>
            </a:r>
          </a:p>
          <a:p>
            <a:pPr algn="l" fontAlgn="ctr">
              <a:buFont typeface="Arial" panose="020B0604020202020204" pitchFamily="34" charset="0"/>
              <a:buChar char="•"/>
            </a:pPr>
            <a:r>
              <a:rPr lang="es-ES" sz="700" b="0" i="0" dirty="0">
                <a:effectLst/>
              </a:rPr>
              <a:t>a partir de 2029 para el resto de empresas incluidas aquellas con más de 1.000 empleados y un volumen mundial de negocios superior a 450 millones de euros.</a:t>
            </a:r>
          </a:p>
          <a:p>
            <a:endParaRPr lang="es-ES" sz="900" baseline="0" dirty="0"/>
          </a:p>
          <a:p>
            <a:r>
              <a:rPr lang="es-ES" sz="900" baseline="0" dirty="0"/>
              <a:t>El tratado de Empresa y derechos humanos está paralizado en Ginebra (por la UE). </a:t>
            </a:r>
            <a:endParaRPr lang="es-ES" sz="900" dirty="0"/>
          </a:p>
          <a:p>
            <a:r>
              <a:rPr lang="es-ES" sz="900" dirty="0"/>
              <a:t>RSC, Responsabilidad</a:t>
            </a:r>
            <a:r>
              <a:rPr lang="es-ES" sz="900" baseline="0" dirty="0"/>
              <a:t> social corporativa</a:t>
            </a:r>
          </a:p>
          <a:p>
            <a:r>
              <a:rPr lang="es-ES" sz="900" baseline="0" dirty="0"/>
              <a:t>ISR, Inversión Socialmente responsable</a:t>
            </a:r>
          </a:p>
          <a:p>
            <a:r>
              <a:rPr lang="es-ES" sz="900" baseline="0" dirty="0"/>
              <a:t>ESG, I</a:t>
            </a:r>
            <a:r>
              <a:rPr lang="es-ES" sz="900" dirty="0"/>
              <a:t>nformes ambientales, sociales y de buen gobierno </a:t>
            </a:r>
          </a:p>
          <a:p>
            <a:r>
              <a:rPr lang="es-ES" sz="900" b="1" dirty="0">
                <a:effectLst/>
              </a:rPr>
              <a:t>Algunos Estados miembros de la UE han dado un paso más y ya han adoptado legislación sobre debida diligencia empresarial:</a:t>
            </a:r>
          </a:p>
          <a:p>
            <a:r>
              <a:rPr lang="es-ES" sz="900" b="1" dirty="0">
                <a:effectLst/>
              </a:rPr>
              <a:t>Francia</a:t>
            </a:r>
            <a:r>
              <a:rPr lang="es-ES" sz="900" dirty="0">
                <a:effectLst/>
              </a:rPr>
              <a:t>. </a:t>
            </a:r>
            <a:r>
              <a:rPr lang="es-ES" sz="900" dirty="0">
                <a:effectLst/>
                <a:hlinkClick r:id="rId3"/>
              </a:rPr>
              <a:t>Ley de deber de vigilancia</a:t>
            </a:r>
            <a:r>
              <a:rPr lang="es-ES" sz="900" dirty="0">
                <a:effectLst/>
              </a:rPr>
              <a:t>. Aprobada en 2017. </a:t>
            </a:r>
          </a:p>
          <a:p>
            <a:r>
              <a:rPr lang="es-ES" sz="900" b="1" dirty="0">
                <a:effectLst/>
              </a:rPr>
              <a:t>Países Bajos. </a:t>
            </a:r>
            <a:r>
              <a:rPr lang="es-ES" sz="900" dirty="0">
                <a:effectLst/>
                <a:hlinkClick r:id="rId4"/>
              </a:rPr>
              <a:t>Ley de debida diligencia en materia de trabajo infantil. </a:t>
            </a:r>
            <a:r>
              <a:rPr lang="es-ES" sz="900" dirty="0">
                <a:effectLst/>
              </a:rPr>
              <a:t>Aprobada en 2017</a:t>
            </a:r>
          </a:p>
          <a:p>
            <a:r>
              <a:rPr lang="es-ES" sz="900" b="1" dirty="0">
                <a:effectLst/>
              </a:rPr>
              <a:t>Alemania</a:t>
            </a:r>
            <a:r>
              <a:rPr lang="es-ES" sz="900" dirty="0">
                <a:effectLst/>
              </a:rPr>
              <a:t>. </a:t>
            </a:r>
            <a:r>
              <a:rPr lang="es-ES" sz="900" dirty="0">
                <a:effectLst/>
                <a:hlinkClick r:id="rId4"/>
              </a:rPr>
              <a:t>Ley sobre la debida diligencia corporativa en las cadenas de suministro.</a:t>
            </a:r>
            <a:r>
              <a:rPr lang="es-ES" sz="900" dirty="0">
                <a:effectLst/>
              </a:rPr>
              <a:t> Aprobada en 2021</a:t>
            </a:r>
          </a:p>
          <a:p>
            <a:r>
              <a:rPr lang="es-ES" sz="900" b="1" dirty="0">
                <a:effectLst/>
              </a:rPr>
              <a:t>Noruega</a:t>
            </a:r>
            <a:r>
              <a:rPr lang="es-ES" sz="900" dirty="0">
                <a:effectLst/>
              </a:rPr>
              <a:t>. </a:t>
            </a:r>
            <a:r>
              <a:rPr lang="es-ES" sz="900" dirty="0">
                <a:effectLst/>
                <a:hlinkClick r:id="rId5"/>
              </a:rPr>
              <a:t>Ley de transparencia empresarial y trabajo con derechos humanos básicos y trabajo decente</a:t>
            </a:r>
            <a:r>
              <a:rPr lang="es-ES" sz="900" dirty="0">
                <a:effectLst/>
              </a:rPr>
              <a:t>. Aprobada en 2021</a:t>
            </a:r>
          </a:p>
          <a:p>
            <a:r>
              <a:rPr lang="es-ES" sz="900" b="1" dirty="0">
                <a:effectLst/>
              </a:rPr>
              <a:t>Otros países tienen procesos sobre debida diligencia empresarial en marcha:</a:t>
            </a:r>
          </a:p>
          <a:p>
            <a:r>
              <a:rPr lang="es-ES" sz="900" b="1" dirty="0">
                <a:effectLst/>
              </a:rPr>
              <a:t>Austria. </a:t>
            </a:r>
            <a:r>
              <a:rPr lang="es-ES" sz="900" dirty="0">
                <a:effectLst/>
              </a:rPr>
              <a:t>En mayo de 2020, un grupo de diputados presentó un proyecto de Ley de Responsabilidad Social en el sector textil, encaminado a prohibir el trabajo infantil y los trabajos forzados en las cadenas de suministro de los productos textiles y de calzado que entren en el mercado austriaco. </a:t>
            </a:r>
          </a:p>
          <a:p>
            <a:r>
              <a:rPr lang="es-ES" sz="900" b="1" dirty="0">
                <a:effectLst/>
              </a:rPr>
              <a:t>Luxemburgo.</a:t>
            </a:r>
            <a:r>
              <a:rPr lang="es-ES" sz="900" dirty="0">
                <a:effectLst/>
              </a:rPr>
              <a:t> El gobierno se comprometió en 2018 a explorar la posibilidad de adoptar una legislación en materia de debida diligencia empresarial. En 2020, encargó un estudio al respecto a la Universidad de Luxemburgo. </a:t>
            </a:r>
          </a:p>
          <a:p>
            <a:r>
              <a:rPr lang="es-ES" sz="900" b="1" dirty="0">
                <a:effectLst/>
              </a:rPr>
              <a:t>Finlandia</a:t>
            </a:r>
            <a:r>
              <a:rPr lang="es-ES" sz="900" dirty="0">
                <a:effectLst/>
              </a:rPr>
              <a:t>. En junio de 2019 el gobierno finlandés se comprometió a desarrollar legislación en materia de debida diligencia empresarial, así como a trabajar en la UE y en la ONU a favor de la adopción de medidas similares a escala internacional. En junio de 2020, el Ministerio de Empleo publicó un estudio sobre las opciones legislativas disponibles. </a:t>
            </a:r>
          </a:p>
          <a:p>
            <a:r>
              <a:rPr lang="es-ES" sz="900" b="1" dirty="0">
                <a:effectLst/>
              </a:rPr>
              <a:t>Reino Unido</a:t>
            </a:r>
            <a:r>
              <a:rPr lang="es-ES" sz="900" dirty="0">
                <a:effectLst/>
              </a:rPr>
              <a:t>. El gobierno propuso, en noviembre de 2020, la introducción de una nueva ley que establecería obligaciones de debida diligencia empresarial con relación a los productos que conlleven riesgos medioambientales para los bosques y prohibiría a las empresas británicas utilizar dichos productos si no se han respetado las leyes locales que protegen los bosques y los ecosistemas naturales.</a:t>
            </a:r>
          </a:p>
          <a:p>
            <a:r>
              <a:rPr lang="es-ES" sz="900" b="1" dirty="0">
                <a:effectLst/>
              </a:rPr>
              <a:t>Suiza. </a:t>
            </a:r>
            <a:r>
              <a:rPr lang="es-ES" sz="900" dirty="0">
                <a:effectLst/>
              </a:rPr>
              <a:t>Tras un largo proceso legislativo alrededor de la iniciativa, ésta se sometió a referéndum el pasado noviembre de 2020. La iniciativa obtuvo una mayoría de votos a favor (50,7%), pero no en la mayoría de los cantones suizos (además de la mayoría de los votos, la ley electoral exige que al menos 12 cantones apoyaren la iniciativa), por lo que finalmente no fue adoptada.</a:t>
            </a:r>
          </a:p>
          <a:p>
            <a:r>
              <a:rPr lang="es-ES" sz="900" baseline="0" dirty="0"/>
              <a:t>Directiva de diligencia debida ya aprobada en Europa. </a:t>
            </a:r>
            <a:endParaRPr lang="es-ES" sz="900" dirty="0"/>
          </a:p>
          <a:p>
            <a:endParaRPr lang="es-ES" sz="800"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38</a:t>
            </a:fld>
            <a:endParaRPr lang="es-ES"/>
          </a:p>
        </p:txBody>
      </p:sp>
    </p:spTree>
    <p:extLst>
      <p:ext uri="{BB962C8B-B14F-4D97-AF65-F5344CB8AC3E}">
        <p14:creationId xmlns:p14="http://schemas.microsoft.com/office/powerpoint/2010/main" val="27916052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39</a:t>
            </a:fld>
            <a:endParaRPr lang="es-ES"/>
          </a:p>
        </p:txBody>
      </p:sp>
    </p:spTree>
    <p:extLst>
      <p:ext uri="{BB962C8B-B14F-4D97-AF65-F5344CB8AC3E}">
        <p14:creationId xmlns:p14="http://schemas.microsoft.com/office/powerpoint/2010/main" val="2743252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40</a:t>
            </a:fld>
            <a:endParaRPr lang="es-ES"/>
          </a:p>
        </p:txBody>
      </p:sp>
    </p:spTree>
    <p:extLst>
      <p:ext uri="{BB962C8B-B14F-4D97-AF65-F5344CB8AC3E}">
        <p14:creationId xmlns:p14="http://schemas.microsoft.com/office/powerpoint/2010/main" val="29359426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a:solidFill>
                  <a:schemeClr val="tx1"/>
                </a:solidFill>
                <a:latin typeface="+mn-lt"/>
                <a:ea typeface="+mn-ea"/>
                <a:cs typeface="+mn-cs"/>
              </a:rPr>
              <a:t>En España existe obligación de </a:t>
            </a:r>
            <a:r>
              <a:rPr lang="es-ES" sz="1200" b="0" i="0" u="none" strike="noStrike" kern="1200" baseline="0" dirty="0" err="1">
                <a:solidFill>
                  <a:schemeClr val="tx1"/>
                </a:solidFill>
                <a:latin typeface="+mn-lt"/>
                <a:ea typeface="+mn-ea"/>
                <a:cs typeface="+mn-cs"/>
              </a:rPr>
              <a:t>reporting</a:t>
            </a:r>
            <a:r>
              <a:rPr lang="es-ES" sz="1200" b="0" i="0" u="none" strike="noStrike" kern="1200" baseline="0" dirty="0">
                <a:solidFill>
                  <a:schemeClr val="tx1"/>
                </a:solidFill>
                <a:latin typeface="+mn-lt"/>
                <a:ea typeface="+mn-ea"/>
                <a:cs typeface="+mn-cs"/>
              </a:rPr>
              <a:t> no financiero, sin consecuencias por incumplimiento. La sociedad civil está reclamando subir el siguiente escalón: Debida diligencia (con sanciones)</a:t>
            </a:r>
          </a:p>
          <a:p>
            <a:r>
              <a:rPr lang="es-ES" sz="1200" b="0" i="0" u="none" strike="noStrike" kern="1200" baseline="0" dirty="0">
                <a:solidFill>
                  <a:schemeClr val="tx1"/>
                </a:solidFill>
                <a:latin typeface="+mn-lt"/>
                <a:ea typeface="+mn-ea"/>
                <a:cs typeface="+mn-cs"/>
              </a:rPr>
              <a:t>El estado de información no financiera consolidado incluirá información significativa sobre las siguientes cuestiones:</a:t>
            </a:r>
          </a:p>
          <a:p>
            <a:r>
              <a:rPr lang="es-ES" sz="1200" b="0" i="0" u="none" strike="noStrike" kern="1200" baseline="0" dirty="0">
                <a:solidFill>
                  <a:schemeClr val="tx1"/>
                </a:solidFill>
                <a:latin typeface="+mn-lt"/>
                <a:ea typeface="+mn-ea"/>
                <a:cs typeface="+mn-cs"/>
              </a:rPr>
              <a:t>I. Información sobre cuestiones medioambientales:</a:t>
            </a:r>
          </a:p>
          <a:p>
            <a:r>
              <a:rPr lang="es-ES" sz="1200" b="0" i="0" u="none" strike="noStrike" kern="1200" baseline="0" dirty="0">
                <a:solidFill>
                  <a:schemeClr val="tx1"/>
                </a:solidFill>
                <a:latin typeface="+mn-lt"/>
                <a:ea typeface="+mn-ea"/>
                <a:cs typeface="+mn-cs"/>
              </a:rPr>
              <a:t>Información detallada sobre los efectos actuales y previsibles de las actividades de la empresa en el medio ambiente y en su caso, la salud y la seguridad, los procedimientos de evaluación o certificación ambiental; los recursos dedicados a la prevención de riesgos ambientales; la aplicación del principio de precaución, la cantidad de provisiones y garantías para riesgos ambientales.</a:t>
            </a:r>
          </a:p>
          <a:p>
            <a:r>
              <a:rPr lang="es-ES" sz="1200" b="0" i="0" u="none" strike="noStrike" kern="1200" baseline="0" dirty="0">
                <a:solidFill>
                  <a:schemeClr val="tx1"/>
                </a:solidFill>
                <a:latin typeface="+mn-lt"/>
                <a:ea typeface="+mn-ea"/>
                <a:cs typeface="+mn-cs"/>
              </a:rPr>
              <a:t>– Contaminación: medidas para prevenir, reducir o reparar las emisiones de carbono que afectan gravemente el medio ambiente; teniendo en cuenta cualquier forma de contaminación atmosférica específica de una actividad, incluido el ruido y la contaminación lumínica.</a:t>
            </a:r>
          </a:p>
          <a:p>
            <a:r>
              <a:rPr lang="es-ES" sz="1200" b="0" i="0" u="none" strike="noStrike" kern="1200" baseline="0" dirty="0">
                <a:solidFill>
                  <a:schemeClr val="tx1"/>
                </a:solidFill>
                <a:latin typeface="+mn-lt"/>
                <a:ea typeface="+mn-ea"/>
                <a:cs typeface="+mn-cs"/>
              </a:rPr>
              <a:t>– Economía circular y prevención y gestión de residuos: medidas de prevención, reciclaje, reutilización, otras formas de recuperación y eliminación de desechos; acciones para combatir el desperdicio de alimentos.</a:t>
            </a:r>
          </a:p>
          <a:p>
            <a:r>
              <a:rPr lang="es-ES" sz="1200" b="0" i="0" u="none" strike="noStrike" kern="1200" baseline="0" dirty="0">
                <a:solidFill>
                  <a:schemeClr val="tx1"/>
                </a:solidFill>
                <a:latin typeface="+mn-lt"/>
                <a:ea typeface="+mn-ea"/>
                <a:cs typeface="+mn-cs"/>
              </a:rPr>
              <a:t>– Uso sostenible de los recursos: el consumo de agua y el suministro de agua de acuerdo con las limitaciones locales; consumo de materias primas y las medidas adoptadas para mejorar la eficiencia de su uso; consumo, directo e indirecto, de energía, medidas tomadas para mejorar la eficiencia energética y el uso de energías renovables.</a:t>
            </a:r>
          </a:p>
          <a:p>
            <a:r>
              <a:rPr lang="es-ES" sz="1200" b="0" i="0" u="none" strike="noStrike" kern="1200" baseline="0" dirty="0">
                <a:solidFill>
                  <a:schemeClr val="tx1"/>
                </a:solidFill>
                <a:latin typeface="+mn-lt"/>
                <a:ea typeface="+mn-ea"/>
                <a:cs typeface="+mn-cs"/>
              </a:rPr>
              <a:t>– Cambio climático: los elementos importantes de las emisiones de gases de efecto invernadero generados como resultado de las actividades de la empresa, incluido el uso de los bienes y servicios que produce; las medidas adoptadas para adaptarse a las consecuencias del cambio climático; las metas de reducción establecidas voluntariamente a medio y largo plazo para reducir las emisiones de gases de efecto invernadero y los medios implementados para tal fin.</a:t>
            </a:r>
          </a:p>
          <a:p>
            <a:r>
              <a:rPr lang="es-ES" sz="1200" b="0" i="0" u="none" strike="noStrike" kern="1200" baseline="0" dirty="0">
                <a:solidFill>
                  <a:schemeClr val="tx1"/>
                </a:solidFill>
                <a:latin typeface="+mn-lt"/>
                <a:ea typeface="+mn-ea"/>
                <a:cs typeface="+mn-cs"/>
              </a:rPr>
              <a:t>– Protección de la biodiversidad: medidas tomadas para preservar o restaurar la biodiversidad; impactos causados por las actividades u operaciones en áreas protegidas.</a:t>
            </a:r>
          </a:p>
          <a:p>
            <a:r>
              <a:rPr lang="es-ES" sz="1200" b="0" i="0" u="none" strike="noStrike" kern="1200" baseline="0" dirty="0">
                <a:solidFill>
                  <a:schemeClr val="tx1"/>
                </a:solidFill>
                <a:latin typeface="+mn-lt"/>
                <a:ea typeface="+mn-ea"/>
                <a:cs typeface="+mn-cs"/>
              </a:rPr>
              <a:t>II. Información sobre cuestiones sociales y relativas al personal:</a:t>
            </a:r>
          </a:p>
          <a:p>
            <a:r>
              <a:rPr lang="es-ES" sz="1200" b="0" i="0" u="none" strike="noStrike" kern="1200" baseline="0" dirty="0">
                <a:solidFill>
                  <a:schemeClr val="tx1"/>
                </a:solidFill>
                <a:latin typeface="+mn-lt"/>
                <a:ea typeface="+mn-ea"/>
                <a:cs typeface="+mn-cs"/>
              </a:rPr>
              <a:t>– Empleo: número total y distribución de empleados por sexo, edad, país y clasificación profesional; número total y distribución de modalidades de contrato de trabajo, promedio anual de contratos indefinidos, de contratos temporales y de contratos a tiempo parcial por sexo, edad y clasificación profesional, número de despidos por sexo, edad y clasificación profesional; las remuneraciones medias y su evolución desagregados por sexo, edad y clasificación profesional o igual valor; brecha salarial, la remuneración de puestos de trabajo iguales o de media de la sociedad, la remuneración media de los consejeros y directivos, incluyendo la retribución variable, dietas, indemnizaciones, el pago a los sistemas de previsión de ahorro a largo plazo y cualquier otra percepción desagregada por sexo, implantación de políticas de desconexión laboral, empleados con discapacidad.</a:t>
            </a:r>
          </a:p>
          <a:p>
            <a:r>
              <a:rPr lang="es-ES" sz="1200" b="0" i="0" u="none" strike="noStrike" kern="1200" baseline="0" dirty="0">
                <a:solidFill>
                  <a:schemeClr val="tx1"/>
                </a:solidFill>
                <a:latin typeface="+mn-lt"/>
                <a:ea typeface="+mn-ea"/>
                <a:cs typeface="+mn-cs"/>
              </a:rPr>
              <a:t>– Organización del trabajo: organización del tiempo de trabajo; número de horas de absentismo; medidas destinadas a facilitar el disfrute de la conciliación y fomentar el ejercicio corresponsable de estos por parte de ambos progenitores. </a:t>
            </a:r>
          </a:p>
          <a:p>
            <a:r>
              <a:rPr lang="es-ES" sz="1200" b="1" i="0" u="none" strike="noStrike" kern="1200" baseline="0" dirty="0">
                <a:solidFill>
                  <a:schemeClr val="tx1"/>
                </a:solidFill>
                <a:latin typeface="+mn-lt"/>
                <a:ea typeface="+mn-ea"/>
                <a:cs typeface="+mn-cs"/>
              </a:rPr>
              <a:t>BOLETÍN OFICIAL DEL ESTADO Núm. 314 Sábado 29 de diciembre de 2018 Sec. I. Pág. 129838 </a:t>
            </a:r>
            <a:r>
              <a:rPr lang="es-ES" sz="1200" b="0" i="0" u="none" strike="noStrike" kern="1200" baseline="0" dirty="0" err="1">
                <a:solidFill>
                  <a:schemeClr val="tx1"/>
                </a:solidFill>
                <a:latin typeface="+mn-lt"/>
                <a:ea typeface="+mn-ea"/>
                <a:cs typeface="+mn-cs"/>
              </a:rPr>
              <a:t>cve</a:t>
            </a:r>
            <a:r>
              <a:rPr lang="es-ES" sz="1200" b="0" i="0" u="none" strike="noStrike" kern="1200" baseline="0" dirty="0">
                <a:solidFill>
                  <a:schemeClr val="tx1"/>
                </a:solidFill>
                <a:latin typeface="+mn-lt"/>
                <a:ea typeface="+mn-ea"/>
                <a:cs typeface="+mn-cs"/>
              </a:rPr>
              <a:t>: BOE-A-2018-17989 Verificable en http://www.boe.es </a:t>
            </a:r>
          </a:p>
          <a:p>
            <a:r>
              <a:rPr lang="es-ES" sz="1200" b="0" i="0" u="none" strike="noStrike" kern="1200" baseline="0" dirty="0">
                <a:solidFill>
                  <a:schemeClr val="tx1"/>
                </a:solidFill>
                <a:latin typeface="+mn-lt"/>
                <a:ea typeface="+mn-ea"/>
                <a:cs typeface="+mn-cs"/>
              </a:rPr>
              <a:t>– Salud y seguridad: condiciones de salud y seguridad en el trabajo; accidentes de trabajo, en particular su frecuencia y gravedad, así como las enfermedades profesionales; desagregado por sexo.</a:t>
            </a:r>
          </a:p>
          <a:p>
            <a:r>
              <a:rPr lang="es-ES" sz="1200" b="0" i="0" u="none" strike="noStrike" kern="1200" baseline="0" dirty="0">
                <a:solidFill>
                  <a:schemeClr val="tx1"/>
                </a:solidFill>
                <a:latin typeface="+mn-lt"/>
                <a:ea typeface="+mn-ea"/>
                <a:cs typeface="+mn-cs"/>
              </a:rPr>
              <a:t>– Relaciones sociales: organización del diálogo social, incluidos procedimientos para informar y consultar al personal y negociar con ellos; porcentaje de empleados cubiertos por convenio colectivo por país; el balance de los convenios colectivos, particularmente en el campo de la salud y la seguridad en el trabajo.</a:t>
            </a:r>
          </a:p>
          <a:p>
            <a:r>
              <a:rPr lang="es-ES" sz="1200" b="0" i="0" u="none" strike="noStrike" kern="1200" baseline="0" dirty="0">
                <a:solidFill>
                  <a:schemeClr val="tx1"/>
                </a:solidFill>
                <a:latin typeface="+mn-lt"/>
                <a:ea typeface="+mn-ea"/>
                <a:cs typeface="+mn-cs"/>
              </a:rPr>
              <a:t>– Formación: las políticas implementadas en el campo de la formación; la cantidad total de horas de formación por categorías profesionales.</a:t>
            </a:r>
          </a:p>
          <a:p>
            <a:r>
              <a:rPr lang="es-ES" sz="1200" b="0" i="0" u="none" strike="noStrike" kern="1200" baseline="0" dirty="0">
                <a:solidFill>
                  <a:schemeClr val="tx1"/>
                </a:solidFill>
                <a:latin typeface="+mn-lt"/>
                <a:ea typeface="+mn-ea"/>
                <a:cs typeface="+mn-cs"/>
              </a:rPr>
              <a:t>– Accesibilidad universal de las personas con discapacidad.</a:t>
            </a:r>
          </a:p>
          <a:p>
            <a:r>
              <a:rPr lang="es-ES" sz="1200" b="0" i="0" u="none" strike="noStrike" kern="1200" baseline="0" dirty="0">
                <a:solidFill>
                  <a:schemeClr val="tx1"/>
                </a:solidFill>
                <a:latin typeface="+mn-lt"/>
                <a:ea typeface="+mn-ea"/>
                <a:cs typeface="+mn-cs"/>
              </a:rPr>
              <a:t>– Igualdad: medidas adoptadas para promover la igualdad de trato y de oportunidades entre mujeres y hombres; planes de igualdad (Capítulo III de la Ley Orgánica 3/2007, de 22 de marzo, para la igualdad efectiva de mujeres y hombres), medidas adoptadas para promover el empleo, protocolos contra el acoso sexual y por razón de sexo, la integración y la accesibilidad universal de las personas con discapacidad; la política contra todo tipo de discriminación y, en su caso, de gestión de la diversidad.</a:t>
            </a:r>
          </a:p>
          <a:p>
            <a:r>
              <a:rPr lang="es-ES" sz="1200" b="0" i="0" u="none" strike="noStrike" kern="1200" baseline="0" dirty="0">
                <a:solidFill>
                  <a:schemeClr val="tx1"/>
                </a:solidFill>
                <a:latin typeface="+mn-lt"/>
                <a:ea typeface="+mn-ea"/>
                <a:cs typeface="+mn-cs"/>
              </a:rPr>
              <a:t>III. Información sobre el respeto de los derechos humanos: Aplicación de procedimientos de diligencia debida en materia de derechos humanos; prevención de los riesgos de vulneración de derechos humanos y, en su caso, medidas para mitigar, gestionar y reparar posibles abusos cometidos; denuncias por casos de vulneración de derechos humanos; promoción y cumplimiento de las disposiciones de los convenios fundamentales de la Organización Internacional del Trabajo relacionadas con el respeto por la libertad de asociación y el derecho a la negociación colectiva; la eliminación de la discriminación en el empleo y la ocupación; la eliminación del trabajo forzoso u obligatorio; la abolición efectiva del trabajo infantil.</a:t>
            </a:r>
          </a:p>
          <a:p>
            <a:r>
              <a:rPr lang="es-ES" sz="1200" b="0" i="0" u="none" strike="noStrike" kern="1200" baseline="0" dirty="0">
                <a:solidFill>
                  <a:schemeClr val="tx1"/>
                </a:solidFill>
                <a:latin typeface="+mn-lt"/>
                <a:ea typeface="+mn-ea"/>
                <a:cs typeface="+mn-cs"/>
              </a:rPr>
              <a:t>IV. Información relativa a la lucha contra la corrupción y el soborno: medidas adoptadas para prevenir la corrupción y el soborno; medidas para luchar contra el blanqueo de capitales, aportaciones a fundaciones y entidades sin ánimo de lucro.</a:t>
            </a:r>
          </a:p>
          <a:p>
            <a:r>
              <a:rPr lang="es-ES" sz="1200" b="0" i="0" u="none" strike="noStrike" kern="1200" baseline="0" dirty="0">
                <a:solidFill>
                  <a:schemeClr val="tx1"/>
                </a:solidFill>
                <a:latin typeface="+mn-lt"/>
                <a:ea typeface="+mn-ea"/>
                <a:cs typeface="+mn-cs"/>
              </a:rPr>
              <a:t>V. Información sobre la sociedad:</a:t>
            </a:r>
          </a:p>
          <a:p>
            <a:r>
              <a:rPr lang="es-ES" sz="1200" b="0" i="0" u="none" strike="noStrike" kern="1200" baseline="0" dirty="0">
                <a:solidFill>
                  <a:schemeClr val="tx1"/>
                </a:solidFill>
                <a:latin typeface="+mn-lt"/>
                <a:ea typeface="+mn-ea"/>
                <a:cs typeface="+mn-cs"/>
              </a:rPr>
              <a:t>– Compromisos de la empresa con el desarrollo sostenible: el impacto de la actividad de la sociedad en el empleo y el desarrollo local; el impacto de la actividad de la sociedad en las poblaciones locales y en el territorio; las relaciones mantenidas con los actores de las comunidades locales y las modalidades del diálogo con estos; las acciones de asociación o patrocinio.</a:t>
            </a:r>
          </a:p>
          <a:p>
            <a:r>
              <a:rPr lang="es-ES" sz="1200" b="0" i="0" u="none" strike="noStrike" kern="1200" baseline="0" dirty="0">
                <a:solidFill>
                  <a:schemeClr val="tx1"/>
                </a:solidFill>
                <a:latin typeface="+mn-lt"/>
                <a:ea typeface="+mn-ea"/>
                <a:cs typeface="+mn-cs"/>
              </a:rPr>
              <a:t>– Subcontratación y proveedores: la inclusión en la política de compras de cuestiones sociales, de igualdad de género y ambientales; consideración en las relaciones con proveedores y subcontratistas de su responsabilidad social y ambiental; sistemas de supervisión y auditorias y resultados de las mismas.</a:t>
            </a:r>
          </a:p>
          <a:p>
            <a:r>
              <a:rPr lang="es-ES" sz="1200" b="0" i="0" u="none" strike="noStrike" kern="1200" baseline="0" dirty="0">
                <a:solidFill>
                  <a:schemeClr val="tx1"/>
                </a:solidFill>
                <a:latin typeface="+mn-lt"/>
                <a:ea typeface="+mn-ea"/>
                <a:cs typeface="+mn-cs"/>
              </a:rPr>
              <a:t>– Consumidores: medidas para la salud y la seguridad de los consumidores; sistemas de reclamación, quejas recibidas y resolución de las mismas.</a:t>
            </a:r>
          </a:p>
          <a:p>
            <a:r>
              <a:rPr lang="es-ES" sz="1200" b="0" i="0" u="none" strike="noStrike" kern="1200" baseline="0" dirty="0">
                <a:solidFill>
                  <a:schemeClr val="tx1"/>
                </a:solidFill>
                <a:latin typeface="+mn-lt"/>
                <a:ea typeface="+mn-ea"/>
                <a:cs typeface="+mn-cs"/>
              </a:rPr>
              <a:t>– Información fiscal: los beneficios obtenidos país por país; los impuestos sobre beneficios pagados y las subvenciones públicas recibidas.</a:t>
            </a:r>
          </a:p>
          <a:p>
            <a:r>
              <a:rPr lang="es-ES" sz="1200" b="0" i="0" u="none" strike="noStrike" kern="1200" baseline="0" dirty="0">
                <a:solidFill>
                  <a:schemeClr val="tx1"/>
                </a:solidFill>
                <a:latin typeface="+mn-lt"/>
                <a:ea typeface="+mn-ea"/>
                <a:cs typeface="+mn-cs"/>
              </a:rPr>
              <a:t>Cualquier otra información que sea significativa.</a:t>
            </a:r>
          </a:p>
          <a:p>
            <a:r>
              <a:rPr lang="es-ES" sz="1200" b="0" i="0" u="none" strike="noStrike" kern="1200" baseline="0" dirty="0">
                <a:solidFill>
                  <a:schemeClr val="tx1"/>
                </a:solidFill>
                <a:latin typeface="+mn-lt"/>
                <a:ea typeface="+mn-ea"/>
                <a:cs typeface="+mn-cs"/>
              </a:rPr>
              <a:t>En el caso de que el grupo de sociedades no aplique ninguna política en alguna de las cuestiones previstas en este apartado 6, el estado de información no financiera consolidado ofrecerá una explicación clara y motivada al respecto.</a:t>
            </a:r>
          </a:p>
          <a:p>
            <a:r>
              <a:rPr lang="es-ES" sz="1200" b="0" i="0" u="none" strike="noStrike" kern="1200" baseline="0" dirty="0">
                <a:solidFill>
                  <a:schemeClr val="tx1"/>
                </a:solidFill>
                <a:latin typeface="+mn-lt"/>
                <a:ea typeface="+mn-ea"/>
                <a:cs typeface="+mn-cs"/>
              </a:rPr>
              <a:t>El estado de información no financiera consolidado incluirá también, en su caso, referencias y explicaciones complementarias sobre los importes detallados en las cuentas anuales consolidadas.</a:t>
            </a:r>
          </a:p>
          <a:p>
            <a:r>
              <a:rPr lang="es-ES" sz="1200" b="0" i="0" u="none" strike="noStrike" kern="1200" baseline="0" dirty="0">
                <a:solidFill>
                  <a:schemeClr val="tx1"/>
                </a:solidFill>
                <a:latin typeface="+mn-lt"/>
                <a:ea typeface="+mn-ea"/>
                <a:cs typeface="+mn-cs"/>
              </a:rPr>
              <a:t>Para la divulgación de la información no financiera referida en este apartado, la sociedad obligada a formular cuentas consolidadas deberá basarse en marcos </a:t>
            </a:r>
          </a:p>
          <a:p>
            <a:r>
              <a:rPr lang="es-ES" sz="1200" b="1" i="0" u="none" strike="noStrike" kern="1200" baseline="0" dirty="0">
                <a:solidFill>
                  <a:schemeClr val="tx1"/>
                </a:solidFill>
                <a:latin typeface="+mn-lt"/>
                <a:ea typeface="+mn-ea"/>
                <a:cs typeface="+mn-cs"/>
              </a:rPr>
              <a:t>BOLETÍN OFICIAL DEL ESTADO Núm. 314 Sábado 29 de diciembre de 2018 Sec. I. Pág. 129839 </a:t>
            </a:r>
            <a:r>
              <a:rPr lang="es-ES" sz="1200" b="0" i="0" u="none" strike="noStrike" kern="1200" baseline="0" dirty="0" err="1">
                <a:solidFill>
                  <a:schemeClr val="tx1"/>
                </a:solidFill>
                <a:latin typeface="+mn-lt"/>
                <a:ea typeface="+mn-ea"/>
                <a:cs typeface="+mn-cs"/>
              </a:rPr>
              <a:t>cve</a:t>
            </a:r>
            <a:r>
              <a:rPr lang="es-ES" sz="1200" b="0" i="0" u="none" strike="noStrike" kern="1200" baseline="0" dirty="0">
                <a:solidFill>
                  <a:schemeClr val="tx1"/>
                </a:solidFill>
                <a:latin typeface="+mn-lt"/>
                <a:ea typeface="+mn-ea"/>
                <a:cs typeface="+mn-cs"/>
              </a:rPr>
              <a:t>: BOE-A-2018-17989 Verificable en http://www.boe.es </a:t>
            </a:r>
          </a:p>
          <a:p>
            <a:r>
              <a:rPr lang="es-ES" sz="1200" b="0" i="0" u="none" strike="noStrike" kern="1200" baseline="0" dirty="0">
                <a:solidFill>
                  <a:schemeClr val="tx1"/>
                </a:solidFill>
                <a:latin typeface="+mn-lt"/>
                <a:ea typeface="+mn-ea"/>
                <a:cs typeface="+mn-cs"/>
              </a:rPr>
              <a:t>normativos nacionales, de la Unión Europea o internacionales, debiendo especificar en qué marcos se ha basado.</a:t>
            </a:r>
          </a:p>
          <a:p>
            <a:r>
              <a:rPr lang="es-ES" sz="1200" b="0" i="0" u="none" strike="noStrike" kern="1200" baseline="0" dirty="0">
                <a:solidFill>
                  <a:schemeClr val="tx1"/>
                </a:solidFill>
                <a:latin typeface="+mn-lt"/>
                <a:ea typeface="+mn-ea"/>
                <a:cs typeface="+mn-cs"/>
              </a:rPr>
              <a:t>La obligación de incluir información no financiera prevista en el apartado 1 de este artículo se considerará cumplida si la sociedad incorpora al informe de gestión la información descrita en este apartado.</a:t>
            </a:r>
            <a:endParaRPr lang="es-ES" dirty="0"/>
          </a:p>
          <a:p>
            <a:pPr marL="0" marR="0" indent="0" algn="l" defTabSz="914400" rtl="0" eaLnBrk="1" fontAlgn="auto" latinLnBrk="0" hangingPunct="1">
              <a:lnSpc>
                <a:spcPct val="100000"/>
              </a:lnSpc>
              <a:spcBef>
                <a:spcPts val="0"/>
              </a:spcBef>
              <a:spcAft>
                <a:spcPts val="0"/>
              </a:spcAft>
              <a:buClrTx/>
              <a:buSzTx/>
              <a:buFontTx/>
              <a:buNone/>
              <a:tabLst/>
              <a:defRPr/>
            </a:pPr>
            <a:r>
              <a:rPr lang="es-ES" sz="1200" dirty="0">
                <a:hlinkClick r:id="rId3"/>
              </a:rPr>
              <a:t>Campaña en marcha en España: https://empresasresponsables.org/que-es-la-debida-diligencia/</a:t>
            </a:r>
            <a:endParaRPr lang="es-ES" sz="1200" dirty="0"/>
          </a:p>
          <a:p>
            <a:endParaRPr lang="es-ES" dirty="0"/>
          </a:p>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41</a:t>
            </a:fld>
            <a:endParaRPr lang="es-ES"/>
          </a:p>
        </p:txBody>
      </p:sp>
    </p:spTree>
    <p:extLst>
      <p:ext uri="{BB962C8B-B14F-4D97-AF65-F5344CB8AC3E}">
        <p14:creationId xmlns:p14="http://schemas.microsoft.com/office/powerpoint/2010/main" val="11439999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42</a:t>
            </a:fld>
            <a:endParaRPr lang="es-ES"/>
          </a:p>
        </p:txBody>
      </p:sp>
    </p:spTree>
    <p:extLst>
      <p:ext uri="{BB962C8B-B14F-4D97-AF65-F5344CB8AC3E}">
        <p14:creationId xmlns:p14="http://schemas.microsoft.com/office/powerpoint/2010/main" val="18122338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nchor="b"/>
          <a:lstStyle>
            <a:lvl1pPr defTabSz="957263">
              <a:spcBef>
                <a:spcPct val="30000"/>
              </a:spcBef>
              <a:defRPr sz="1200">
                <a:solidFill>
                  <a:schemeClr val="tx1"/>
                </a:solidFill>
                <a:latin typeface="Arial" panose="020B0604020202020204" pitchFamily="34" charset="0"/>
              </a:defRPr>
            </a:lvl1pPr>
            <a:lvl2pPr marL="742950" indent="-285750" defTabSz="957263">
              <a:spcBef>
                <a:spcPct val="30000"/>
              </a:spcBef>
              <a:defRPr sz="1200">
                <a:solidFill>
                  <a:schemeClr val="tx1"/>
                </a:solidFill>
                <a:latin typeface="Arial" panose="020B0604020202020204" pitchFamily="34" charset="0"/>
              </a:defRPr>
            </a:lvl2pPr>
            <a:lvl3pPr marL="1143000" indent="-228600" defTabSz="957263">
              <a:spcBef>
                <a:spcPct val="30000"/>
              </a:spcBef>
              <a:defRPr sz="1200">
                <a:solidFill>
                  <a:schemeClr val="tx1"/>
                </a:solidFill>
                <a:latin typeface="Arial" panose="020B0604020202020204" pitchFamily="34" charset="0"/>
              </a:defRPr>
            </a:lvl3pPr>
            <a:lvl4pPr marL="1600200" indent="-228600" defTabSz="957263">
              <a:spcBef>
                <a:spcPct val="30000"/>
              </a:spcBef>
              <a:defRPr sz="1200">
                <a:solidFill>
                  <a:schemeClr val="tx1"/>
                </a:solidFill>
                <a:latin typeface="Arial" panose="020B0604020202020204" pitchFamily="34" charset="0"/>
              </a:defRPr>
            </a:lvl4pPr>
            <a:lvl5pPr marL="2057400" indent="-228600" defTabSz="957263">
              <a:spcBef>
                <a:spcPct val="30000"/>
              </a:spcBef>
              <a:defRPr sz="1200">
                <a:solidFill>
                  <a:schemeClr val="tx1"/>
                </a:solidFill>
                <a:latin typeface="Arial" panose="020B0604020202020204" pitchFamily="34" charset="0"/>
              </a:defRPr>
            </a:lvl5pPr>
            <a:lvl6pPr marL="2514600" indent="-228600" defTabSz="9572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72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72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726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0696F4CA-22D3-4CBA-9F88-B6FC7686F875}" type="slidenum">
              <a:rPr lang="es-ES" altLang="es-ES" sz="1300"/>
              <a:pPr algn="r" eaLnBrk="1" hangingPunct="1">
                <a:spcBef>
                  <a:spcPct val="0"/>
                </a:spcBef>
              </a:pPr>
              <a:t>43</a:t>
            </a:fld>
            <a:endParaRPr lang="es-ES" altLang="es-ES" sz="13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lstStyle/>
          <a:p>
            <a:endParaRPr lang="es-ES" altLang="es-ES" dirty="0">
              <a:latin typeface="Arial" panose="020B0604020202020204" pitchFamily="34" charset="0"/>
            </a:endParaRPr>
          </a:p>
        </p:txBody>
      </p:sp>
    </p:spTree>
    <p:extLst>
      <p:ext uri="{BB962C8B-B14F-4D97-AF65-F5344CB8AC3E}">
        <p14:creationId xmlns:p14="http://schemas.microsoft.com/office/powerpoint/2010/main" val="1984301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nchor="b"/>
          <a:lstStyle>
            <a:lvl1pPr defTabSz="957263">
              <a:spcBef>
                <a:spcPct val="30000"/>
              </a:spcBef>
              <a:defRPr sz="1200">
                <a:solidFill>
                  <a:schemeClr val="tx1"/>
                </a:solidFill>
                <a:latin typeface="Arial" panose="020B0604020202020204" pitchFamily="34" charset="0"/>
              </a:defRPr>
            </a:lvl1pPr>
            <a:lvl2pPr marL="742950" indent="-285750" defTabSz="957263">
              <a:spcBef>
                <a:spcPct val="30000"/>
              </a:spcBef>
              <a:defRPr sz="1200">
                <a:solidFill>
                  <a:schemeClr val="tx1"/>
                </a:solidFill>
                <a:latin typeface="Arial" panose="020B0604020202020204" pitchFamily="34" charset="0"/>
              </a:defRPr>
            </a:lvl2pPr>
            <a:lvl3pPr marL="1143000" indent="-228600" defTabSz="957263">
              <a:spcBef>
                <a:spcPct val="30000"/>
              </a:spcBef>
              <a:defRPr sz="1200">
                <a:solidFill>
                  <a:schemeClr val="tx1"/>
                </a:solidFill>
                <a:latin typeface="Arial" panose="020B0604020202020204" pitchFamily="34" charset="0"/>
              </a:defRPr>
            </a:lvl3pPr>
            <a:lvl4pPr marL="1600200" indent="-228600" defTabSz="957263">
              <a:spcBef>
                <a:spcPct val="30000"/>
              </a:spcBef>
              <a:defRPr sz="1200">
                <a:solidFill>
                  <a:schemeClr val="tx1"/>
                </a:solidFill>
                <a:latin typeface="Arial" panose="020B0604020202020204" pitchFamily="34" charset="0"/>
              </a:defRPr>
            </a:lvl4pPr>
            <a:lvl5pPr marL="2057400" indent="-228600" defTabSz="957263">
              <a:spcBef>
                <a:spcPct val="30000"/>
              </a:spcBef>
              <a:defRPr sz="1200">
                <a:solidFill>
                  <a:schemeClr val="tx1"/>
                </a:solidFill>
                <a:latin typeface="Arial" panose="020B0604020202020204" pitchFamily="34" charset="0"/>
              </a:defRPr>
            </a:lvl5pPr>
            <a:lvl6pPr marL="2514600" indent="-228600" defTabSz="9572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72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72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726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64F2D601-89CE-48B0-A525-606009FC8D10}" type="slidenum">
              <a:rPr lang="es-ES" altLang="es-ES" sz="1300"/>
              <a:pPr algn="r" eaLnBrk="1" hangingPunct="1">
                <a:spcBef>
                  <a:spcPct val="0"/>
                </a:spcBef>
              </a:pPr>
              <a:t>44</a:t>
            </a:fld>
            <a:endParaRPr lang="es-ES" altLang="es-ES" sz="13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lstStyle/>
          <a:p>
            <a:r>
              <a:rPr lang="es-ES" altLang="es-ES" dirty="0">
                <a:latin typeface="Arial" panose="020B0604020202020204" pitchFamily="34" charset="0"/>
              </a:rPr>
              <a:t>Libro DEUSTO, </a:t>
            </a:r>
            <a:r>
              <a:rPr lang="es-ES" altLang="es-ES" dirty="0" err="1">
                <a:latin typeface="Arial" panose="020B0604020202020204" pitchFamily="34" charset="0"/>
              </a:rPr>
              <a:t>pd</a:t>
            </a:r>
            <a:r>
              <a:rPr lang="es-ES" altLang="es-ES" dirty="0">
                <a:latin typeface="Arial" panose="020B0604020202020204" pitchFamily="34" charset="0"/>
              </a:rPr>
              <a:t> 149, complejidad de la ética profesional.</a:t>
            </a:r>
          </a:p>
        </p:txBody>
      </p:sp>
    </p:spTree>
    <p:extLst>
      <p:ext uri="{BB962C8B-B14F-4D97-AF65-F5344CB8AC3E}">
        <p14:creationId xmlns:p14="http://schemas.microsoft.com/office/powerpoint/2010/main" val="3855278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nchor="b"/>
          <a:lstStyle>
            <a:lvl1pPr defTabSz="957263">
              <a:spcBef>
                <a:spcPct val="30000"/>
              </a:spcBef>
              <a:defRPr sz="1200">
                <a:solidFill>
                  <a:schemeClr val="tx1"/>
                </a:solidFill>
                <a:latin typeface="Arial" panose="020B0604020202020204" pitchFamily="34" charset="0"/>
              </a:defRPr>
            </a:lvl1pPr>
            <a:lvl2pPr marL="742950" indent="-285750" defTabSz="957263">
              <a:spcBef>
                <a:spcPct val="30000"/>
              </a:spcBef>
              <a:defRPr sz="1200">
                <a:solidFill>
                  <a:schemeClr val="tx1"/>
                </a:solidFill>
                <a:latin typeface="Arial" panose="020B0604020202020204" pitchFamily="34" charset="0"/>
              </a:defRPr>
            </a:lvl2pPr>
            <a:lvl3pPr marL="1143000" indent="-228600" defTabSz="957263">
              <a:spcBef>
                <a:spcPct val="30000"/>
              </a:spcBef>
              <a:defRPr sz="1200">
                <a:solidFill>
                  <a:schemeClr val="tx1"/>
                </a:solidFill>
                <a:latin typeface="Arial" panose="020B0604020202020204" pitchFamily="34" charset="0"/>
              </a:defRPr>
            </a:lvl3pPr>
            <a:lvl4pPr marL="1600200" indent="-228600" defTabSz="957263">
              <a:spcBef>
                <a:spcPct val="30000"/>
              </a:spcBef>
              <a:defRPr sz="1200">
                <a:solidFill>
                  <a:schemeClr val="tx1"/>
                </a:solidFill>
                <a:latin typeface="Arial" panose="020B0604020202020204" pitchFamily="34" charset="0"/>
              </a:defRPr>
            </a:lvl4pPr>
            <a:lvl5pPr marL="2057400" indent="-228600" defTabSz="957263">
              <a:spcBef>
                <a:spcPct val="30000"/>
              </a:spcBef>
              <a:defRPr sz="1200">
                <a:solidFill>
                  <a:schemeClr val="tx1"/>
                </a:solidFill>
                <a:latin typeface="Arial" panose="020B0604020202020204" pitchFamily="34" charset="0"/>
              </a:defRPr>
            </a:lvl5pPr>
            <a:lvl6pPr marL="2514600" indent="-228600" defTabSz="9572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72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72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726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480C18D4-46D1-4612-8F88-7620D864DE26}" type="slidenum">
              <a:rPr lang="es-ES" altLang="es-ES" sz="1300"/>
              <a:pPr algn="r" eaLnBrk="1" hangingPunct="1">
                <a:spcBef>
                  <a:spcPct val="0"/>
                </a:spcBef>
              </a:pPr>
              <a:t>45</a:t>
            </a:fld>
            <a:endParaRPr lang="es-ES" altLang="es-ES" sz="13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lstStyle/>
          <a:p>
            <a:pPr eaLnBrk="1" hangingPunct="1">
              <a:spcBef>
                <a:spcPct val="0"/>
              </a:spcBef>
              <a:buClrTx/>
              <a:buFontTx/>
              <a:buNone/>
            </a:pPr>
            <a:r>
              <a:rPr lang="es-ES" altLang="es-ES" sz="1200" dirty="0"/>
              <a:t>VIDEOS</a:t>
            </a:r>
          </a:p>
          <a:p>
            <a:pPr eaLnBrk="1" hangingPunct="1">
              <a:spcBef>
                <a:spcPct val="0"/>
              </a:spcBef>
              <a:buClrTx/>
              <a:buFontTx/>
              <a:buNone/>
            </a:pPr>
            <a:r>
              <a:rPr lang="es-ES" altLang="es-ES" sz="1200" dirty="0"/>
              <a:t>Visión global y resumida de la RSC estratégica (2’40’’):</a:t>
            </a:r>
          </a:p>
          <a:p>
            <a:pPr eaLnBrk="1" hangingPunct="1">
              <a:spcBef>
                <a:spcPct val="0"/>
              </a:spcBef>
              <a:buClrTx/>
              <a:buFontTx/>
              <a:buNone/>
            </a:pPr>
            <a:r>
              <a:rPr lang="es-ES" altLang="es-ES" sz="1200" dirty="0">
                <a:hlinkClick r:id="rId3"/>
              </a:rPr>
              <a:t>https://www.youtube.com/watch?v=uJQorBhZL7w&amp;feature=youtu.be</a:t>
            </a:r>
            <a:r>
              <a:rPr lang="es-ES" altLang="es-ES" sz="1200" dirty="0"/>
              <a:t> </a:t>
            </a:r>
          </a:p>
          <a:p>
            <a:pPr eaLnBrk="1" hangingPunct="1">
              <a:spcBef>
                <a:spcPct val="0"/>
              </a:spcBef>
              <a:buClrTx/>
              <a:buFontTx/>
              <a:buNone/>
            </a:pPr>
            <a:r>
              <a:rPr lang="es-ES" altLang="es-ES" sz="1800" dirty="0"/>
              <a:t>Algo más amplio. La visión de uno de los impulsores de la RSC estratégica, Michael </a:t>
            </a:r>
            <a:r>
              <a:rPr lang="es-ES" altLang="es-ES" sz="1800" dirty="0" err="1"/>
              <a:t>Porter</a:t>
            </a:r>
            <a:r>
              <a:rPr lang="es-ES" altLang="es-ES" sz="1800" dirty="0"/>
              <a:t>(17’):  </a:t>
            </a:r>
          </a:p>
          <a:p>
            <a:pPr eaLnBrk="1" hangingPunct="1">
              <a:spcBef>
                <a:spcPct val="0"/>
              </a:spcBef>
              <a:buClrTx/>
              <a:buFontTx/>
              <a:buNone/>
            </a:pPr>
            <a:r>
              <a:rPr lang="es-ES" altLang="es-ES" sz="1200" dirty="0">
                <a:solidFill>
                  <a:schemeClr val="tx1"/>
                </a:solidFill>
                <a:hlinkClick r:id="rId4"/>
              </a:rPr>
              <a:t>http://www.ted.com/talks/michael_porter_why_business_can_be_good_at_solving_social_problems?language=es</a:t>
            </a:r>
            <a:r>
              <a:rPr lang="es-ES" altLang="es-ES" sz="1800" dirty="0">
                <a:solidFill>
                  <a:schemeClr val="tx1"/>
                </a:solidFill>
              </a:rPr>
              <a:t> </a:t>
            </a:r>
            <a:endParaRPr lang="es-ES" altLang="es-ES" sz="1200" dirty="0">
              <a:solidFill>
                <a:schemeClr val="tx1"/>
              </a:solidFill>
            </a:endParaRPr>
          </a:p>
          <a:p>
            <a:endParaRPr lang="es-ES" altLang="es-ES" dirty="0">
              <a:latin typeface="Arial" panose="020B0604020202020204" pitchFamily="34" charset="0"/>
            </a:endParaRPr>
          </a:p>
          <a:p>
            <a:endParaRPr lang="es-ES" altLang="es-ES" dirty="0">
              <a:latin typeface="Arial" panose="020B0604020202020204" pitchFamily="34" charset="0"/>
            </a:endParaRPr>
          </a:p>
          <a:p>
            <a:r>
              <a:rPr lang="es-ES" altLang="es-ES" dirty="0">
                <a:latin typeface="Arial" panose="020B0604020202020204" pitchFamily="34" charset="0"/>
              </a:rPr>
              <a:t>Libro DEUSTO, </a:t>
            </a:r>
            <a:r>
              <a:rPr lang="es-ES" altLang="es-ES" dirty="0" err="1">
                <a:latin typeface="Arial" panose="020B0604020202020204" pitchFamily="34" charset="0"/>
              </a:rPr>
              <a:t>pd</a:t>
            </a:r>
            <a:r>
              <a:rPr lang="es-ES" altLang="es-ES" dirty="0">
                <a:latin typeface="Arial" panose="020B0604020202020204" pitchFamily="34" charset="0"/>
              </a:rPr>
              <a:t> 149, complejidad de la ética profesional.</a:t>
            </a:r>
          </a:p>
        </p:txBody>
      </p:sp>
    </p:spTree>
    <p:extLst>
      <p:ext uri="{BB962C8B-B14F-4D97-AF65-F5344CB8AC3E}">
        <p14:creationId xmlns:p14="http://schemas.microsoft.com/office/powerpoint/2010/main" val="7213256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nchor="b"/>
          <a:lstStyle>
            <a:lvl1pPr defTabSz="957263">
              <a:spcBef>
                <a:spcPct val="30000"/>
              </a:spcBef>
              <a:defRPr sz="1200">
                <a:solidFill>
                  <a:schemeClr val="tx1"/>
                </a:solidFill>
                <a:latin typeface="Arial" panose="020B0604020202020204" pitchFamily="34" charset="0"/>
              </a:defRPr>
            </a:lvl1pPr>
            <a:lvl2pPr marL="742950" indent="-285750" defTabSz="957263">
              <a:spcBef>
                <a:spcPct val="30000"/>
              </a:spcBef>
              <a:defRPr sz="1200">
                <a:solidFill>
                  <a:schemeClr val="tx1"/>
                </a:solidFill>
                <a:latin typeface="Arial" panose="020B0604020202020204" pitchFamily="34" charset="0"/>
              </a:defRPr>
            </a:lvl2pPr>
            <a:lvl3pPr marL="1143000" indent="-228600" defTabSz="957263">
              <a:spcBef>
                <a:spcPct val="30000"/>
              </a:spcBef>
              <a:defRPr sz="1200">
                <a:solidFill>
                  <a:schemeClr val="tx1"/>
                </a:solidFill>
                <a:latin typeface="Arial" panose="020B0604020202020204" pitchFamily="34" charset="0"/>
              </a:defRPr>
            </a:lvl3pPr>
            <a:lvl4pPr marL="1600200" indent="-228600" defTabSz="957263">
              <a:spcBef>
                <a:spcPct val="30000"/>
              </a:spcBef>
              <a:defRPr sz="1200">
                <a:solidFill>
                  <a:schemeClr val="tx1"/>
                </a:solidFill>
                <a:latin typeface="Arial" panose="020B0604020202020204" pitchFamily="34" charset="0"/>
              </a:defRPr>
            </a:lvl4pPr>
            <a:lvl5pPr marL="2057400" indent="-228600" defTabSz="957263">
              <a:spcBef>
                <a:spcPct val="30000"/>
              </a:spcBef>
              <a:defRPr sz="1200">
                <a:solidFill>
                  <a:schemeClr val="tx1"/>
                </a:solidFill>
                <a:latin typeface="Arial" panose="020B0604020202020204" pitchFamily="34" charset="0"/>
              </a:defRPr>
            </a:lvl5pPr>
            <a:lvl6pPr marL="2514600" indent="-228600" defTabSz="9572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72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72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726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480C18D4-46D1-4612-8F88-7620D864DE26}" type="slidenum">
              <a:rPr lang="es-ES" altLang="es-ES" sz="1300"/>
              <a:pPr algn="r" eaLnBrk="1" hangingPunct="1">
                <a:spcBef>
                  <a:spcPct val="0"/>
                </a:spcBef>
              </a:pPr>
              <a:t>46</a:t>
            </a:fld>
            <a:endParaRPr lang="es-ES" altLang="es-ES" sz="13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lstStyle/>
          <a:p>
            <a:pPr eaLnBrk="1" hangingPunct="1">
              <a:spcBef>
                <a:spcPct val="0"/>
              </a:spcBef>
              <a:buClrTx/>
              <a:buFontTx/>
              <a:buNone/>
            </a:pPr>
            <a:r>
              <a:rPr lang="es-ES" altLang="es-ES" sz="1200" dirty="0"/>
              <a:t>VIDEOS</a:t>
            </a:r>
          </a:p>
          <a:p>
            <a:pPr eaLnBrk="1" hangingPunct="1">
              <a:spcBef>
                <a:spcPct val="0"/>
              </a:spcBef>
              <a:buClrTx/>
              <a:buFontTx/>
              <a:buNone/>
            </a:pPr>
            <a:r>
              <a:rPr lang="es-ES" altLang="es-ES" sz="1200" dirty="0"/>
              <a:t>Visión global y resumida de la RSC estratégica (2’40’’):</a:t>
            </a:r>
          </a:p>
          <a:p>
            <a:pPr eaLnBrk="1" hangingPunct="1">
              <a:spcBef>
                <a:spcPct val="0"/>
              </a:spcBef>
              <a:buClrTx/>
              <a:buFontTx/>
              <a:buNone/>
            </a:pPr>
            <a:r>
              <a:rPr lang="es-ES" altLang="es-ES" sz="1200" dirty="0">
                <a:hlinkClick r:id="rId3"/>
              </a:rPr>
              <a:t>https://www.youtube.com/watch?v=uJQorBhZL7w&amp;feature=youtu.be</a:t>
            </a:r>
            <a:r>
              <a:rPr lang="es-ES" altLang="es-ES" sz="1200" dirty="0"/>
              <a:t> </a:t>
            </a:r>
          </a:p>
          <a:p>
            <a:pPr eaLnBrk="1" hangingPunct="1">
              <a:spcBef>
                <a:spcPct val="0"/>
              </a:spcBef>
              <a:buClrTx/>
              <a:buFontTx/>
              <a:buNone/>
            </a:pPr>
            <a:r>
              <a:rPr lang="es-ES" altLang="es-ES" sz="1800" dirty="0"/>
              <a:t>Algo más amplio. La visión de uno de los impulsores de la RSC estratégica, Michael </a:t>
            </a:r>
            <a:r>
              <a:rPr lang="es-ES" altLang="es-ES" sz="1800" dirty="0" err="1"/>
              <a:t>Porter</a:t>
            </a:r>
            <a:r>
              <a:rPr lang="es-ES" altLang="es-ES" sz="1800" dirty="0"/>
              <a:t>(17’):  </a:t>
            </a:r>
          </a:p>
          <a:p>
            <a:pPr eaLnBrk="1" hangingPunct="1">
              <a:spcBef>
                <a:spcPct val="0"/>
              </a:spcBef>
              <a:buClrTx/>
              <a:buFontTx/>
              <a:buNone/>
            </a:pPr>
            <a:r>
              <a:rPr lang="es-ES" altLang="es-ES" sz="1200" dirty="0">
                <a:solidFill>
                  <a:schemeClr val="tx1"/>
                </a:solidFill>
                <a:hlinkClick r:id="rId4"/>
              </a:rPr>
              <a:t>http://www.ted.com/talks/michael_porter_why_business_can_be_good_at_solving_social_problems?language=es</a:t>
            </a:r>
            <a:r>
              <a:rPr lang="es-ES" altLang="es-ES" sz="1800" dirty="0">
                <a:solidFill>
                  <a:schemeClr val="tx1"/>
                </a:solidFill>
              </a:rPr>
              <a:t> </a:t>
            </a:r>
            <a:endParaRPr lang="es-ES" altLang="es-ES" sz="1200" dirty="0">
              <a:solidFill>
                <a:schemeClr val="tx1"/>
              </a:solidFill>
            </a:endParaRPr>
          </a:p>
          <a:p>
            <a:endParaRPr lang="es-ES" altLang="es-ES" dirty="0">
              <a:latin typeface="Arial" panose="020B0604020202020204" pitchFamily="34" charset="0"/>
            </a:endParaRPr>
          </a:p>
          <a:p>
            <a:endParaRPr lang="es-ES" altLang="es-ES" dirty="0">
              <a:latin typeface="Arial" panose="020B0604020202020204" pitchFamily="34" charset="0"/>
            </a:endParaRPr>
          </a:p>
          <a:p>
            <a:r>
              <a:rPr lang="es-ES" altLang="es-ES" dirty="0">
                <a:latin typeface="Arial" panose="020B0604020202020204" pitchFamily="34" charset="0"/>
              </a:rPr>
              <a:t>Libro DEUSTO, </a:t>
            </a:r>
            <a:r>
              <a:rPr lang="es-ES" altLang="es-ES" dirty="0" err="1">
                <a:latin typeface="Arial" panose="020B0604020202020204" pitchFamily="34" charset="0"/>
              </a:rPr>
              <a:t>pd</a:t>
            </a:r>
            <a:r>
              <a:rPr lang="es-ES" altLang="es-ES" dirty="0">
                <a:latin typeface="Arial" panose="020B0604020202020204" pitchFamily="34" charset="0"/>
              </a:rPr>
              <a:t> 149, complejidad de la ética profesional.</a:t>
            </a:r>
          </a:p>
        </p:txBody>
      </p:sp>
    </p:spTree>
    <p:extLst>
      <p:ext uri="{BB962C8B-B14F-4D97-AF65-F5344CB8AC3E}">
        <p14:creationId xmlns:p14="http://schemas.microsoft.com/office/powerpoint/2010/main" val="23865828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nchor="b"/>
          <a:lstStyle>
            <a:lvl1pPr defTabSz="957263">
              <a:spcBef>
                <a:spcPct val="30000"/>
              </a:spcBef>
              <a:defRPr sz="1200">
                <a:solidFill>
                  <a:schemeClr val="tx1"/>
                </a:solidFill>
                <a:latin typeface="Arial" panose="020B0604020202020204" pitchFamily="34" charset="0"/>
              </a:defRPr>
            </a:lvl1pPr>
            <a:lvl2pPr marL="742950" indent="-285750" defTabSz="957263">
              <a:spcBef>
                <a:spcPct val="30000"/>
              </a:spcBef>
              <a:defRPr sz="1200">
                <a:solidFill>
                  <a:schemeClr val="tx1"/>
                </a:solidFill>
                <a:latin typeface="Arial" panose="020B0604020202020204" pitchFamily="34" charset="0"/>
              </a:defRPr>
            </a:lvl2pPr>
            <a:lvl3pPr marL="1143000" indent="-228600" defTabSz="957263">
              <a:spcBef>
                <a:spcPct val="30000"/>
              </a:spcBef>
              <a:defRPr sz="1200">
                <a:solidFill>
                  <a:schemeClr val="tx1"/>
                </a:solidFill>
                <a:latin typeface="Arial" panose="020B0604020202020204" pitchFamily="34" charset="0"/>
              </a:defRPr>
            </a:lvl3pPr>
            <a:lvl4pPr marL="1600200" indent="-228600" defTabSz="957263">
              <a:spcBef>
                <a:spcPct val="30000"/>
              </a:spcBef>
              <a:defRPr sz="1200">
                <a:solidFill>
                  <a:schemeClr val="tx1"/>
                </a:solidFill>
                <a:latin typeface="Arial" panose="020B0604020202020204" pitchFamily="34" charset="0"/>
              </a:defRPr>
            </a:lvl4pPr>
            <a:lvl5pPr marL="2057400" indent="-228600" defTabSz="957263">
              <a:spcBef>
                <a:spcPct val="30000"/>
              </a:spcBef>
              <a:defRPr sz="1200">
                <a:solidFill>
                  <a:schemeClr val="tx1"/>
                </a:solidFill>
                <a:latin typeface="Arial" panose="020B0604020202020204" pitchFamily="34" charset="0"/>
              </a:defRPr>
            </a:lvl5pPr>
            <a:lvl6pPr marL="2514600" indent="-228600" defTabSz="9572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72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72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726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480C18D4-46D1-4612-8F88-7620D864DE26}" type="slidenum">
              <a:rPr lang="es-ES" altLang="es-ES" sz="1300"/>
              <a:pPr algn="r" eaLnBrk="1" hangingPunct="1">
                <a:spcBef>
                  <a:spcPct val="0"/>
                </a:spcBef>
              </a:pPr>
              <a:t>47</a:t>
            </a:fld>
            <a:endParaRPr lang="es-ES" altLang="es-ES" sz="13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lstStyle/>
          <a:p>
            <a:pPr eaLnBrk="1" hangingPunct="1">
              <a:spcBef>
                <a:spcPct val="0"/>
              </a:spcBef>
              <a:buClrTx/>
              <a:buFontTx/>
              <a:buNone/>
            </a:pPr>
            <a:r>
              <a:rPr lang="es-ES" altLang="es-ES" sz="1200" dirty="0"/>
              <a:t>VIDEOS</a:t>
            </a:r>
          </a:p>
          <a:p>
            <a:pPr eaLnBrk="1" hangingPunct="1">
              <a:spcBef>
                <a:spcPct val="0"/>
              </a:spcBef>
              <a:buClrTx/>
              <a:buFontTx/>
              <a:buNone/>
            </a:pPr>
            <a:r>
              <a:rPr lang="es-ES" altLang="es-ES" sz="1200" dirty="0"/>
              <a:t>Visión global y resumida de la RSC estratégica (2’40’’):</a:t>
            </a:r>
          </a:p>
          <a:p>
            <a:pPr eaLnBrk="1" hangingPunct="1">
              <a:spcBef>
                <a:spcPct val="0"/>
              </a:spcBef>
              <a:buClrTx/>
              <a:buFontTx/>
              <a:buNone/>
            </a:pPr>
            <a:r>
              <a:rPr lang="es-ES" altLang="es-ES" sz="1200" dirty="0">
                <a:hlinkClick r:id="rId3"/>
              </a:rPr>
              <a:t>https://www.youtube.com/watch?v=uJQorBhZL7w&amp;feature=youtu.be</a:t>
            </a:r>
            <a:r>
              <a:rPr lang="es-ES" altLang="es-ES" sz="1200" dirty="0"/>
              <a:t> </a:t>
            </a:r>
          </a:p>
          <a:p>
            <a:pPr eaLnBrk="1" hangingPunct="1">
              <a:spcBef>
                <a:spcPct val="0"/>
              </a:spcBef>
              <a:buClrTx/>
              <a:buFontTx/>
              <a:buNone/>
            </a:pPr>
            <a:r>
              <a:rPr lang="es-ES" altLang="es-ES" sz="1800" dirty="0"/>
              <a:t>Algo más amplio. La visión de uno de los impulsores de la RSC estratégica, Michael </a:t>
            </a:r>
            <a:r>
              <a:rPr lang="es-ES" altLang="es-ES" sz="1800" dirty="0" err="1"/>
              <a:t>Porter</a:t>
            </a:r>
            <a:r>
              <a:rPr lang="es-ES" altLang="es-ES" sz="1800" dirty="0"/>
              <a:t>(17’):  </a:t>
            </a:r>
          </a:p>
          <a:p>
            <a:pPr eaLnBrk="1" hangingPunct="1">
              <a:spcBef>
                <a:spcPct val="0"/>
              </a:spcBef>
              <a:buClrTx/>
              <a:buFontTx/>
              <a:buNone/>
            </a:pPr>
            <a:r>
              <a:rPr lang="es-ES" altLang="es-ES" sz="1200" dirty="0">
                <a:solidFill>
                  <a:schemeClr val="tx1"/>
                </a:solidFill>
                <a:hlinkClick r:id="rId4"/>
              </a:rPr>
              <a:t>http://www.ted.com/talks/michael_porter_why_business_can_be_good_at_solving_social_problems?language=es</a:t>
            </a:r>
            <a:r>
              <a:rPr lang="es-ES" altLang="es-ES" sz="1800" dirty="0">
                <a:solidFill>
                  <a:schemeClr val="tx1"/>
                </a:solidFill>
              </a:rPr>
              <a:t> </a:t>
            </a:r>
            <a:endParaRPr lang="es-ES" altLang="es-ES" sz="1200" dirty="0">
              <a:solidFill>
                <a:schemeClr val="tx1"/>
              </a:solidFill>
            </a:endParaRPr>
          </a:p>
          <a:p>
            <a:endParaRPr lang="es-ES" altLang="es-ES" dirty="0">
              <a:latin typeface="Arial" panose="020B0604020202020204" pitchFamily="34" charset="0"/>
            </a:endParaRPr>
          </a:p>
          <a:p>
            <a:endParaRPr lang="es-ES" altLang="es-ES" dirty="0">
              <a:latin typeface="Arial" panose="020B0604020202020204" pitchFamily="34" charset="0"/>
            </a:endParaRPr>
          </a:p>
          <a:p>
            <a:r>
              <a:rPr lang="es-ES" altLang="es-ES" dirty="0">
                <a:latin typeface="Arial" panose="020B0604020202020204" pitchFamily="34" charset="0"/>
              </a:rPr>
              <a:t>Libro DEUSTO, </a:t>
            </a:r>
            <a:r>
              <a:rPr lang="es-ES" altLang="es-ES" dirty="0" err="1">
                <a:latin typeface="Arial" panose="020B0604020202020204" pitchFamily="34" charset="0"/>
              </a:rPr>
              <a:t>pd</a:t>
            </a:r>
            <a:r>
              <a:rPr lang="es-ES" altLang="es-ES" dirty="0">
                <a:latin typeface="Arial" panose="020B0604020202020204" pitchFamily="34" charset="0"/>
              </a:rPr>
              <a:t> 149, complejidad de la ética profesional.</a:t>
            </a:r>
          </a:p>
        </p:txBody>
      </p:sp>
    </p:spTree>
    <p:extLst>
      <p:ext uri="{BB962C8B-B14F-4D97-AF65-F5344CB8AC3E}">
        <p14:creationId xmlns:p14="http://schemas.microsoft.com/office/powerpoint/2010/main" val="9724042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nchor="b"/>
          <a:lstStyle>
            <a:lvl1pPr defTabSz="957263">
              <a:spcBef>
                <a:spcPct val="30000"/>
              </a:spcBef>
              <a:defRPr sz="1200">
                <a:solidFill>
                  <a:schemeClr val="tx1"/>
                </a:solidFill>
                <a:latin typeface="Arial" panose="020B0604020202020204" pitchFamily="34" charset="0"/>
              </a:defRPr>
            </a:lvl1pPr>
            <a:lvl2pPr marL="742950" indent="-285750" defTabSz="957263">
              <a:spcBef>
                <a:spcPct val="30000"/>
              </a:spcBef>
              <a:defRPr sz="1200">
                <a:solidFill>
                  <a:schemeClr val="tx1"/>
                </a:solidFill>
                <a:latin typeface="Arial" panose="020B0604020202020204" pitchFamily="34" charset="0"/>
              </a:defRPr>
            </a:lvl2pPr>
            <a:lvl3pPr marL="1143000" indent="-228600" defTabSz="957263">
              <a:spcBef>
                <a:spcPct val="30000"/>
              </a:spcBef>
              <a:defRPr sz="1200">
                <a:solidFill>
                  <a:schemeClr val="tx1"/>
                </a:solidFill>
                <a:latin typeface="Arial" panose="020B0604020202020204" pitchFamily="34" charset="0"/>
              </a:defRPr>
            </a:lvl3pPr>
            <a:lvl4pPr marL="1600200" indent="-228600" defTabSz="957263">
              <a:spcBef>
                <a:spcPct val="30000"/>
              </a:spcBef>
              <a:defRPr sz="1200">
                <a:solidFill>
                  <a:schemeClr val="tx1"/>
                </a:solidFill>
                <a:latin typeface="Arial" panose="020B0604020202020204" pitchFamily="34" charset="0"/>
              </a:defRPr>
            </a:lvl4pPr>
            <a:lvl5pPr marL="2057400" indent="-228600" defTabSz="957263">
              <a:spcBef>
                <a:spcPct val="30000"/>
              </a:spcBef>
              <a:defRPr sz="1200">
                <a:solidFill>
                  <a:schemeClr val="tx1"/>
                </a:solidFill>
                <a:latin typeface="Arial" panose="020B0604020202020204" pitchFamily="34" charset="0"/>
              </a:defRPr>
            </a:lvl5pPr>
            <a:lvl6pPr marL="2514600" indent="-228600" defTabSz="9572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572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572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57263"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7EA58772-7E34-4DA2-A96C-EA398CAF24E2}" type="slidenum">
              <a:rPr lang="es-ES" altLang="es-ES" sz="1300"/>
              <a:pPr algn="r" eaLnBrk="1" hangingPunct="1">
                <a:spcBef>
                  <a:spcPct val="0"/>
                </a:spcBef>
              </a:pPr>
              <a:t>48</a:t>
            </a:fld>
            <a:endParaRPr lang="es-ES" altLang="es-ES" sz="130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42" tIns="47821" rIns="95642" bIns="47821"/>
          <a:lstStyle/>
          <a:p>
            <a:r>
              <a:rPr lang="es-ES" altLang="es-ES">
                <a:latin typeface="Arial" panose="020B0604020202020204" pitchFamily="34" charset="0"/>
              </a:rPr>
              <a:t>Libro DEUSTO, pd 149, complejidad de la ética profesional.</a:t>
            </a:r>
          </a:p>
        </p:txBody>
      </p:sp>
    </p:spTree>
    <p:extLst>
      <p:ext uri="{BB962C8B-B14F-4D97-AF65-F5344CB8AC3E}">
        <p14:creationId xmlns:p14="http://schemas.microsoft.com/office/powerpoint/2010/main" val="33316225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C1D7475-3A4C-451E-84F4-15FDA2C826AA}" type="slidenum">
              <a:rPr lang="es-ES" smtClean="0"/>
              <a:t>49</a:t>
            </a:fld>
            <a:endParaRPr lang="es-ES"/>
          </a:p>
        </p:txBody>
      </p:sp>
    </p:spTree>
    <p:extLst>
      <p:ext uri="{BB962C8B-B14F-4D97-AF65-F5344CB8AC3E}">
        <p14:creationId xmlns:p14="http://schemas.microsoft.com/office/powerpoint/2010/main" val="106841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924B5-25BF-4810-8731-589EA9524761}"/>
              </a:ext>
            </a:extLst>
          </p:cNvPr>
          <p:cNvSpPr>
            <a:spLocks noGrp="1"/>
          </p:cNvSpPr>
          <p:nvPr>
            <p:ph type="ctrTitle" hasCustomPrompt="1"/>
          </p:nvPr>
        </p:nvSpPr>
        <p:spPr>
          <a:xfrm>
            <a:off x="1524000" y="1122363"/>
            <a:ext cx="9144000" cy="2387600"/>
          </a:xfrm>
        </p:spPr>
        <p:txBody>
          <a:bodyPr anchor="b"/>
          <a:lstStyle>
            <a:lvl1pPr algn="ctr">
              <a:defRPr sz="6000">
                <a:solidFill>
                  <a:schemeClr val="tx1"/>
                </a:solidFill>
              </a:defRPr>
            </a:lvl1pPr>
          </a:lstStyle>
          <a:p>
            <a:r>
              <a:rPr lang="es-ES" dirty="0"/>
              <a:t>Título</a:t>
            </a:r>
          </a:p>
        </p:txBody>
      </p:sp>
      <p:sp>
        <p:nvSpPr>
          <p:cNvPr id="3" name="Subtítulo 2">
            <a:extLst>
              <a:ext uri="{FF2B5EF4-FFF2-40B4-BE49-F238E27FC236}">
                <a16:creationId xmlns:a16="http://schemas.microsoft.com/office/drawing/2014/main" id="{4811762F-FA00-4A3C-B3A9-2556D20FA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p>
        </p:txBody>
      </p:sp>
      <p:sp>
        <p:nvSpPr>
          <p:cNvPr id="5" name="Marcador de pie de página 4">
            <a:extLst>
              <a:ext uri="{FF2B5EF4-FFF2-40B4-BE49-F238E27FC236}">
                <a16:creationId xmlns:a16="http://schemas.microsoft.com/office/drawing/2014/main" id="{6961C57A-0C64-4D9A-902A-4C3FF7A3C9DC}"/>
              </a:ext>
            </a:extLst>
          </p:cNvPr>
          <p:cNvSpPr>
            <a:spLocks noGrp="1"/>
          </p:cNvSpPr>
          <p:nvPr>
            <p:ph type="ftr" sz="quarter" idx="11"/>
          </p:nvPr>
        </p:nvSpPr>
        <p:spPr>
          <a:xfrm>
            <a:off x="116377" y="6608618"/>
            <a:ext cx="11223567" cy="242974"/>
          </a:xfrm>
          <a:prstGeom prst="rect">
            <a:avLst/>
          </a:prstGeom>
        </p:spPr>
        <p:txBody>
          <a:bodyPr/>
          <a:lstStyle>
            <a:lvl1pPr algn="ctr">
              <a:defRPr sz="1200"/>
            </a:lvl1pPr>
          </a:lstStyle>
          <a:p>
            <a:r>
              <a:rPr lang="es-ES" dirty="0"/>
              <a:t>Aspectos Éticos y Sociales.  Curso 2022-23</a:t>
            </a:r>
          </a:p>
        </p:txBody>
      </p:sp>
      <p:sp>
        <p:nvSpPr>
          <p:cNvPr id="6" name="Marcador de número de diapositiva 5">
            <a:extLst>
              <a:ext uri="{FF2B5EF4-FFF2-40B4-BE49-F238E27FC236}">
                <a16:creationId xmlns:a16="http://schemas.microsoft.com/office/drawing/2014/main" id="{864890CB-3BB2-4247-A3C2-46D413F94D65}"/>
              </a:ext>
            </a:extLst>
          </p:cNvPr>
          <p:cNvSpPr>
            <a:spLocks noGrp="1"/>
          </p:cNvSpPr>
          <p:nvPr>
            <p:ph type="sldNum" sz="quarter" idx="12"/>
          </p:nvPr>
        </p:nvSpPr>
        <p:spPr>
          <a:xfrm>
            <a:off x="11488189" y="6608618"/>
            <a:ext cx="623455" cy="242973"/>
          </a:xfrm>
          <a:prstGeom prst="rect">
            <a:avLst/>
          </a:prstGeom>
        </p:spPr>
        <p:txBody>
          <a:bodyPr/>
          <a:lstStyle>
            <a:lvl1pPr algn="ctr">
              <a:defRPr sz="1200"/>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239799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FDB81-AD36-474F-968A-19D4508E14C1}"/>
              </a:ext>
            </a:extLst>
          </p:cNvPr>
          <p:cNvSpPr>
            <a:spLocks noGrp="1"/>
          </p:cNvSpPr>
          <p:nvPr>
            <p:ph type="title"/>
          </p:nvPr>
        </p:nvSpPr>
        <p:spPr>
          <a:xfrm>
            <a:off x="764771" y="15356"/>
            <a:ext cx="11338559" cy="563996"/>
          </a:xfrm>
        </p:spPr>
        <p:txBody>
          <a:bodyPr>
            <a:normAutofit/>
          </a:bodyPr>
          <a:lstStyle>
            <a:lvl1pPr>
              <a:defRPr sz="3200"/>
            </a:lvl1p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733801AF-4954-41E7-B80D-B6CC3B9314B5}"/>
              </a:ext>
            </a:extLst>
          </p:cNvPr>
          <p:cNvSpPr>
            <a:spLocks noGrp="1"/>
          </p:cNvSpPr>
          <p:nvPr>
            <p:ph idx="1"/>
          </p:nvPr>
        </p:nvSpPr>
        <p:spPr/>
        <p:txBody>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Marcador de pie de página 4">
            <a:extLst>
              <a:ext uri="{FF2B5EF4-FFF2-40B4-BE49-F238E27FC236}">
                <a16:creationId xmlns:a16="http://schemas.microsoft.com/office/drawing/2014/main" id="{08B8C865-ECC2-4DD2-809B-E857F4B445D9}"/>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6" name="Marcador de número de diapositiva 5">
            <a:extLst>
              <a:ext uri="{FF2B5EF4-FFF2-40B4-BE49-F238E27FC236}">
                <a16:creationId xmlns:a16="http://schemas.microsoft.com/office/drawing/2014/main" id="{165B1906-978B-4207-8263-A1FBFE4E20C6}"/>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1558619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C5215B-94EA-4638-8B1E-CF9FED1D52D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D9E6408-088B-4242-9922-8B54B345E025}"/>
              </a:ext>
            </a:extLst>
          </p:cNvPr>
          <p:cNvSpPr>
            <a:spLocks noGrp="1"/>
          </p:cNvSpPr>
          <p:nvPr>
            <p:ph sz="half" idx="1"/>
          </p:nvPr>
        </p:nvSpPr>
        <p:spPr>
          <a:xfrm>
            <a:off x="116378" y="679269"/>
            <a:ext cx="5866412" cy="5796346"/>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58F829C-561E-4DA8-8325-1014B0866223}"/>
              </a:ext>
            </a:extLst>
          </p:cNvPr>
          <p:cNvSpPr>
            <a:spLocks noGrp="1"/>
          </p:cNvSpPr>
          <p:nvPr>
            <p:ph sz="half" idx="2"/>
          </p:nvPr>
        </p:nvSpPr>
        <p:spPr>
          <a:xfrm>
            <a:off x="6209211" y="679269"/>
            <a:ext cx="5866412" cy="5796346"/>
          </a:xfrm>
        </p:spPr>
        <p:txBody>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Marcador de pie de página 4">
            <a:extLst>
              <a:ext uri="{FF2B5EF4-FFF2-40B4-BE49-F238E27FC236}">
                <a16:creationId xmlns:a16="http://schemas.microsoft.com/office/drawing/2014/main" id="{8EFD990C-68A6-4A30-B5E3-E85D00ECA588}"/>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9" name="Marcador de número de diapositiva 5">
            <a:extLst>
              <a:ext uri="{FF2B5EF4-FFF2-40B4-BE49-F238E27FC236}">
                <a16:creationId xmlns:a16="http://schemas.microsoft.com/office/drawing/2014/main" id="{5DDED81D-B5B6-4485-BA1C-4C30506600D9}"/>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874992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F23B5-C282-44D6-AAB5-C4EDDBC49BB2}"/>
              </a:ext>
            </a:extLst>
          </p:cNvPr>
          <p:cNvSpPr>
            <a:spLocks noGrp="1"/>
          </p:cNvSpPr>
          <p:nvPr>
            <p:ph type="title"/>
          </p:nvPr>
        </p:nvSpPr>
        <p:spPr/>
        <p:txBody>
          <a:bodyPr/>
          <a:lstStyle/>
          <a:p>
            <a:r>
              <a:rPr lang="es-ES" dirty="0"/>
              <a:t>Haga clic para modificar el estilo de título del patrón</a:t>
            </a:r>
          </a:p>
        </p:txBody>
      </p:sp>
      <p:sp>
        <p:nvSpPr>
          <p:cNvPr id="6" name="Marcador de pie de página 4">
            <a:extLst>
              <a:ext uri="{FF2B5EF4-FFF2-40B4-BE49-F238E27FC236}">
                <a16:creationId xmlns:a16="http://schemas.microsoft.com/office/drawing/2014/main" id="{8BC2AFC3-DDDD-4DD3-89D3-E4F73E7DCE80}"/>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7" name="Marcador de número de diapositiva 5">
            <a:extLst>
              <a:ext uri="{FF2B5EF4-FFF2-40B4-BE49-F238E27FC236}">
                <a16:creationId xmlns:a16="http://schemas.microsoft.com/office/drawing/2014/main" id="{7ADE7CAF-F92B-4886-BF24-9ED32F141685}"/>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1543420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5E4BD482-944B-42B9-B61D-F5C568154FE7}"/>
              </a:ext>
            </a:extLst>
          </p:cNvPr>
          <p:cNvSpPr>
            <a:spLocks noGrp="1"/>
          </p:cNvSpPr>
          <p:nvPr>
            <p:ph type="pic" idx="1"/>
          </p:nvPr>
        </p:nvSpPr>
        <p:spPr>
          <a:xfrm>
            <a:off x="5183188" y="687977"/>
            <a:ext cx="6892434" cy="57876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723193A-30E2-4852-8C34-2CEB6F17A660}"/>
              </a:ext>
            </a:extLst>
          </p:cNvPr>
          <p:cNvSpPr>
            <a:spLocks noGrp="1"/>
          </p:cNvSpPr>
          <p:nvPr>
            <p:ph type="body" sz="half" idx="2"/>
          </p:nvPr>
        </p:nvSpPr>
        <p:spPr>
          <a:xfrm>
            <a:off x="116378" y="687977"/>
            <a:ext cx="4655648" cy="57876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8" name="Título 1">
            <a:extLst>
              <a:ext uri="{FF2B5EF4-FFF2-40B4-BE49-F238E27FC236}">
                <a16:creationId xmlns:a16="http://schemas.microsoft.com/office/drawing/2014/main" id="{9B994F07-0445-4BEA-86CE-5B01E4360445}"/>
              </a:ext>
            </a:extLst>
          </p:cNvPr>
          <p:cNvSpPr>
            <a:spLocks noGrp="1"/>
          </p:cNvSpPr>
          <p:nvPr>
            <p:ph type="title"/>
          </p:nvPr>
        </p:nvSpPr>
        <p:spPr>
          <a:xfrm>
            <a:off x="734290" y="-1"/>
            <a:ext cx="10605655" cy="573579"/>
          </a:xfrm>
        </p:spPr>
        <p:txBody>
          <a:bodyPr/>
          <a:lstStyle/>
          <a:p>
            <a:r>
              <a:rPr lang="es-ES" dirty="0"/>
              <a:t>Haga clic para modificar el estilo de título del patrón</a:t>
            </a:r>
          </a:p>
        </p:txBody>
      </p:sp>
      <p:sp>
        <p:nvSpPr>
          <p:cNvPr id="9" name="Marcador de pie de página 4">
            <a:extLst>
              <a:ext uri="{FF2B5EF4-FFF2-40B4-BE49-F238E27FC236}">
                <a16:creationId xmlns:a16="http://schemas.microsoft.com/office/drawing/2014/main" id="{F0FD88A3-CD24-4E84-8B97-372B5090D2AA}"/>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10" name="Marcador de número de diapositiva 5">
            <a:extLst>
              <a:ext uri="{FF2B5EF4-FFF2-40B4-BE49-F238E27FC236}">
                <a16:creationId xmlns:a16="http://schemas.microsoft.com/office/drawing/2014/main" id="{C20010ED-56A5-4773-8CFD-8465650FE6C4}"/>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338832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708B936D-1875-4782-AE78-3D64318881B4}"/>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6" name="Marcador de número de diapositiva 5">
            <a:extLst>
              <a:ext uri="{FF2B5EF4-FFF2-40B4-BE49-F238E27FC236}">
                <a16:creationId xmlns:a16="http://schemas.microsoft.com/office/drawing/2014/main" id="{4571EE37-48E4-4F91-BF26-95E43F763D7B}"/>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
        <p:nvSpPr>
          <p:cNvPr id="7" name="Título 1">
            <a:extLst>
              <a:ext uri="{FF2B5EF4-FFF2-40B4-BE49-F238E27FC236}">
                <a16:creationId xmlns:a16="http://schemas.microsoft.com/office/drawing/2014/main" id="{9FE71781-8DA0-4A47-A6CA-EC110E36D3CE}"/>
              </a:ext>
            </a:extLst>
          </p:cNvPr>
          <p:cNvSpPr>
            <a:spLocks noGrp="1"/>
          </p:cNvSpPr>
          <p:nvPr>
            <p:ph type="title"/>
          </p:nvPr>
        </p:nvSpPr>
        <p:spPr>
          <a:xfrm>
            <a:off x="734290" y="-1"/>
            <a:ext cx="10605655" cy="573579"/>
          </a:xfrm>
        </p:spPr>
        <p:txBody>
          <a:bodyPr/>
          <a:lstStyle/>
          <a:p>
            <a:r>
              <a:rPr lang="es-ES" dirty="0"/>
              <a:t>Haga clic para modificar el estilo de título del patrón</a:t>
            </a:r>
          </a:p>
        </p:txBody>
      </p:sp>
    </p:spTree>
    <p:extLst>
      <p:ext uri="{BB962C8B-B14F-4D97-AF65-F5344CB8AC3E}">
        <p14:creationId xmlns:p14="http://schemas.microsoft.com/office/powerpoint/2010/main" val="98111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1112AD-CA53-4C00-99FB-0FD875F557AA}"/>
              </a:ext>
            </a:extLst>
          </p:cNvPr>
          <p:cNvSpPr>
            <a:spLocks noGrp="1"/>
          </p:cNvSpPr>
          <p:nvPr>
            <p:ph type="title"/>
          </p:nvPr>
        </p:nvSpPr>
        <p:spPr/>
        <p:txBody>
          <a:bodyPr/>
          <a:lstStyle/>
          <a:p>
            <a:r>
              <a:rPr lang="es-ES" dirty="0"/>
              <a:t>Haga clic para modificar el estilo de título del patrón</a:t>
            </a:r>
          </a:p>
        </p:txBody>
      </p:sp>
      <p:sp>
        <p:nvSpPr>
          <p:cNvPr id="3" name="Marcador de texto vertical 2">
            <a:extLst>
              <a:ext uri="{FF2B5EF4-FFF2-40B4-BE49-F238E27FC236}">
                <a16:creationId xmlns:a16="http://schemas.microsoft.com/office/drawing/2014/main" id="{1F95EFA8-DBAD-46BB-BE44-2CB41B4D6CDE}"/>
              </a:ext>
            </a:extLst>
          </p:cNvPr>
          <p:cNvSpPr>
            <a:spLocks noGrp="1"/>
          </p:cNvSpPr>
          <p:nvPr>
            <p:ph type="body" orient="vert" idx="1"/>
          </p:nvPr>
        </p:nvSpPr>
        <p:spPr>
          <a:xfrm>
            <a:off x="116377" y="681644"/>
            <a:ext cx="11986953" cy="5802283"/>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pie de página 4">
            <a:extLst>
              <a:ext uri="{FF2B5EF4-FFF2-40B4-BE49-F238E27FC236}">
                <a16:creationId xmlns:a16="http://schemas.microsoft.com/office/drawing/2014/main" id="{0BD82A86-4E5E-4723-AE1E-4AD512A7CAC3}"/>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8" name="Marcador de número de diapositiva 5">
            <a:extLst>
              <a:ext uri="{FF2B5EF4-FFF2-40B4-BE49-F238E27FC236}">
                <a16:creationId xmlns:a16="http://schemas.microsoft.com/office/drawing/2014/main" id="{570BAA36-0FF3-41BD-958C-B29B5FFC1DBE}"/>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92580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1_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s-ES"/>
              <a:t>2021</a:t>
            </a:r>
          </a:p>
        </p:txBody>
      </p:sp>
      <p:sp>
        <p:nvSpPr>
          <p:cNvPr id="3" name="Footer Placeholder 2"/>
          <p:cNvSpPr>
            <a:spLocks noGrp="1"/>
          </p:cNvSpPr>
          <p:nvPr>
            <p:ph type="ftr" sz="quarter" idx="11"/>
          </p:nvPr>
        </p:nvSpPr>
        <p:spPr/>
        <p:txBody>
          <a:bodyPr/>
          <a:lstStyle/>
          <a:p>
            <a:r>
              <a:rPr lang="es-ES"/>
              <a:t>CTS. Tema 3. Ética, TIC y Derechos Humanos</a:t>
            </a:r>
          </a:p>
        </p:txBody>
      </p:sp>
      <p:sp>
        <p:nvSpPr>
          <p:cNvPr id="4" name="Slide Number Placeholder 3"/>
          <p:cNvSpPr>
            <a:spLocks noGrp="1"/>
          </p:cNvSpPr>
          <p:nvPr>
            <p:ph type="sldNum" sz="quarter" idx="12"/>
          </p:nvPr>
        </p:nvSpPr>
        <p:spPr/>
        <p:txBody>
          <a:bodyPr/>
          <a:lstStyle/>
          <a:p>
            <a:fld id="{6F1DAFA7-B6AD-4F2F-A198-AD4BE32E3C72}" type="slidenum">
              <a:rPr lang="es-ES" smtClean="0"/>
              <a:pPr/>
              <a:t>‹Nº›</a:t>
            </a:fld>
            <a:endParaRPr lang="es-ES"/>
          </a:p>
        </p:txBody>
      </p:sp>
    </p:spTree>
    <p:extLst>
      <p:ext uri="{BB962C8B-B14F-4D97-AF65-F5344CB8AC3E}">
        <p14:creationId xmlns:p14="http://schemas.microsoft.com/office/powerpoint/2010/main" val="334968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E9BD473-7995-4184-8A2F-43D3CB1C8E7F}"/>
              </a:ext>
            </a:extLst>
          </p:cNvPr>
          <p:cNvSpPr/>
          <p:nvPr userDrawn="1"/>
        </p:nvSpPr>
        <p:spPr>
          <a:xfrm>
            <a:off x="0" y="0"/>
            <a:ext cx="12192000" cy="573579"/>
          </a:xfrm>
          <a:prstGeom prst="rect">
            <a:avLst/>
          </a:prstGeom>
          <a:solidFill>
            <a:srgbClr val="0060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 name="Marcador de título 1">
            <a:extLst>
              <a:ext uri="{FF2B5EF4-FFF2-40B4-BE49-F238E27FC236}">
                <a16:creationId xmlns:a16="http://schemas.microsoft.com/office/drawing/2014/main" id="{54D98FFC-BA49-43A6-BE2A-794E83E723D3}"/>
              </a:ext>
            </a:extLst>
          </p:cNvPr>
          <p:cNvSpPr>
            <a:spLocks noGrp="1"/>
          </p:cNvSpPr>
          <p:nvPr>
            <p:ph type="title"/>
          </p:nvPr>
        </p:nvSpPr>
        <p:spPr>
          <a:xfrm>
            <a:off x="734290" y="-1"/>
            <a:ext cx="10605655" cy="573579"/>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a:extLst>
              <a:ext uri="{FF2B5EF4-FFF2-40B4-BE49-F238E27FC236}">
                <a16:creationId xmlns:a16="http://schemas.microsoft.com/office/drawing/2014/main" id="{BC59B44D-0C0A-491E-AFEC-89E74ACDA10D}"/>
              </a:ext>
            </a:extLst>
          </p:cNvPr>
          <p:cNvSpPr>
            <a:spLocks noGrp="1"/>
          </p:cNvSpPr>
          <p:nvPr>
            <p:ph type="body" idx="1"/>
          </p:nvPr>
        </p:nvSpPr>
        <p:spPr>
          <a:xfrm>
            <a:off x="116377" y="681644"/>
            <a:ext cx="11986953" cy="5702531"/>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pic>
        <p:nvPicPr>
          <p:cNvPr id="9" name="Imagen 8">
            <a:extLst>
              <a:ext uri="{FF2B5EF4-FFF2-40B4-BE49-F238E27FC236}">
                <a16:creationId xmlns:a16="http://schemas.microsoft.com/office/drawing/2014/main" id="{986AF6DA-7112-4863-9B1B-A2C4303F3C47}"/>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541" y="-1"/>
            <a:ext cx="728749" cy="561744"/>
          </a:xfrm>
          <a:prstGeom prst="rect">
            <a:avLst/>
          </a:prstGeom>
        </p:spPr>
      </p:pic>
    </p:spTree>
    <p:extLst>
      <p:ext uri="{BB962C8B-B14F-4D97-AF65-F5344CB8AC3E}">
        <p14:creationId xmlns:p14="http://schemas.microsoft.com/office/powerpoint/2010/main" val="310400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7" r:id="rId5"/>
    <p:sldLayoutId id="2147483655" r:id="rId6"/>
    <p:sldLayoutId id="2147483658" r:id="rId7"/>
    <p:sldLayoutId id="2147483659" r:id="rId8"/>
  </p:sldLayoutIdLst>
  <p:hf hdr="0" dt="0"/>
  <p:txStyles>
    <p:titleStyle>
      <a:lvl1pPr algn="ctr"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ergio.dantonio@upm.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hyperlink" Target="mailto:Mariacelia.fernandez@upm.e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Ts5i3FnbLug"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4iaCpAFypq8"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www.historiaclasica.com/2007/06/el-cdigo-de-hammurabi-leyes-201-250.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ccii.es/CodigoDeontologico" TargetMode="External"/><Relationship Id="rId7" Type="http://schemas.openxmlformats.org/officeDocument/2006/relationships/hyperlink" Target="file:///E:\CTS\CodigoEtico_IEEE.pdf" TargetMode="External"/><Relationship Id="rId12" Type="http://schemas.openxmlformats.org/officeDocument/2006/relationships/image" Target="../media/image20.emf"/><Relationship Id="rId2" Type="http://schemas.openxmlformats.org/officeDocument/2006/relationships/hyperlink" Target="https://www.acm.org/about-acm/code-of-ethics-in-spanish" TargetMode="External"/><Relationship Id="rId1" Type="http://schemas.openxmlformats.org/officeDocument/2006/relationships/slideLayout" Target="../slideLayouts/slideLayout2.xml"/><Relationship Id="rId6" Type="http://schemas.openxmlformats.org/officeDocument/2006/relationships/hyperlink" Target="https://www.wfeo.org/code-of-ethics/" TargetMode="External"/><Relationship Id="rId11" Type="http://schemas.openxmlformats.org/officeDocument/2006/relationships/image" Target="../media/image19.png"/><Relationship Id="rId5" Type="http://schemas.openxmlformats.org/officeDocument/2006/relationships/hyperlink" Target="https://www.raeng.org.uk/policy/supporting-the-profession/engineering-ethics-and-philosophy/ethics#statement" TargetMode="External"/><Relationship Id="rId10" Type="http://schemas.openxmlformats.org/officeDocument/2006/relationships/image" Target="../media/image18.png"/><Relationship Id="rId4" Type="http://schemas.openxmlformats.org/officeDocument/2006/relationships/hyperlink" Target="https://www.ieee.org/about/corporate/governance/p7-8.html" TargetMode="External"/><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www.elmundo.es/tecnologia/2019/02/12/5c62e9a9fdddff6b268b4667.html"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www.pmconsul.com/conflicto-de-intereses-en-iso-3700/"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www.rtve.es/noticias/20090803/presidente-google-se-marcha-direccion-apple-conflicto-intereses/287601.s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lavanguardia.com/tecnologia/20190205/46230613660/google-aplicaciones-sordera-live-transcribe-sound-amplifier-tecnologia.ht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elceo.com/tecnologia/apple-y-broadcom-son-multadas-con-1100-mdd-por-infringir-derechos-de-propiedad-intelectual-de-caltech/"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elpais.com/tecnologia/2020-03-30/muchas-aplicaciones-recopilan-y-venden-salvajemente-nuestros-datos-aprovechando-el-coronavirus.html#?sma=newsletter_retina20200402"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hyperlink" Target="https://dialnet.unirioja.es/servlet/articulo?codigo=6066839" TargetMode="External"/><Relationship Id="rId2" Type="http://schemas.openxmlformats.org/officeDocument/2006/relationships/hyperlink" Target="https://demaquinaseintenciones.wordpress.com/2022/11/07/que-tiene-que-ver-la-etica-con-la-ciencia-y-la-tecnologia/" TargetMode="External"/><Relationship Id="rId1" Type="http://schemas.openxmlformats.org/officeDocument/2006/relationships/slideLayout" Target="../slideLayouts/slideLayout2.xml"/><Relationship Id="rId5" Type="http://schemas.openxmlformats.org/officeDocument/2006/relationships/image" Target="../media/image31.jpg"/><Relationship Id="rId4" Type="http://schemas.openxmlformats.org/officeDocument/2006/relationships/hyperlink" Target="https://www.filmaffinity.com/es/evideos.php?movie_id=617470"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es.wikipedia.org/wiki/JSTOR" TargetMode="External"/><Relationship Id="rId2" Type="http://schemas.openxmlformats.org/officeDocument/2006/relationships/hyperlink" Target="https://es.wikipedia.org/wiki/HTTP"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es.statista.com/estadisticas/539088/ranking-de-las-25-principales-marcas-en-el-mundo-por-valor-de-marca/"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hyperlink" Target="https://futureoflife.org/open-letter/pause-giant-ai-experiments/?prm=ep-app"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hyperlink" Target="https://www.pactomundial.org/que-puedes-hacer-tu/leyes-directivas-normativas-sostenibilidad/"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youtu.be/BCoL6JVZHrA"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hyperlink" Target="https://empresasresponsables.org/que-es-la-debida-diligencia/"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5.emf"/></Relationships>
</file>

<file path=ppt/slides/_rels/slide41.xml.rels><?xml version="1.0" encoding="UTF-8" standalone="yes"?>
<Relationships xmlns="http://schemas.openxmlformats.org/package/2006/relationships"><Relationship Id="rId3" Type="http://schemas.openxmlformats.org/officeDocument/2006/relationships/hyperlink" Target="https://www.pactomundial.org/noticia/csddd-directiva-sobre-diligencia-debida-empresas-sostenibilidad/#directiva-sobre-diligencia-debida-de-las-empresas-en-materia-de-sostenibilidad-csddd"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observatoriorsc.org/la-rsc-que-es/"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30.png"/><Relationship Id="rId5" Type="http://schemas.openxmlformats.org/officeDocument/2006/relationships/customXml" Target="../ink/ink2.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hyperlink" Target="http://observatoriorsc.org/la-rsc-que-es/"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hyperlink" Target="http://observatoriorsc.org/la-rsc-que-es/" TargetMode="External"/><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hyperlink" Target="https://www.csreurope.org/" TargetMode="External"/><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hyperlink" Target="https://www.bcorpspain.es/movimiento-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C04329-78F3-4BF8-AE60-CD1CC9BD5B67}"/>
              </a:ext>
            </a:extLst>
          </p:cNvPr>
          <p:cNvSpPr>
            <a:spLocks noGrp="1"/>
          </p:cNvSpPr>
          <p:nvPr>
            <p:ph type="ctrTitle"/>
          </p:nvPr>
        </p:nvSpPr>
        <p:spPr/>
        <p:txBody>
          <a:bodyPr/>
          <a:lstStyle/>
          <a:p>
            <a:r>
              <a:rPr lang="es-ES" b="1" dirty="0"/>
              <a:t>ETICA E INGENIERÍA</a:t>
            </a:r>
          </a:p>
        </p:txBody>
      </p:sp>
      <p:sp>
        <p:nvSpPr>
          <p:cNvPr id="3" name="Subtítulo 2">
            <a:extLst>
              <a:ext uri="{FF2B5EF4-FFF2-40B4-BE49-F238E27FC236}">
                <a16:creationId xmlns:a16="http://schemas.microsoft.com/office/drawing/2014/main" id="{F13CACE1-4D01-4E1D-B754-43F1E443484D}"/>
              </a:ext>
            </a:extLst>
          </p:cNvPr>
          <p:cNvSpPr>
            <a:spLocks noGrp="1"/>
          </p:cNvSpPr>
          <p:nvPr>
            <p:ph type="subTitle" idx="1"/>
          </p:nvPr>
        </p:nvSpPr>
        <p:spPr>
          <a:xfrm>
            <a:off x="800100" y="3627438"/>
            <a:ext cx="10604500" cy="2557462"/>
          </a:xfrm>
        </p:spPr>
        <p:txBody>
          <a:bodyPr>
            <a:normAutofit fontScale="92500" lnSpcReduction="20000"/>
          </a:bodyPr>
          <a:lstStyle/>
          <a:p>
            <a:endParaRPr lang="es-ES" altLang="es-ES" dirty="0">
              <a:ea typeface="ＭＳ Ｐゴシック" panose="020B0600070205080204" pitchFamily="34" charset="-128"/>
            </a:endParaRPr>
          </a:p>
          <a:p>
            <a:r>
              <a:rPr lang="es-ES" altLang="es-ES" dirty="0">
                <a:ea typeface="ＭＳ Ｐゴシック" panose="020B0600070205080204" pitchFamily="34" charset="-128"/>
              </a:rPr>
              <a:t>Sergio </a:t>
            </a:r>
            <a:r>
              <a:rPr lang="es-ES" altLang="es-ES" dirty="0" err="1">
                <a:ea typeface="ＭＳ Ｐゴシック" panose="020B0600070205080204" pitchFamily="34" charset="-128"/>
              </a:rPr>
              <a:t>D’Antonio</a:t>
            </a:r>
            <a:r>
              <a:rPr lang="es-ES" altLang="es-ES" dirty="0">
                <a:ea typeface="ＭＳ Ｐゴシック" panose="020B0600070205080204" pitchFamily="34" charset="-128"/>
              </a:rPr>
              <a:t> </a:t>
            </a:r>
            <a:r>
              <a:rPr lang="es-ES" altLang="es-ES" dirty="0" err="1">
                <a:ea typeface="ＭＳ Ｐゴシック" panose="020B0600070205080204" pitchFamily="34" charset="-128"/>
              </a:rPr>
              <a:t>Maceiras</a:t>
            </a:r>
            <a:r>
              <a:rPr lang="es-ES" altLang="es-ES" dirty="0">
                <a:ea typeface="ＭＳ Ｐゴシック" panose="020B0600070205080204" pitchFamily="34" charset="-128"/>
              </a:rPr>
              <a:t>, coordinador </a:t>
            </a:r>
          </a:p>
          <a:p>
            <a:r>
              <a:rPr lang="es-ES" altLang="es-ES" dirty="0">
                <a:ea typeface="ＭＳ Ｐゴシック" panose="020B0600070205080204" pitchFamily="34" charset="-128"/>
                <a:hlinkClick r:id="rId3"/>
              </a:rPr>
              <a:t>Sergio.dantonio@upm.es</a:t>
            </a:r>
            <a:endParaRPr lang="es-ES" altLang="es-ES" dirty="0">
              <a:ea typeface="ＭＳ Ｐゴシック" panose="020B0600070205080204" pitchFamily="34" charset="-128"/>
            </a:endParaRPr>
          </a:p>
          <a:p>
            <a:r>
              <a:rPr lang="es-ES" altLang="es-ES" dirty="0">
                <a:ea typeface="ＭＳ Ｐゴシック" panose="020B0600070205080204" pitchFamily="34" charset="-128"/>
              </a:rPr>
              <a:t>Celia Fernández Aller</a:t>
            </a:r>
          </a:p>
          <a:p>
            <a:r>
              <a:rPr lang="es-ES" altLang="es-ES" dirty="0">
                <a:ea typeface="ＭＳ Ｐゴシック" panose="020B0600070205080204" pitchFamily="34" charset="-128"/>
                <a:hlinkClick r:id="rId4"/>
              </a:rPr>
              <a:t>Mariacelia.fernandez@upm.es</a:t>
            </a:r>
            <a:endParaRPr lang="es-ES" altLang="es-ES" dirty="0">
              <a:ea typeface="ＭＳ Ｐゴシック" panose="020B0600070205080204" pitchFamily="34" charset="-128"/>
            </a:endParaRPr>
          </a:p>
          <a:p>
            <a:r>
              <a:rPr lang="es-ES" altLang="es-ES" dirty="0">
                <a:ea typeface="ＭＳ Ｐゴシック" panose="020B0600070205080204" pitchFamily="34" charset="-128"/>
              </a:rPr>
              <a:t>Rafael </a:t>
            </a:r>
            <a:r>
              <a:rPr lang="es-ES" altLang="es-ES" dirty="0" err="1">
                <a:ea typeface="ＭＳ Ｐゴシック" panose="020B0600070205080204" pitchFamily="34" charset="-128"/>
              </a:rPr>
              <a:t>Miñano</a:t>
            </a:r>
            <a:r>
              <a:rPr lang="es-ES" altLang="es-ES" dirty="0">
                <a:ea typeface="ＭＳ Ｐゴシック" panose="020B0600070205080204" pitchFamily="34" charset="-128"/>
              </a:rPr>
              <a:t> Rubio</a:t>
            </a:r>
          </a:p>
          <a:p>
            <a:r>
              <a:rPr lang="es-ES" altLang="es-ES" dirty="0">
                <a:ea typeface="ＭＳ Ｐゴシック" panose="020B0600070205080204" pitchFamily="34" charset="-128"/>
              </a:rPr>
              <a:t>(colaboración externa en la asignatura)</a:t>
            </a:r>
          </a:p>
          <a:p>
            <a:endParaRPr lang="es-ES" altLang="es-ES" dirty="0">
              <a:ea typeface="ＭＳ Ｐゴシック" panose="020B0600070205080204" pitchFamily="34" charset="-128"/>
            </a:endParaRPr>
          </a:p>
          <a:p>
            <a:pPr>
              <a:defRPr/>
            </a:pPr>
            <a:endParaRPr lang="es-ES" altLang="es-ES" dirty="0">
              <a:ea typeface="ＭＳ Ｐゴシック" panose="020B0600070205080204" pitchFamily="34" charset="-128"/>
            </a:endParaRPr>
          </a:p>
          <a:p>
            <a:endParaRPr lang="es-ES" dirty="0"/>
          </a:p>
        </p:txBody>
      </p:sp>
      <p:pic>
        <p:nvPicPr>
          <p:cNvPr id="4" name="Imagen 3" descr="Alumna y alumno preguntándose algo"/>
          <p:cNvPicPr>
            <a:picLocks noChangeAspect="1"/>
          </p:cNvPicPr>
          <p:nvPr/>
        </p:nvPicPr>
        <p:blipFill rotWithShape="1">
          <a:blip r:embed="rId5">
            <a:extLst>
              <a:ext uri="{28A0092B-C50C-407E-A947-70E740481C1C}">
                <a14:useLocalDpi xmlns:a14="http://schemas.microsoft.com/office/drawing/2010/main" val="0"/>
              </a:ext>
            </a:extLst>
          </a:blip>
          <a:srcRect l="16771" t="14355" r="17424" b="11183"/>
          <a:stretch/>
        </p:blipFill>
        <p:spPr>
          <a:xfrm>
            <a:off x="230830" y="700406"/>
            <a:ext cx="2664770" cy="2514084"/>
          </a:xfrm>
          <a:prstGeom prst="rect">
            <a:avLst/>
          </a:prstGeom>
        </p:spPr>
      </p:pic>
      <p:sp>
        <p:nvSpPr>
          <p:cNvPr id="5" name="Rectángulo 4"/>
          <p:cNvSpPr/>
          <p:nvPr/>
        </p:nvSpPr>
        <p:spPr>
          <a:xfrm>
            <a:off x="2514600" y="182880"/>
            <a:ext cx="6480810" cy="40005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4000" b="1" dirty="0"/>
              <a:t>Tema 2</a:t>
            </a:r>
          </a:p>
        </p:txBody>
      </p:sp>
      <p:pic>
        <p:nvPicPr>
          <p:cNvPr id="6" name="3 Imagen" descr="CC.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475344" y="6498260"/>
            <a:ext cx="1716656" cy="359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4968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INDICE</a:t>
            </a:r>
          </a:p>
        </p:txBody>
      </p:sp>
      <p:sp>
        <p:nvSpPr>
          <p:cNvPr id="3" name="Marcador de contenido 2"/>
          <p:cNvSpPr>
            <a:spLocks noGrp="1"/>
          </p:cNvSpPr>
          <p:nvPr>
            <p:ph idx="1"/>
          </p:nvPr>
        </p:nvSpPr>
        <p:spPr>
          <a:xfrm>
            <a:off x="1634490" y="681644"/>
            <a:ext cx="9235440" cy="5702531"/>
          </a:xfrm>
        </p:spPr>
        <p:txBody>
          <a:bodyPr/>
          <a:lstStyle/>
          <a:p>
            <a:endParaRPr lang="es-ES" dirty="0"/>
          </a:p>
          <a:p>
            <a:endParaRPr lang="es-ES" dirty="0"/>
          </a:p>
          <a:p>
            <a:pPr marL="0" indent="0">
              <a:buNone/>
            </a:pPr>
            <a:r>
              <a:rPr lang="es-ES" dirty="0"/>
              <a:t>2.1 Introducción</a:t>
            </a:r>
          </a:p>
          <a:p>
            <a:pPr marL="0" indent="0">
              <a:buNone/>
            </a:pPr>
            <a:r>
              <a:rPr lang="es-ES" dirty="0"/>
              <a:t>2.2   Ética del profesional </a:t>
            </a:r>
          </a:p>
          <a:p>
            <a:pPr marL="0" indent="0">
              <a:buNone/>
            </a:pPr>
            <a:r>
              <a:rPr lang="es-ES" dirty="0"/>
              <a:t>	Concepto y finalidad</a:t>
            </a:r>
          </a:p>
          <a:p>
            <a:pPr marL="0" indent="0">
              <a:buNone/>
            </a:pPr>
            <a:r>
              <a:rPr lang="es-ES" dirty="0"/>
              <a:t>	Principios y códigos éticos profesionales</a:t>
            </a:r>
          </a:p>
          <a:p>
            <a:pPr marL="0" indent="0">
              <a:buNone/>
            </a:pPr>
            <a:r>
              <a:rPr lang="es-ES" dirty="0"/>
              <a:t>	Problemas éticos</a:t>
            </a:r>
          </a:p>
          <a:p>
            <a:pPr marL="0" indent="0">
              <a:buNone/>
            </a:pPr>
            <a:r>
              <a:rPr lang="es-ES" dirty="0"/>
              <a:t>	Dilemas éticos</a:t>
            </a:r>
          </a:p>
          <a:p>
            <a:pPr marL="0" indent="0">
              <a:buNone/>
            </a:pPr>
            <a:r>
              <a:rPr lang="es-ES" dirty="0"/>
              <a:t>2.3   Ética de las organizaciones</a:t>
            </a:r>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2</a:t>
            </a:fld>
            <a:endParaRPr lang="es-ES" dirty="0"/>
          </a:p>
        </p:txBody>
      </p:sp>
    </p:spTree>
    <p:extLst>
      <p:ext uri="{BB962C8B-B14F-4D97-AF65-F5344CB8AC3E}">
        <p14:creationId xmlns:p14="http://schemas.microsoft.com/office/powerpoint/2010/main" val="3755088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53441" y="681644"/>
            <a:ext cx="10370819" cy="6007391"/>
          </a:xfrm>
        </p:spPr>
        <p:txBody>
          <a:bodyPr>
            <a:normAutofit/>
          </a:bodyPr>
          <a:lstStyle/>
          <a:p>
            <a:pPr marL="0" indent="0">
              <a:buNone/>
            </a:pPr>
            <a:endParaRPr lang="es-ES" b="1" dirty="0"/>
          </a:p>
          <a:p>
            <a:pPr marL="0" indent="0">
              <a:buNone/>
            </a:pPr>
            <a:endParaRPr lang="es-ES" b="1" dirty="0"/>
          </a:p>
          <a:p>
            <a:pPr marL="0" indent="0">
              <a:buNone/>
            </a:pPr>
            <a:r>
              <a:rPr lang="es-ES" sz="3600" b="1" dirty="0"/>
              <a:t>Ética:</a:t>
            </a:r>
          </a:p>
          <a:p>
            <a:pPr>
              <a:buFontTx/>
              <a:buChar char="-"/>
            </a:pPr>
            <a:r>
              <a:rPr lang="es-ES" sz="3600" dirty="0"/>
              <a:t>¿Qué es la ética y cuáles son sus valores?</a:t>
            </a:r>
          </a:p>
          <a:p>
            <a:pPr>
              <a:buFontTx/>
              <a:buChar char="-"/>
            </a:pPr>
            <a:r>
              <a:rPr lang="es-ES" sz="3600" dirty="0"/>
              <a:t>¿Puede la ética darme recetas sobre cómo actuar?</a:t>
            </a:r>
          </a:p>
          <a:p>
            <a:pPr marL="0" indent="0">
              <a:buNone/>
            </a:pPr>
            <a:r>
              <a:rPr lang="es-ES" sz="3600" dirty="0"/>
              <a:t> - ¿Es posible comportarse éticamente y alcanzar el éxito profesional?</a:t>
            </a:r>
          </a:p>
          <a:p>
            <a:pPr marL="0" indent="0">
              <a:buNone/>
            </a:pPr>
            <a:r>
              <a:rPr lang="es-ES" sz="3600" dirty="0"/>
              <a:t>- ¿Quién debería comportarse éticamente? (Individuos, organizaciones)</a:t>
            </a:r>
          </a:p>
          <a:p>
            <a:pPr marL="0" indent="0">
              <a:buNone/>
            </a:pPr>
            <a:r>
              <a:rPr lang="es-ES" dirty="0"/>
              <a:t> </a:t>
            </a:r>
            <a:r>
              <a:rPr lang="es-ES" b="1" dirty="0"/>
              <a:t> </a:t>
            </a:r>
            <a:endParaRPr lang="es-ES" dirty="0"/>
          </a:p>
        </p:txBody>
      </p:sp>
      <p:sp>
        <p:nvSpPr>
          <p:cNvPr id="4" name="Marcador de pie de página 3"/>
          <p:cNvSpPr>
            <a:spLocks noGrp="1"/>
          </p:cNvSpPr>
          <p:nvPr>
            <p:ph type="ftr" sz="quarter" idx="11"/>
          </p:nvPr>
        </p:nvSpPr>
        <p:spPr/>
        <p:txBody>
          <a:bodyPr/>
          <a:lstStyle/>
          <a:p>
            <a:r>
              <a:rPr lang="es-ES" dirty="0"/>
              <a:t>  </a:t>
            </a:r>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3</a:t>
            </a:fld>
            <a:endParaRPr lang="es-ES" dirty="0"/>
          </a:p>
        </p:txBody>
      </p:sp>
      <p:sp>
        <p:nvSpPr>
          <p:cNvPr id="6" name="Título 5"/>
          <p:cNvSpPr>
            <a:spLocks noGrp="1"/>
          </p:cNvSpPr>
          <p:nvPr>
            <p:ph type="title"/>
          </p:nvPr>
        </p:nvSpPr>
        <p:spPr>
          <a:xfrm>
            <a:off x="853441" y="117647"/>
            <a:ext cx="11338559" cy="372805"/>
          </a:xfrm>
        </p:spPr>
        <p:txBody>
          <a:bodyPr>
            <a:normAutofit fontScale="90000"/>
          </a:bodyPr>
          <a:lstStyle/>
          <a:p>
            <a:r>
              <a:rPr lang="es-ES" b="1" dirty="0"/>
              <a:t>PREGUNTAS POR RESOLVER</a:t>
            </a:r>
          </a:p>
        </p:txBody>
      </p:sp>
    </p:spTree>
    <p:extLst>
      <p:ext uri="{BB962C8B-B14F-4D97-AF65-F5344CB8AC3E}">
        <p14:creationId xmlns:p14="http://schemas.microsoft.com/office/powerpoint/2010/main" val="711984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5201" y="290613"/>
            <a:ext cx="8596668" cy="1041400"/>
          </a:xfrm>
        </p:spPr>
        <p:txBody>
          <a:bodyPr/>
          <a:lstStyle/>
          <a:p>
            <a:r>
              <a:rPr lang="es-ES" b="1" dirty="0"/>
              <a:t>Ética y TIC </a:t>
            </a:r>
          </a:p>
        </p:txBody>
      </p:sp>
      <p:sp>
        <p:nvSpPr>
          <p:cNvPr id="10" name="4 Rectángulo redondeado">
            <a:extLst>
              <a:ext uri="{FF2B5EF4-FFF2-40B4-BE49-F238E27FC236}">
                <a16:creationId xmlns:a16="http://schemas.microsoft.com/office/drawing/2014/main" id="{53962930-2A8A-4B85-BC32-D74A24A3D275}"/>
              </a:ext>
            </a:extLst>
          </p:cNvPr>
          <p:cNvSpPr/>
          <p:nvPr/>
        </p:nvSpPr>
        <p:spPr>
          <a:xfrm>
            <a:off x="2927027" y="437199"/>
            <a:ext cx="6467458" cy="9710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20000"/>
              </a:spcBef>
              <a:spcAft>
                <a:spcPct val="0"/>
              </a:spcAft>
              <a:buClr>
                <a:srgbClr val="000099"/>
              </a:buClr>
            </a:pPr>
            <a:r>
              <a:rPr lang="es-ES" altLang="es-ES" sz="2800" b="1" i="1" dirty="0">
                <a:solidFill>
                  <a:schemeClr val="bg1"/>
                </a:solidFill>
                <a:latin typeface="Lato" panose="020F0502020204030203"/>
                <a:ea typeface="ＭＳ Ｐゴシック" pitchFamily="34" charset="-128"/>
                <a:cs typeface="Arial" pitchFamily="34" charset="0"/>
              </a:rPr>
              <a:t>ENFOQUE: RESPONSABILIDAD PROFESIONAL</a:t>
            </a:r>
          </a:p>
        </p:txBody>
      </p:sp>
      <p:sp>
        <p:nvSpPr>
          <p:cNvPr id="13" name="Marcador de pie de página 5">
            <a:extLst>
              <a:ext uri="{FF2B5EF4-FFF2-40B4-BE49-F238E27FC236}">
                <a16:creationId xmlns:a16="http://schemas.microsoft.com/office/drawing/2014/main" id="{0822D182-37F4-45AE-A4F5-9CE75A80BD1A}"/>
              </a:ext>
            </a:extLst>
          </p:cNvPr>
          <p:cNvSpPr txBox="1">
            <a:spLocks/>
          </p:cNvSpPr>
          <p:nvPr/>
        </p:nvSpPr>
        <p:spPr>
          <a:xfrm>
            <a:off x="3119677" y="6326712"/>
            <a:ext cx="3711981" cy="365125"/>
          </a:xfrm>
          <a:prstGeom prst="rect">
            <a:avLst/>
          </a:prstGeom>
        </p:spPr>
        <p:txBody>
          <a:bodyPr vert="horz" lIns="91440" tIns="45720" rIns="91440" bIns="45720" rtlCol="0" anchor="ctr"/>
          <a:lstStyle>
            <a:defPPr>
              <a:defRPr lang="es-ES"/>
            </a:defPPr>
            <a:lvl1pPr marL="0" algn="r" defTabSz="914400" rtl="0" eaLnBrk="1" latinLnBrk="0" hangingPunct="1">
              <a:defRPr sz="1400" kern="1200">
                <a:solidFill>
                  <a:schemeClr val="tx1">
                    <a:tint val="75000"/>
                  </a:schemeClr>
                </a:solidFill>
                <a:latin typeface="Lato" panose="020F050202020403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dirty="0"/>
              <a:t> </a:t>
            </a:r>
          </a:p>
        </p:txBody>
      </p:sp>
      <p:sp>
        <p:nvSpPr>
          <p:cNvPr id="14" name="Marcador de número de diapositiva 7">
            <a:extLst>
              <a:ext uri="{FF2B5EF4-FFF2-40B4-BE49-F238E27FC236}">
                <a16:creationId xmlns:a16="http://schemas.microsoft.com/office/drawing/2014/main" id="{6EDFED9A-90E6-4C65-AFCB-65FF1F6B9C9A}"/>
              </a:ext>
            </a:extLst>
          </p:cNvPr>
          <p:cNvSpPr txBox="1">
            <a:spLocks/>
          </p:cNvSpPr>
          <p:nvPr/>
        </p:nvSpPr>
        <p:spPr>
          <a:xfrm>
            <a:off x="8834387" y="6275650"/>
            <a:ext cx="519765"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rgbClr val="898989"/>
                </a:solidFill>
                <a:latin typeface="Lato" panose="020F050202020403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a:p>
            <a:endParaRPr lang="es-ES" dirty="0"/>
          </a:p>
        </p:txBody>
      </p:sp>
      <p:sp>
        <p:nvSpPr>
          <p:cNvPr id="17" name="8 Rectángulo redondeado">
            <a:extLst>
              <a:ext uri="{FF2B5EF4-FFF2-40B4-BE49-F238E27FC236}">
                <a16:creationId xmlns:a16="http://schemas.microsoft.com/office/drawing/2014/main" id="{24992BD2-E1FA-4EA2-BCF8-B781C69CCBD6}"/>
              </a:ext>
            </a:extLst>
          </p:cNvPr>
          <p:cNvSpPr/>
          <p:nvPr/>
        </p:nvSpPr>
        <p:spPr>
          <a:xfrm>
            <a:off x="272400" y="3659237"/>
            <a:ext cx="5309251" cy="2666350"/>
          </a:xfrm>
          <a:prstGeom prst="roundRect">
            <a:avLst/>
          </a:prstGeom>
          <a:solidFill>
            <a:schemeClr val="bg1"/>
          </a:solid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20000"/>
              </a:spcBef>
              <a:spcAft>
                <a:spcPct val="0"/>
              </a:spcAft>
              <a:buClr>
                <a:srgbClr val="92D050"/>
              </a:buClr>
            </a:pPr>
            <a:r>
              <a:rPr lang="es-ES" altLang="es-ES" sz="2800" b="1" dirty="0">
                <a:solidFill>
                  <a:schemeClr val="tx1"/>
                </a:solidFill>
                <a:latin typeface="Lato" panose="020F0502020204030203"/>
                <a:ea typeface="ＭＳ Ｐゴシック" pitchFamily="34" charset="-128"/>
                <a:cs typeface="Arial" pitchFamily="34" charset="0"/>
              </a:rPr>
              <a:t>PERSONAS</a:t>
            </a:r>
          </a:p>
          <a:p>
            <a:pPr marL="171450" lvl="0" indent="-171450" algn="ctr" eaLnBrk="0" fontAlgn="base" hangingPunct="0">
              <a:spcBef>
                <a:spcPct val="20000"/>
              </a:spcBef>
              <a:spcAft>
                <a:spcPct val="0"/>
              </a:spcAft>
              <a:buClr>
                <a:srgbClr val="92D050"/>
              </a:buClr>
              <a:buFont typeface="Wingdings" panose="05000000000000000000" pitchFamily="2" charset="2"/>
              <a:buChar char="ü"/>
            </a:pPr>
            <a:endParaRPr lang="es-ES" altLang="es-ES" sz="1000" b="1" dirty="0">
              <a:solidFill>
                <a:schemeClr val="tx1"/>
              </a:solidFill>
              <a:latin typeface="Lato" panose="020F0502020204030203"/>
              <a:ea typeface="ＭＳ Ｐゴシック" pitchFamily="34" charset="-128"/>
              <a:cs typeface="Arial" pitchFamily="34" charset="0"/>
            </a:endParaRP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Principios ética profesional</a:t>
            </a: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Principales problemas</a:t>
            </a:r>
          </a:p>
          <a:p>
            <a:pPr marL="34290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Códigos deontológicos</a:t>
            </a:r>
          </a:p>
        </p:txBody>
      </p:sp>
      <p:pic>
        <p:nvPicPr>
          <p:cNvPr id="1026" name="Picture 2" descr="Ingenieros informáticos, los profesionales más demandados del sector TIC en  Colombia | UNIR">
            <a:extLst>
              <a:ext uri="{FF2B5EF4-FFF2-40B4-BE49-F238E27FC236}">
                <a16:creationId xmlns:a16="http://schemas.microsoft.com/office/drawing/2014/main" id="{CB6EA482-9EAB-4569-B5B2-F04206596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089" y="1730025"/>
            <a:ext cx="2809875" cy="1628775"/>
          </a:xfrm>
          <a:prstGeom prst="rect">
            <a:avLst/>
          </a:prstGeom>
          <a:noFill/>
          <a:extLst>
            <a:ext uri="{909E8E84-426E-40DD-AFC4-6F175D3DCCD1}">
              <a14:hiddenFill xmlns:a14="http://schemas.microsoft.com/office/drawing/2010/main">
                <a:solidFill>
                  <a:srgbClr val="FFFFFF"/>
                </a:solidFill>
              </a14:hiddenFill>
            </a:ext>
          </a:extLst>
        </p:spPr>
      </p:pic>
      <p:sp>
        <p:nvSpPr>
          <p:cNvPr id="18" name="8 Rectángulo redondeado">
            <a:extLst>
              <a:ext uri="{FF2B5EF4-FFF2-40B4-BE49-F238E27FC236}">
                <a16:creationId xmlns:a16="http://schemas.microsoft.com/office/drawing/2014/main" id="{96D924F8-6D2B-40AC-9110-4FDA0E3DE12A}"/>
              </a:ext>
            </a:extLst>
          </p:cNvPr>
          <p:cNvSpPr/>
          <p:nvPr/>
        </p:nvSpPr>
        <p:spPr>
          <a:xfrm>
            <a:off x="5968871" y="3314821"/>
            <a:ext cx="5731032" cy="3195995"/>
          </a:xfrm>
          <a:prstGeom prst="roundRect">
            <a:avLst/>
          </a:prstGeom>
          <a:solidFill>
            <a:schemeClr val="bg1"/>
          </a:solid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20000"/>
              </a:spcBef>
              <a:spcAft>
                <a:spcPct val="0"/>
              </a:spcAft>
              <a:buClr>
                <a:srgbClr val="92D050"/>
              </a:buClr>
            </a:pPr>
            <a:r>
              <a:rPr lang="es-ES" altLang="es-ES" sz="2800" b="1" dirty="0">
                <a:solidFill>
                  <a:schemeClr val="tx1"/>
                </a:solidFill>
                <a:latin typeface="Lato" panose="020F0502020204030203"/>
                <a:ea typeface="ＭＳ Ｐゴシック" pitchFamily="34" charset="-128"/>
                <a:cs typeface="Arial" pitchFamily="34" charset="0"/>
              </a:rPr>
              <a:t>ORGANIZACIONES y EMPRESAS</a:t>
            </a:r>
          </a:p>
          <a:p>
            <a:pPr marL="171450" lvl="0" indent="-171450" algn="ctr" eaLnBrk="0" fontAlgn="base" hangingPunct="0">
              <a:spcBef>
                <a:spcPct val="20000"/>
              </a:spcBef>
              <a:spcAft>
                <a:spcPct val="0"/>
              </a:spcAft>
              <a:buClr>
                <a:srgbClr val="92D050"/>
              </a:buClr>
              <a:buFont typeface="Wingdings" panose="05000000000000000000" pitchFamily="2" charset="2"/>
              <a:buChar char="ü"/>
            </a:pPr>
            <a:endParaRPr lang="es-ES" altLang="es-ES" sz="1000" b="1" dirty="0">
              <a:solidFill>
                <a:schemeClr val="tx1"/>
              </a:solidFill>
              <a:latin typeface="Lato" panose="020F0502020204030203"/>
              <a:ea typeface="ＭＳ Ｐゴシック" pitchFamily="34" charset="-128"/>
              <a:cs typeface="Arial" pitchFamily="34" charset="0"/>
            </a:endParaRP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Principios de Responsabilidad Social Corporativa (RSC)</a:t>
            </a: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Empresa y debida diligencia</a:t>
            </a: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Empresa y derechos humanos</a:t>
            </a:r>
          </a:p>
        </p:txBody>
      </p:sp>
      <p:pic>
        <p:nvPicPr>
          <p:cNvPr id="22" name="Picture 4" descr="Intel, Nervana Systems">
            <a:extLst>
              <a:ext uri="{FF2B5EF4-FFF2-40B4-BE49-F238E27FC236}">
                <a16:creationId xmlns:a16="http://schemas.microsoft.com/office/drawing/2014/main" id="{1F33BD14-A771-4AE9-BFB1-8C45D21B76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69144" y="2117216"/>
            <a:ext cx="704890" cy="70489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a:extLst>
              <a:ext uri="{FF2B5EF4-FFF2-40B4-BE49-F238E27FC236}">
                <a16:creationId xmlns:a16="http://schemas.microsoft.com/office/drawing/2014/main" id="{CC7CB1C5-9F75-49EE-9F16-4E40CAF6674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9822" t="32767" r="38214" b="54762"/>
          <a:stretch/>
        </p:blipFill>
        <p:spPr bwMode="auto">
          <a:xfrm>
            <a:off x="7941143" y="2609805"/>
            <a:ext cx="1481688" cy="4732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15" descr="http://www.samsung.com/common/img/logo.png">
            <a:extLst>
              <a:ext uri="{FF2B5EF4-FFF2-40B4-BE49-F238E27FC236}">
                <a16:creationId xmlns:a16="http://schemas.microsoft.com/office/drawing/2014/main" id="{ED0369CA-9B48-4880-BD3E-21D2771EDC10}"/>
              </a:ext>
            </a:extLst>
          </p:cNvPr>
          <p:cNvPicPr>
            <a:picLocks noChangeAspect="1" noChangeArrowheads="1"/>
          </p:cNvPicPr>
          <p:nvPr/>
        </p:nvPicPr>
        <p:blipFill>
          <a:blip r:embed="rId5" cstate="print"/>
          <a:srcRect/>
          <a:stretch>
            <a:fillRect/>
          </a:stretch>
        </p:blipFill>
        <p:spPr bwMode="auto">
          <a:xfrm>
            <a:off x="7037185" y="2544413"/>
            <a:ext cx="1367477" cy="338644"/>
          </a:xfrm>
          <a:prstGeom prst="rect">
            <a:avLst/>
          </a:prstGeom>
          <a:noFill/>
          <a:ln w="9525">
            <a:noFill/>
            <a:miter lim="800000"/>
            <a:headEnd/>
            <a:tailEnd/>
          </a:ln>
        </p:spPr>
      </p:pic>
      <p:pic>
        <p:nvPicPr>
          <p:cNvPr id="27" name="Imagen 26" descr="Imagen que contiene Interfaz de usuario gráfica&#10;&#10;Descripción generada automáticamente">
            <a:extLst>
              <a:ext uri="{FF2B5EF4-FFF2-40B4-BE49-F238E27FC236}">
                <a16:creationId xmlns:a16="http://schemas.microsoft.com/office/drawing/2014/main" id="{1D48DA80-B12F-4077-9AB5-382D39F73A27}"/>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5075" t="65000" r="56642" b="23194"/>
          <a:stretch/>
        </p:blipFill>
        <p:spPr>
          <a:xfrm>
            <a:off x="9092747" y="2031012"/>
            <a:ext cx="700957" cy="562088"/>
          </a:xfrm>
          <a:prstGeom prst="rect">
            <a:avLst/>
          </a:prstGeom>
        </p:spPr>
      </p:pic>
      <p:pic>
        <p:nvPicPr>
          <p:cNvPr id="28" name="Picture 21" descr="Vodafone">
            <a:extLst>
              <a:ext uri="{FF2B5EF4-FFF2-40B4-BE49-F238E27FC236}">
                <a16:creationId xmlns:a16="http://schemas.microsoft.com/office/drawing/2014/main" id="{53867F3F-F6A5-4C6A-A6C8-63E04A226B1A}"/>
              </a:ext>
            </a:extLst>
          </p:cNvPr>
          <p:cNvPicPr>
            <a:picLocks noChangeAspect="1" noChangeArrowheads="1"/>
          </p:cNvPicPr>
          <p:nvPr/>
        </p:nvPicPr>
        <p:blipFill>
          <a:blip r:embed="rId7" cstate="print"/>
          <a:srcRect/>
          <a:stretch>
            <a:fillRect/>
          </a:stretch>
        </p:blipFill>
        <p:spPr bwMode="auto">
          <a:xfrm>
            <a:off x="8450338" y="2031011"/>
            <a:ext cx="529024" cy="396768"/>
          </a:xfrm>
          <a:prstGeom prst="rect">
            <a:avLst/>
          </a:prstGeom>
          <a:noFill/>
          <a:ln w="9525">
            <a:noFill/>
            <a:miter lim="800000"/>
            <a:headEnd/>
            <a:tailEnd/>
          </a:ln>
        </p:spPr>
      </p:pic>
      <p:pic>
        <p:nvPicPr>
          <p:cNvPr id="29" name="Picture 12" descr="http://upload.wikimedia.org/wikipedia/commons/thumb/8/80/HP_D_B_RGB_72_MX%2Bspace.png/200px-HP_D_B_RGB_72_MX%2Bspace.png">
            <a:extLst>
              <a:ext uri="{FF2B5EF4-FFF2-40B4-BE49-F238E27FC236}">
                <a16:creationId xmlns:a16="http://schemas.microsoft.com/office/drawing/2014/main" id="{10AAF5BD-2452-4967-B5C9-FDF93BD26ADD}"/>
              </a:ext>
            </a:extLst>
          </p:cNvPr>
          <p:cNvPicPr>
            <a:picLocks noChangeAspect="1" noChangeArrowheads="1"/>
          </p:cNvPicPr>
          <p:nvPr/>
        </p:nvPicPr>
        <p:blipFill>
          <a:blip r:embed="rId8" cstate="print"/>
          <a:srcRect/>
          <a:stretch>
            <a:fillRect/>
          </a:stretch>
        </p:blipFill>
        <p:spPr bwMode="auto">
          <a:xfrm>
            <a:off x="7384458" y="1838923"/>
            <a:ext cx="944896" cy="668995"/>
          </a:xfrm>
          <a:prstGeom prst="rect">
            <a:avLst/>
          </a:prstGeom>
          <a:noFill/>
          <a:ln w="9525">
            <a:noFill/>
            <a:miter lim="800000"/>
            <a:headEnd/>
            <a:tailEnd/>
          </a:ln>
        </p:spPr>
      </p:pic>
      <p:sp>
        <p:nvSpPr>
          <p:cNvPr id="5" name="Marcador de número de diapositiva 4"/>
          <p:cNvSpPr>
            <a:spLocks noGrp="1"/>
          </p:cNvSpPr>
          <p:nvPr>
            <p:ph type="sldNum" sz="quarter" idx="12"/>
          </p:nvPr>
        </p:nvSpPr>
        <p:spPr>
          <a:xfrm>
            <a:off x="8681987" y="5713675"/>
            <a:ext cx="519765" cy="365125"/>
          </a:xfrm>
        </p:spPr>
        <p:txBody>
          <a:bodyPr/>
          <a:lstStyle/>
          <a:p>
            <a:fld id="{B7F7DEE0-106B-4677-B64E-E4FBDB157F4D}" type="slidenum">
              <a:rPr lang="es-ES" smtClean="0"/>
              <a:pPr/>
              <a:t>4</a:t>
            </a:fld>
            <a:endParaRPr lang="es-ES" dirty="0"/>
          </a:p>
        </p:txBody>
      </p:sp>
    </p:spTree>
    <p:extLst>
      <p:ext uri="{BB962C8B-B14F-4D97-AF65-F5344CB8AC3E}">
        <p14:creationId xmlns:p14="http://schemas.microsoft.com/office/powerpoint/2010/main" val="2511872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additive="base">
                                        <p:cTn id="15" dur="500" fill="hold"/>
                                        <p:tgtEl>
                                          <p:spTgt spid="1026"/>
                                        </p:tgtEl>
                                        <p:attrNameLst>
                                          <p:attrName>ppt_x</p:attrName>
                                        </p:attrNameLst>
                                      </p:cBhvr>
                                      <p:tavLst>
                                        <p:tav tm="0">
                                          <p:val>
                                            <p:strVal val="#ppt_x"/>
                                          </p:val>
                                        </p:tav>
                                        <p:tav tm="100000">
                                          <p:val>
                                            <p:strVal val="#ppt_x"/>
                                          </p:val>
                                        </p:tav>
                                      </p:tavLst>
                                    </p:anim>
                                    <p:anim calcmode="lin" valueType="num">
                                      <p:cBhvr additive="base">
                                        <p:cTn id="16"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fill="hold"/>
                                        <p:tgtEl>
                                          <p:spTgt spid="25"/>
                                        </p:tgtEl>
                                        <p:attrNameLst>
                                          <p:attrName>ppt_x</p:attrName>
                                        </p:attrNameLst>
                                      </p:cBhvr>
                                      <p:tavLst>
                                        <p:tav tm="0">
                                          <p:val>
                                            <p:strVal val="#ppt_x"/>
                                          </p:val>
                                        </p:tav>
                                        <p:tav tm="100000">
                                          <p:val>
                                            <p:strVal val="#ppt_x"/>
                                          </p:val>
                                        </p:tav>
                                      </p:tavLst>
                                    </p:anim>
                                    <p:anim calcmode="lin" valueType="num">
                                      <p:cBhvr additive="base">
                                        <p:cTn id="30" dur="500" fill="hold"/>
                                        <p:tgtEl>
                                          <p:spTgt spid="2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ppt_x"/>
                                          </p:val>
                                        </p:tav>
                                        <p:tav tm="100000">
                                          <p:val>
                                            <p:strVal val="#ppt_x"/>
                                          </p:val>
                                        </p:tav>
                                      </p:tavLst>
                                    </p:anim>
                                    <p:anim calcmode="lin" valueType="num">
                                      <p:cBhvr additive="base">
                                        <p:cTn id="34" dur="500" fill="hold"/>
                                        <p:tgtEl>
                                          <p:spTgt spid="2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ppt_x"/>
                                          </p:val>
                                        </p:tav>
                                        <p:tav tm="100000">
                                          <p:val>
                                            <p:strVal val="#ppt_x"/>
                                          </p:val>
                                        </p:tav>
                                      </p:tavLst>
                                    </p:anim>
                                    <p:anim calcmode="lin" valueType="num">
                                      <p:cBhvr additive="base">
                                        <p:cTn id="38" dur="500" fill="hold"/>
                                        <p:tgtEl>
                                          <p:spTgt spid="27"/>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 calcmode="lin" valueType="num">
                                      <p:cBhvr additive="base">
                                        <p:cTn id="41" dur="500" fill="hold"/>
                                        <p:tgtEl>
                                          <p:spTgt spid="28"/>
                                        </p:tgtEl>
                                        <p:attrNameLst>
                                          <p:attrName>ppt_x</p:attrName>
                                        </p:attrNameLst>
                                      </p:cBhvr>
                                      <p:tavLst>
                                        <p:tav tm="0">
                                          <p:val>
                                            <p:strVal val="#ppt_x"/>
                                          </p:val>
                                        </p:tav>
                                        <p:tav tm="100000">
                                          <p:val>
                                            <p:strVal val="#ppt_x"/>
                                          </p:val>
                                        </p:tav>
                                      </p:tavLst>
                                    </p:anim>
                                    <p:anim calcmode="lin" valueType="num">
                                      <p:cBhvr additive="base">
                                        <p:cTn id="42" dur="500" fill="hold"/>
                                        <p:tgtEl>
                                          <p:spTgt spid="2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additive="base">
                                        <p:cTn id="45" dur="500" fill="hold"/>
                                        <p:tgtEl>
                                          <p:spTgt spid="29"/>
                                        </p:tgtEl>
                                        <p:attrNameLst>
                                          <p:attrName>ppt_x</p:attrName>
                                        </p:attrNameLst>
                                      </p:cBhvr>
                                      <p:tavLst>
                                        <p:tav tm="0">
                                          <p:val>
                                            <p:strVal val="#ppt_x"/>
                                          </p:val>
                                        </p:tav>
                                        <p:tav tm="100000">
                                          <p:val>
                                            <p:strVal val="#ppt_x"/>
                                          </p:val>
                                        </p:tav>
                                      </p:tavLst>
                                    </p:anim>
                                    <p:anim calcmode="lin" valueType="num">
                                      <p:cBhvr additive="base">
                                        <p:cTn id="4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par>
                                <p:cTn id="51" presetID="1" presetClass="entr" presetSubtype="0" fill="hold" grpId="0" nodeType="withEffect" nodePh="1">
                                  <p:stCondLst>
                                    <p:cond delay="0"/>
                                  </p:stCondLst>
                                  <p:endCondLst>
                                    <p:cond evt="begin" delay="0">
                                      <p:tn val="51"/>
                                    </p:cond>
                                  </p:end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7" grpId="0" animBg="1"/>
      <p:bldP spid="18" grpId="0" animBg="1"/>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2.2 </a:t>
            </a:r>
            <a:r>
              <a:rPr lang="es-ES" b="1" dirty="0" err="1"/>
              <a:t>Etica</a:t>
            </a:r>
            <a:r>
              <a:rPr lang="es-ES" b="1" dirty="0"/>
              <a:t> del profesional: concepto</a:t>
            </a:r>
          </a:p>
        </p:txBody>
      </p:sp>
      <p:sp>
        <p:nvSpPr>
          <p:cNvPr id="3" name="Marcador de contenido 2"/>
          <p:cNvSpPr>
            <a:spLocks noGrp="1"/>
          </p:cNvSpPr>
          <p:nvPr>
            <p:ph idx="1"/>
          </p:nvPr>
        </p:nvSpPr>
        <p:spPr>
          <a:xfrm>
            <a:off x="957181" y="2600100"/>
            <a:ext cx="10382763" cy="3767224"/>
          </a:xfrm>
        </p:spPr>
        <p:txBody>
          <a:bodyPr>
            <a:normAutofit/>
          </a:bodyPr>
          <a:lstStyle/>
          <a:p>
            <a:endParaRPr lang="es-ES" dirty="0"/>
          </a:p>
          <a:p>
            <a:r>
              <a:rPr lang="es-ES" dirty="0"/>
              <a:t>Un par de acepciones de la RAE:</a:t>
            </a:r>
          </a:p>
          <a:p>
            <a:pPr marL="715963" lvl="1" indent="-315913">
              <a:buSzPct val="100000"/>
              <a:buNone/>
            </a:pPr>
            <a:r>
              <a:rPr lang="es-ES" sz="2800" b="1" dirty="0">
                <a:solidFill>
                  <a:srgbClr val="90C226"/>
                </a:solidFill>
              </a:rPr>
              <a:t>4.</a:t>
            </a:r>
            <a:r>
              <a:rPr lang="es-ES" sz="2800" dirty="0"/>
              <a:t> Conjunto de </a:t>
            </a:r>
            <a:r>
              <a:rPr lang="es-ES" sz="2800" b="1" dirty="0">
                <a:solidFill>
                  <a:srgbClr val="83B330"/>
                </a:solidFill>
              </a:rPr>
              <a:t>normas morales</a:t>
            </a:r>
            <a:r>
              <a:rPr lang="es-ES" sz="2800" dirty="0"/>
              <a:t> que rigen la conducta de la persona en  cualquier ámbito de la vida.</a:t>
            </a:r>
          </a:p>
          <a:p>
            <a:pPr lvl="2" indent="-342900">
              <a:buSzPct val="100000"/>
              <a:buFont typeface="Wingdings" panose="05000000000000000000" pitchFamily="2" charset="2"/>
              <a:buChar char="v"/>
            </a:pPr>
            <a:r>
              <a:rPr lang="es-ES" sz="2800" dirty="0">
                <a:solidFill>
                  <a:srgbClr val="92D050"/>
                </a:solidFill>
              </a:rPr>
              <a:t>Ética profesional</a:t>
            </a:r>
            <a:r>
              <a:rPr lang="es-ES" sz="2800" dirty="0"/>
              <a:t>, cívica, deportiva, …</a:t>
            </a:r>
          </a:p>
          <a:p>
            <a:pPr marL="715963" lvl="1" indent="-315913">
              <a:buSzPct val="100000"/>
              <a:buNone/>
            </a:pPr>
            <a:r>
              <a:rPr lang="es-ES" sz="2800" b="1" dirty="0">
                <a:solidFill>
                  <a:srgbClr val="90C226"/>
                </a:solidFill>
              </a:rPr>
              <a:t>5.</a:t>
            </a:r>
            <a:r>
              <a:rPr lang="es-ES" sz="2800" dirty="0"/>
              <a:t> Parte de la filosofía que trata del bien y del fundamento de sus </a:t>
            </a:r>
            <a:br>
              <a:rPr lang="es-ES" sz="2800" dirty="0"/>
            </a:br>
            <a:r>
              <a:rPr lang="es-ES" sz="2800" b="1" dirty="0">
                <a:solidFill>
                  <a:srgbClr val="83B330"/>
                </a:solidFill>
              </a:rPr>
              <a:t>valores</a:t>
            </a:r>
            <a:r>
              <a:rPr lang="es-ES" sz="2800" dirty="0"/>
              <a:t>.</a:t>
            </a:r>
          </a:p>
        </p:txBody>
      </p:sp>
      <p:sp>
        <p:nvSpPr>
          <p:cNvPr id="5" name="Marcador de número de diapositiva 4"/>
          <p:cNvSpPr>
            <a:spLocks noGrp="1"/>
          </p:cNvSpPr>
          <p:nvPr>
            <p:ph type="sldNum" sz="quarter" idx="12"/>
          </p:nvPr>
        </p:nvSpPr>
        <p:spPr/>
        <p:txBody>
          <a:bodyPr/>
          <a:lstStyle/>
          <a:p>
            <a:fld id="{B7F7DEE0-106B-4677-B64E-E4FBDB157F4D}" type="slidenum">
              <a:rPr lang="es-ES" smtClean="0"/>
              <a:pPr/>
              <a:t>5</a:t>
            </a:fld>
            <a:endParaRPr lang="es-ES" dirty="0"/>
          </a:p>
        </p:txBody>
      </p:sp>
      <mc:AlternateContent xmlns:mc="http://schemas.openxmlformats.org/markup-compatibility/2006" xmlns:p14="http://schemas.microsoft.com/office/powerpoint/2010/main">
        <mc:Choice Requires="p14">
          <p:contentPart p14:bwMode="auto" r:id="rId3">
            <p14:nvContentPartPr>
              <p14:cNvPr id="7" name="Entrada de lápiz 6">
                <a:extLst>
                  <a:ext uri="{FF2B5EF4-FFF2-40B4-BE49-F238E27FC236}">
                    <a16:creationId xmlns:a16="http://schemas.microsoft.com/office/drawing/2014/main" id="{AE9383DF-CA67-43B7-9BAC-15C85F2E824B}"/>
                  </a:ext>
                </a:extLst>
              </p14:cNvPr>
              <p14:cNvContentPartPr/>
              <p14:nvPr/>
            </p14:nvContentPartPr>
            <p14:xfrm>
              <a:off x="8305740" y="3971505"/>
              <a:ext cx="360" cy="360"/>
            </p14:xfrm>
          </p:contentPart>
        </mc:Choice>
        <mc:Fallback xmlns="">
          <p:pic>
            <p:nvPicPr>
              <p:cNvPr id="7" name="Entrada de lápiz 6">
                <a:extLst>
                  <a:ext uri="{FF2B5EF4-FFF2-40B4-BE49-F238E27FC236}">
                    <a16:creationId xmlns:a16="http://schemas.microsoft.com/office/drawing/2014/main" id="{AE9383DF-CA67-43B7-9BAC-15C85F2E824B}"/>
                  </a:ext>
                </a:extLst>
              </p:cNvPr>
              <p:cNvPicPr/>
              <p:nvPr/>
            </p:nvPicPr>
            <p:blipFill>
              <a:blip r:embed="rId4"/>
              <a:stretch>
                <a:fillRect/>
              </a:stretch>
            </p:blipFill>
            <p:spPr>
              <a:xfrm>
                <a:off x="8297100" y="3962505"/>
                <a:ext cx="18000" cy="18000"/>
              </a:xfrm>
              <a:prstGeom prst="rect">
                <a:avLst/>
              </a:prstGeom>
            </p:spPr>
          </p:pic>
        </mc:Fallback>
      </mc:AlternateContent>
      <p:pic>
        <p:nvPicPr>
          <p:cNvPr id="8" name="Picture 3" descr="Logo de la Real Academia Española">
            <a:extLst>
              <a:ext uri="{FF2B5EF4-FFF2-40B4-BE49-F238E27FC236}">
                <a16:creationId xmlns:a16="http://schemas.microsoft.com/office/drawing/2014/main" id="{ACB20E94-5538-4D4E-B872-309394035F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0949" y="1042860"/>
            <a:ext cx="2595401" cy="1038160"/>
          </a:xfrm>
          <a:prstGeom prst="rect">
            <a:avLst/>
          </a:prstGeom>
          <a:noFill/>
          <a:extLst>
            <a:ext uri="{909E8E84-426E-40DD-AFC4-6F175D3DCCD1}">
              <a14:hiddenFill xmlns:a14="http://schemas.microsoft.com/office/drawing/2010/main">
                <a:solidFill>
                  <a:srgbClr val="FFFFFF"/>
                </a:solidFill>
              </a14:hiddenFill>
            </a:ext>
          </a:extLst>
        </p:spPr>
      </p:pic>
      <p:sp>
        <p:nvSpPr>
          <p:cNvPr id="6" name="Elipse 5"/>
          <p:cNvSpPr/>
          <p:nvPr/>
        </p:nvSpPr>
        <p:spPr>
          <a:xfrm>
            <a:off x="764770" y="876300"/>
            <a:ext cx="4543829" cy="17954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4000" b="1" dirty="0">
                <a:solidFill>
                  <a:schemeClr val="bg2">
                    <a:lumMod val="10000"/>
                  </a:schemeClr>
                </a:solidFill>
              </a:rPr>
              <a:t>Hablemos de ética</a:t>
            </a:r>
          </a:p>
        </p:txBody>
      </p:sp>
    </p:spTree>
    <p:extLst>
      <p:ext uri="{BB962C8B-B14F-4D97-AF65-F5344CB8AC3E}">
        <p14:creationId xmlns:p14="http://schemas.microsoft.com/office/powerpoint/2010/main" val="180585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3"/>
          <p:cNvSpPr>
            <a:spLocks noChangeArrowheads="1"/>
          </p:cNvSpPr>
          <p:nvPr/>
        </p:nvSpPr>
        <p:spPr bwMode="auto">
          <a:xfrm>
            <a:off x="787400" y="620712"/>
            <a:ext cx="9880600" cy="4213224"/>
          </a:xfrm>
          <a:prstGeom prst="horizontalScroll">
            <a:avLst>
              <a:gd name="adj" fmla="val 13273"/>
            </a:avLst>
          </a:prstGeom>
          <a:solidFill>
            <a:srgbClr val="FFFFD5"/>
          </a:solidFill>
          <a:ln w="28575">
            <a:solidFill>
              <a:schemeClr val="tx1"/>
            </a:solidFill>
            <a:round/>
            <a:headEnd/>
            <a:tailEnd/>
          </a:ln>
        </p:spPr>
        <p:txBody>
          <a:bodyPr anchor="ctr"/>
          <a:lstStyle>
            <a:lvl1pPr marL="185738" indent="-185738">
              <a:spcBef>
                <a:spcPct val="20000"/>
              </a:spcBef>
              <a:buClr>
                <a:srgbClr val="000099"/>
              </a:buClr>
              <a:buFont typeface="Wingdings" panose="05000000000000000000" pitchFamily="2" charset="2"/>
              <a:buChar char="ü"/>
              <a:defRPr sz="2800" b="1">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FontTx/>
              <a:buNone/>
            </a:pPr>
            <a:r>
              <a:rPr lang="es-ES" altLang="es-ES" sz="3200" b="0" dirty="0">
                <a:solidFill>
                  <a:schemeClr val="tx1"/>
                </a:solidFill>
                <a:latin typeface="Comic Sans MS" panose="030F0702030302020204" pitchFamily="66" charset="0"/>
                <a:cs typeface="Arial" panose="020B0604020202020204" pitchFamily="34" charset="0"/>
              </a:rPr>
              <a:t> </a:t>
            </a:r>
            <a:r>
              <a:rPr lang="es-ES" altLang="es-ES" i="1" u="sng" dirty="0">
                <a:solidFill>
                  <a:schemeClr val="tx1"/>
                </a:solidFill>
                <a:latin typeface="+mj-lt"/>
                <a:cs typeface="Arial" panose="020B0604020202020204" pitchFamily="34" charset="0"/>
              </a:rPr>
              <a:t>Finalidad de la ética en las profesiones</a:t>
            </a:r>
            <a:r>
              <a:rPr lang="es-ES" altLang="es-ES" i="1" dirty="0">
                <a:solidFill>
                  <a:schemeClr val="tx1"/>
                </a:solidFill>
                <a:latin typeface="+mj-lt"/>
                <a:cs typeface="Arial" panose="020B0604020202020204" pitchFamily="34" charset="0"/>
              </a:rPr>
              <a:t>:</a:t>
            </a:r>
          </a:p>
          <a:p>
            <a:pPr eaLnBrk="1" hangingPunct="1">
              <a:spcBef>
                <a:spcPct val="0"/>
              </a:spcBef>
              <a:buClrTx/>
              <a:buFontTx/>
              <a:buNone/>
            </a:pPr>
            <a:endParaRPr lang="es-ES" altLang="es-ES" i="1" dirty="0">
              <a:solidFill>
                <a:schemeClr val="tx1"/>
              </a:solidFill>
              <a:latin typeface="+mj-lt"/>
              <a:cs typeface="Arial" panose="020B0604020202020204" pitchFamily="34" charset="0"/>
            </a:endParaRPr>
          </a:p>
          <a:p>
            <a:pPr lvl="1" algn="ctr" eaLnBrk="1" hangingPunct="1">
              <a:spcBef>
                <a:spcPct val="0"/>
              </a:spcBef>
              <a:buClrTx/>
              <a:buFontTx/>
              <a:buNone/>
            </a:pPr>
            <a:r>
              <a:rPr lang="es-ES" altLang="es-ES" sz="2800" i="1" dirty="0">
                <a:latin typeface="+mj-lt"/>
                <a:cs typeface="Arial" panose="020B0604020202020204" pitchFamily="34" charset="0"/>
              </a:rPr>
              <a:t>Diseñar los valores, principios y procedimientos que, en los diferentes casos, deberán tener en cuenta los profesionales para tomar decisiones morales autónomas y racionales.</a:t>
            </a:r>
          </a:p>
        </p:txBody>
      </p:sp>
      <p:sp>
        <p:nvSpPr>
          <p:cNvPr id="19459" name="Rectangle 6"/>
          <p:cNvSpPr>
            <a:spLocks noGrp="1" noChangeArrowheads="1"/>
          </p:cNvSpPr>
          <p:nvPr>
            <p:ph type="title" idx="4294967295"/>
          </p:nvPr>
        </p:nvSpPr>
        <p:spPr>
          <a:xfrm>
            <a:off x="1524000" y="-22225"/>
            <a:ext cx="9144000" cy="519113"/>
          </a:xfrm>
        </p:spPr>
        <p:txBody>
          <a:bodyPr>
            <a:normAutofit fontScale="90000"/>
          </a:bodyPr>
          <a:lstStyle/>
          <a:p>
            <a:r>
              <a:rPr lang="es-ES" altLang="es-ES" b="1" dirty="0"/>
              <a:t>2.2 Ética del profesional: finalidad</a:t>
            </a:r>
            <a:endParaRPr lang="es-ES_tradnl" altLang="es-ES" b="1" dirty="0"/>
          </a:p>
        </p:txBody>
      </p:sp>
      <p:sp>
        <p:nvSpPr>
          <p:cNvPr id="19460" name="2 Rectángulo"/>
          <p:cNvSpPr>
            <a:spLocks noChangeArrowheads="1"/>
          </p:cNvSpPr>
          <p:nvPr/>
        </p:nvSpPr>
        <p:spPr bwMode="auto">
          <a:xfrm>
            <a:off x="1524000" y="4667250"/>
            <a:ext cx="89646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Font typeface="Wingdings" panose="05000000000000000000" pitchFamily="2" charset="2"/>
              <a:buChar char="ü"/>
              <a:defRPr sz="2800" b="1">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algn="ctr">
              <a:spcBef>
                <a:spcPct val="0"/>
              </a:spcBef>
              <a:buClrTx/>
              <a:buFontTx/>
              <a:buNone/>
            </a:pPr>
            <a:r>
              <a:rPr lang="es-ES" altLang="es-ES" sz="2400" b="0" dirty="0">
                <a:latin typeface="+mn-lt"/>
                <a:cs typeface="Arial" panose="020B0604020202020204" pitchFamily="34" charset="0"/>
              </a:rPr>
              <a:t>El Código </a:t>
            </a:r>
            <a:r>
              <a:rPr lang="es-ES" altLang="es-ES" sz="2400" dirty="0">
                <a:solidFill>
                  <a:srgbClr val="FF0000"/>
                </a:solidFill>
                <a:latin typeface="+mn-lt"/>
                <a:cs typeface="Arial" panose="020B0604020202020204" pitchFamily="34" charset="0"/>
              </a:rPr>
              <a:t>no es un algoritmo </a:t>
            </a:r>
            <a:r>
              <a:rPr lang="es-ES" altLang="es-ES" sz="2400" b="0" dirty="0">
                <a:latin typeface="+mn-lt"/>
                <a:cs typeface="Arial" panose="020B0604020202020204" pitchFamily="34" charset="0"/>
              </a:rPr>
              <a:t>para resolver problemas éticos; sino que sirve como un </a:t>
            </a:r>
            <a:r>
              <a:rPr lang="es-ES" altLang="es-ES" sz="2400" dirty="0">
                <a:latin typeface="+mn-lt"/>
                <a:cs typeface="Arial" panose="020B0604020202020204" pitchFamily="34" charset="0"/>
              </a:rPr>
              <a:t>punto de partida </a:t>
            </a:r>
            <a:r>
              <a:rPr lang="es-ES" altLang="es-ES" sz="2400" b="0" dirty="0">
                <a:latin typeface="+mn-lt"/>
                <a:cs typeface="Arial" panose="020B0604020202020204" pitchFamily="34" charset="0"/>
              </a:rPr>
              <a:t>para la toma de decisiones éticas. </a:t>
            </a:r>
          </a:p>
          <a:p>
            <a:pPr algn="ctr">
              <a:spcBef>
                <a:spcPct val="0"/>
              </a:spcBef>
              <a:buClrTx/>
              <a:buFontTx/>
              <a:buNone/>
            </a:pPr>
            <a:r>
              <a:rPr lang="es-ES" altLang="es-ES" sz="2400" b="0" dirty="0">
                <a:latin typeface="+mn-lt"/>
                <a:cs typeface="Arial" panose="020B0604020202020204" pitchFamily="34" charset="0"/>
              </a:rPr>
              <a:t>(ACM 2018)</a:t>
            </a:r>
          </a:p>
        </p:txBody>
      </p:sp>
    </p:spTree>
    <p:extLst>
      <p:ext uri="{BB962C8B-B14F-4D97-AF65-F5344CB8AC3E}">
        <p14:creationId xmlns:p14="http://schemas.microsoft.com/office/powerpoint/2010/main" val="1868224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6"/>
          <p:cNvSpPr>
            <a:spLocks noGrp="1" noChangeArrowheads="1"/>
          </p:cNvSpPr>
          <p:nvPr>
            <p:ph type="title" idx="4294967295"/>
          </p:nvPr>
        </p:nvSpPr>
        <p:spPr>
          <a:xfrm>
            <a:off x="711200" y="-26988"/>
            <a:ext cx="9956800" cy="522288"/>
          </a:xfrm>
        </p:spPr>
        <p:txBody>
          <a:bodyPr>
            <a:normAutofit fontScale="90000"/>
          </a:bodyPr>
          <a:lstStyle/>
          <a:p>
            <a:r>
              <a:rPr lang="es-ES_tradnl" altLang="es-ES" b="1" dirty="0"/>
              <a:t>2.2 </a:t>
            </a:r>
            <a:r>
              <a:rPr lang="es-ES_tradnl" altLang="es-ES" b="1" dirty="0" err="1"/>
              <a:t>Etica</a:t>
            </a:r>
            <a:r>
              <a:rPr lang="es-ES_tradnl" altLang="es-ES" b="1" dirty="0"/>
              <a:t> del profesional. Algunas teorías éticas para decidir</a:t>
            </a:r>
          </a:p>
        </p:txBody>
      </p:sp>
      <p:sp>
        <p:nvSpPr>
          <p:cNvPr id="59396" name="5 CuadroTexto"/>
          <p:cNvSpPr txBox="1">
            <a:spLocks noChangeArrowheads="1"/>
          </p:cNvSpPr>
          <p:nvPr/>
        </p:nvSpPr>
        <p:spPr bwMode="auto">
          <a:xfrm>
            <a:off x="327991" y="663577"/>
            <a:ext cx="11013109" cy="6407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rgbClr val="000099"/>
              </a:buClr>
              <a:buFont typeface="Wingdings" panose="05000000000000000000" pitchFamily="2" charset="2"/>
              <a:buChar char="ü"/>
              <a:defRPr sz="2800" b="1">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marL="514350" indent="-514350" eaLnBrk="0" fontAlgn="base" hangingPunct="0">
              <a:spcBef>
                <a:spcPct val="30000"/>
              </a:spcBef>
              <a:spcAft>
                <a:spcPct val="0"/>
              </a:spcAft>
              <a:buClrTx/>
              <a:buFont typeface="+mj-lt"/>
              <a:buAutoNum type="arabicPeriod"/>
              <a:defRPr/>
            </a:pPr>
            <a:endParaRPr lang="es-ES" altLang="es-ES" dirty="0">
              <a:latin typeface="Calibri" panose="020F0502020204030204" pitchFamily="34" charset="0"/>
              <a:ea typeface="Calibri" panose="020F0502020204030204" pitchFamily="34" charset="0"/>
              <a:cs typeface="Calibri" panose="020F0502020204030204" pitchFamily="34" charset="0"/>
            </a:endParaRPr>
          </a:p>
          <a:p>
            <a:pPr marL="514350" indent="-514350" eaLnBrk="0" fontAlgn="base" hangingPunct="0">
              <a:spcBef>
                <a:spcPct val="30000"/>
              </a:spcBef>
              <a:spcAft>
                <a:spcPct val="0"/>
              </a:spcAft>
              <a:buClrTx/>
              <a:buFont typeface="+mj-lt"/>
              <a:buAutoNum type="arabicPeriod"/>
              <a:defRPr/>
            </a:pPr>
            <a:r>
              <a:rPr lang="es-ES" altLang="es-ES" sz="3600" dirty="0" err="1">
                <a:solidFill>
                  <a:srgbClr val="8D1B77"/>
                </a:solidFill>
                <a:latin typeface="Calibri" panose="020F0502020204030204" pitchFamily="34" charset="0"/>
                <a:ea typeface="Calibri" panose="020F0502020204030204" pitchFamily="34" charset="0"/>
                <a:cs typeface="Calibri" panose="020F0502020204030204" pitchFamily="34" charset="0"/>
              </a:rPr>
              <a:t>Consecuencialista</a:t>
            </a:r>
            <a:r>
              <a:rPr lang="es-ES" altLang="es-ES" sz="3600" dirty="0">
                <a:solidFill>
                  <a:srgbClr val="8D1B77"/>
                </a:solidFill>
                <a:latin typeface="Calibri" panose="020F0502020204030204" pitchFamily="34" charset="0"/>
                <a:ea typeface="Calibri" panose="020F0502020204030204" pitchFamily="34" charset="0"/>
                <a:cs typeface="Calibri" panose="020F0502020204030204" pitchFamily="34" charset="0"/>
              </a:rPr>
              <a:t>/utilitarista</a:t>
            </a:r>
          </a:p>
          <a:p>
            <a:pPr marL="514350" indent="-514350" eaLnBrk="0" fontAlgn="base" hangingPunct="0">
              <a:spcBef>
                <a:spcPct val="30000"/>
              </a:spcBef>
              <a:spcAft>
                <a:spcPct val="0"/>
              </a:spcAft>
              <a:buClrTx/>
              <a:buFont typeface="+mj-lt"/>
              <a:buAutoNum type="arabicPeriod"/>
              <a:defRPr/>
            </a:pPr>
            <a:r>
              <a:rPr lang="es-ES" altLang="es-ES" sz="3600" dirty="0">
                <a:solidFill>
                  <a:srgbClr val="8D1B77"/>
                </a:solidFill>
                <a:latin typeface="Calibri" panose="020F0502020204030204" pitchFamily="34" charset="0"/>
                <a:ea typeface="Calibri" panose="020F0502020204030204" pitchFamily="34" charset="0"/>
                <a:cs typeface="Calibri" panose="020F0502020204030204" pitchFamily="34" charset="0"/>
              </a:rPr>
              <a:t>Ética de la justicia</a:t>
            </a:r>
          </a:p>
          <a:p>
            <a:pPr marL="514350" indent="-514350" eaLnBrk="0" fontAlgn="base" hangingPunct="0">
              <a:spcBef>
                <a:spcPct val="30000"/>
              </a:spcBef>
              <a:spcAft>
                <a:spcPct val="0"/>
              </a:spcAft>
              <a:buClrTx/>
              <a:buFont typeface="+mj-lt"/>
              <a:buAutoNum type="arabicPeriod"/>
              <a:defRPr/>
            </a:pPr>
            <a:r>
              <a:rPr lang="es-ES" altLang="es-ES" sz="3600" dirty="0">
                <a:solidFill>
                  <a:srgbClr val="8D1B77"/>
                </a:solidFill>
                <a:latin typeface="Calibri" panose="020F0502020204030204" pitchFamily="34" charset="0"/>
                <a:ea typeface="Calibri" panose="020F0502020204030204" pitchFamily="34" charset="0"/>
                <a:cs typeface="Calibri" panose="020F0502020204030204" pitchFamily="34" charset="0"/>
              </a:rPr>
              <a:t>Ética del deber racional o deontológica</a:t>
            </a:r>
          </a:p>
          <a:p>
            <a:pPr marL="514350" indent="-514350" eaLnBrk="0" fontAlgn="base" hangingPunct="0">
              <a:spcBef>
                <a:spcPct val="30000"/>
              </a:spcBef>
              <a:spcAft>
                <a:spcPct val="0"/>
              </a:spcAft>
              <a:buClrTx/>
              <a:buFont typeface="+mj-lt"/>
              <a:buAutoNum type="arabicPeriod"/>
              <a:defRPr/>
            </a:pPr>
            <a:r>
              <a:rPr lang="es-ES" altLang="es-ES" sz="3600" dirty="0">
                <a:solidFill>
                  <a:srgbClr val="8D1B77"/>
                </a:solidFill>
                <a:latin typeface="Calibri" panose="020F0502020204030204" pitchFamily="34" charset="0"/>
                <a:ea typeface="Calibri" panose="020F0502020204030204" pitchFamily="34" charset="0"/>
                <a:cs typeface="Calibri" panose="020F0502020204030204" pitchFamily="34" charset="0"/>
              </a:rPr>
              <a:t>Ética dialógica</a:t>
            </a:r>
          </a:p>
          <a:p>
            <a:pPr marL="514350" indent="-514350" eaLnBrk="0" fontAlgn="base" hangingPunct="0">
              <a:spcBef>
                <a:spcPct val="30000"/>
              </a:spcBef>
              <a:spcAft>
                <a:spcPct val="0"/>
              </a:spcAft>
              <a:buClrTx/>
              <a:buFont typeface="+mj-lt"/>
              <a:buAutoNum type="arabicPeriod"/>
              <a:defRPr/>
            </a:pPr>
            <a:r>
              <a:rPr lang="es-ES" altLang="es-ES" sz="3600" dirty="0">
                <a:solidFill>
                  <a:srgbClr val="8D1B77"/>
                </a:solidFill>
                <a:latin typeface="Calibri" panose="020F0502020204030204" pitchFamily="34" charset="0"/>
                <a:ea typeface="Calibri" panose="020F0502020204030204" pitchFamily="34" charset="0"/>
                <a:cs typeface="Calibri" panose="020F0502020204030204" pitchFamily="34" charset="0"/>
              </a:rPr>
              <a:t>Ética de la virtud</a:t>
            </a:r>
          </a:p>
          <a:p>
            <a:pPr marL="514350" indent="-514350" eaLnBrk="0" fontAlgn="base" hangingPunct="0">
              <a:spcBef>
                <a:spcPct val="30000"/>
              </a:spcBef>
              <a:spcAft>
                <a:spcPct val="0"/>
              </a:spcAft>
              <a:buClrTx/>
              <a:buFont typeface="+mj-lt"/>
              <a:buAutoNum type="arabicPeriod"/>
              <a:defRPr/>
            </a:pPr>
            <a:r>
              <a:rPr lang="es-ES" altLang="es-ES" sz="3600" dirty="0">
                <a:solidFill>
                  <a:srgbClr val="8D1B77"/>
                </a:solidFill>
                <a:latin typeface="Calibri" panose="020F0502020204030204" pitchFamily="34" charset="0"/>
                <a:ea typeface="Calibri" panose="020F0502020204030204" pitchFamily="34" charset="0"/>
                <a:cs typeface="Calibri" panose="020F0502020204030204" pitchFamily="34" charset="0"/>
              </a:rPr>
              <a:t>Ética del cuidado </a:t>
            </a:r>
          </a:p>
          <a:p>
            <a:pPr marL="514350" indent="-514350" eaLnBrk="0" fontAlgn="base" hangingPunct="0">
              <a:spcBef>
                <a:spcPct val="30000"/>
              </a:spcBef>
              <a:spcAft>
                <a:spcPct val="0"/>
              </a:spcAft>
              <a:buClrTx/>
              <a:buFont typeface="+mj-lt"/>
              <a:buAutoNum type="arabicPeriod"/>
              <a:defRPr/>
            </a:pPr>
            <a:endParaRPr lang="es-ES" altLang="es-ES" dirty="0">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30000"/>
              </a:spcBef>
              <a:spcAft>
                <a:spcPct val="0"/>
              </a:spcAft>
              <a:buClrTx/>
              <a:buNone/>
              <a:defRPr/>
            </a:pPr>
            <a:r>
              <a:rPr lang="es-ES" altLang="es-ES" dirty="0">
                <a:latin typeface="Calibri" panose="020F0502020204030204" pitchFamily="34" charset="0"/>
                <a:ea typeface="Calibri" panose="020F0502020204030204" pitchFamily="34" charset="0"/>
                <a:cs typeface="Calibri" panose="020F0502020204030204" pitchFamily="34" charset="0"/>
              </a:rPr>
              <a:t> </a:t>
            </a:r>
          </a:p>
          <a:p>
            <a:pPr>
              <a:defRPr/>
            </a:pPr>
            <a:endParaRPr lang="es-ES" altLang="es-ES" sz="2400" dirty="0"/>
          </a:p>
        </p:txBody>
      </p:sp>
    </p:spTree>
    <p:extLst>
      <p:ext uri="{BB962C8B-B14F-4D97-AF65-F5344CB8AC3E}">
        <p14:creationId xmlns:p14="http://schemas.microsoft.com/office/powerpoint/2010/main" val="2227629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br>
              <a:rPr lang="es-ES" altLang="es-ES" dirty="0">
                <a:cs typeface="Arial" panose="020B0604020202020204" pitchFamily="34" charset="0"/>
              </a:rPr>
            </a:br>
            <a:r>
              <a:rPr lang="es-ES" altLang="es-ES" b="1" dirty="0">
                <a:cs typeface="Arial" panose="020B0604020202020204" pitchFamily="34" charset="0"/>
              </a:rPr>
              <a:t>2.2.1 Ética </a:t>
            </a:r>
            <a:r>
              <a:rPr lang="es-ES" altLang="es-ES" b="1" dirty="0" err="1">
                <a:cs typeface="Arial" panose="020B0604020202020204" pitchFamily="34" charset="0"/>
              </a:rPr>
              <a:t>consecuencialista</a:t>
            </a:r>
            <a:r>
              <a:rPr lang="es-ES" altLang="es-ES" b="1" dirty="0">
                <a:cs typeface="Arial" panose="020B0604020202020204" pitchFamily="34" charset="0"/>
              </a:rPr>
              <a:t>/utilitarista </a:t>
            </a:r>
            <a:br>
              <a:rPr lang="es-ES" altLang="es-ES" dirty="0">
                <a:solidFill>
                  <a:srgbClr val="CC0066"/>
                </a:solidFill>
                <a:cs typeface="Arial" panose="020B0604020202020204" pitchFamily="34" charset="0"/>
              </a:rPr>
            </a:br>
            <a:endParaRPr lang="es-ES" dirty="0"/>
          </a:p>
        </p:txBody>
      </p:sp>
      <p:sp>
        <p:nvSpPr>
          <p:cNvPr id="3" name="Marcador de contenido 2"/>
          <p:cNvSpPr>
            <a:spLocks noGrp="1"/>
          </p:cNvSpPr>
          <p:nvPr>
            <p:ph idx="1"/>
          </p:nvPr>
        </p:nvSpPr>
        <p:spPr>
          <a:xfrm>
            <a:off x="508000" y="681644"/>
            <a:ext cx="11595330" cy="5702531"/>
          </a:xfrm>
        </p:spPr>
        <p:txBody>
          <a:bodyPr/>
          <a:lstStyle/>
          <a:p>
            <a:pPr eaLnBrk="0" fontAlgn="base" hangingPunct="0">
              <a:spcBef>
                <a:spcPct val="30000"/>
              </a:spcBef>
              <a:spcAft>
                <a:spcPct val="0"/>
              </a:spcAft>
              <a:defRPr/>
            </a:pPr>
            <a:r>
              <a:rPr lang="es-ES" altLang="es-ES" b="1" dirty="0" err="1">
                <a:solidFill>
                  <a:srgbClr val="CC3399"/>
                </a:solidFill>
              </a:rPr>
              <a:t>Mill</a:t>
            </a:r>
            <a:r>
              <a:rPr lang="es-ES" altLang="es-ES" b="1" dirty="0">
                <a:solidFill>
                  <a:srgbClr val="CC3399"/>
                </a:solidFill>
              </a:rPr>
              <a:t>, </a:t>
            </a:r>
            <a:r>
              <a:rPr lang="es-ES" altLang="es-ES" b="1" dirty="0" err="1">
                <a:solidFill>
                  <a:srgbClr val="CC3399"/>
                </a:solidFill>
              </a:rPr>
              <a:t>Benthan</a:t>
            </a:r>
            <a:endParaRPr lang="es-ES" altLang="es-ES" b="1" dirty="0">
              <a:solidFill>
                <a:srgbClr val="CC3399"/>
              </a:solidFill>
            </a:endParaRPr>
          </a:p>
          <a:p>
            <a:pPr eaLnBrk="0" fontAlgn="base" hangingPunct="0">
              <a:spcBef>
                <a:spcPct val="30000"/>
              </a:spcBef>
              <a:spcAft>
                <a:spcPct val="0"/>
              </a:spcAft>
              <a:defRPr/>
            </a:pPr>
            <a:endParaRPr lang="es-ES" altLang="es-ES" dirty="0"/>
          </a:p>
          <a:p>
            <a:pPr eaLnBrk="0" fontAlgn="base" hangingPunct="0">
              <a:spcBef>
                <a:spcPct val="30000"/>
              </a:spcBef>
              <a:spcAft>
                <a:spcPct val="0"/>
              </a:spcAft>
              <a:defRPr/>
            </a:pPr>
            <a:r>
              <a:rPr lang="es-ES" altLang="es-ES" dirty="0"/>
              <a:t>Es el enfoque más utilizado en el mundo empresarial. Su objetivo es encontrar la solución que produzca un mayor beneficio para mayor número de afectados </a:t>
            </a:r>
            <a:endParaRPr lang="es-ES" dirty="0"/>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8</a:t>
            </a:fld>
            <a:endParaRPr lang="es-ES" dirty="0"/>
          </a:p>
        </p:txBody>
      </p:sp>
    </p:spTree>
    <p:extLst>
      <p:ext uri="{BB962C8B-B14F-4D97-AF65-F5344CB8AC3E}">
        <p14:creationId xmlns:p14="http://schemas.microsoft.com/office/powerpoint/2010/main" val="1933336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2.2.2 </a:t>
            </a:r>
            <a:r>
              <a:rPr lang="es-ES" b="1" dirty="0" err="1"/>
              <a:t>Etica</a:t>
            </a:r>
            <a:r>
              <a:rPr lang="es-ES" b="1" dirty="0"/>
              <a:t> de la justicia</a:t>
            </a:r>
          </a:p>
        </p:txBody>
      </p:sp>
      <p:sp>
        <p:nvSpPr>
          <p:cNvPr id="3" name="Marcador de contenido 2"/>
          <p:cNvSpPr>
            <a:spLocks noGrp="1"/>
          </p:cNvSpPr>
          <p:nvPr>
            <p:ph idx="1"/>
          </p:nvPr>
        </p:nvSpPr>
        <p:spPr/>
        <p:txBody>
          <a:bodyPr/>
          <a:lstStyle/>
          <a:p>
            <a:r>
              <a:rPr lang="es-ES" altLang="es-ES" b="1" dirty="0" err="1">
                <a:solidFill>
                  <a:srgbClr val="CC3399"/>
                </a:solidFill>
                <a:latin typeface="Arial" panose="020B0604020202020204" pitchFamily="34" charset="0"/>
              </a:rPr>
              <a:t>Rawls</a:t>
            </a:r>
            <a:endParaRPr lang="es-ES" altLang="es-ES" b="1" dirty="0">
              <a:solidFill>
                <a:srgbClr val="CC3399"/>
              </a:solidFill>
              <a:latin typeface="Arial" panose="020B0604020202020204" pitchFamily="34" charset="0"/>
            </a:endParaRPr>
          </a:p>
          <a:p>
            <a:endParaRPr lang="es-ES" altLang="es-ES" dirty="0">
              <a:latin typeface="Arial" panose="020B0604020202020204" pitchFamily="34" charset="0"/>
            </a:endParaRPr>
          </a:p>
          <a:p>
            <a:endParaRPr lang="es-ES" altLang="es-ES" dirty="0">
              <a:latin typeface="Arial" panose="020B0604020202020204" pitchFamily="34" charset="0"/>
            </a:endParaRPr>
          </a:p>
          <a:p>
            <a:r>
              <a:rPr lang="es-ES" altLang="es-ES" dirty="0"/>
              <a:t>Para superar las posibles limitaciones del utilitarismo, </a:t>
            </a:r>
            <a:r>
              <a:rPr lang="es-ES" altLang="es-ES" b="1" dirty="0" err="1"/>
              <a:t>Rawls</a:t>
            </a:r>
            <a:r>
              <a:rPr lang="es-ES" altLang="es-ES" b="1" dirty="0"/>
              <a:t> </a:t>
            </a:r>
            <a:r>
              <a:rPr lang="es-ES" altLang="es-ES" dirty="0"/>
              <a:t>propone la </a:t>
            </a:r>
            <a:r>
              <a:rPr lang="es-ES" altLang="es-ES" b="1" dirty="0"/>
              <a:t>ética de la justicia</a:t>
            </a:r>
            <a:r>
              <a:rPr lang="es-ES" altLang="es-ES" dirty="0"/>
              <a:t>, un contrato social mediante el que las personas deben establecer las condiciones en que están dispuestos a vivir en sociedad. </a:t>
            </a:r>
          </a:p>
          <a:p>
            <a:endParaRPr lang="es-ES" dirty="0"/>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9</a:t>
            </a:fld>
            <a:endParaRPr lang="es-ES" dirty="0"/>
          </a:p>
        </p:txBody>
      </p:sp>
    </p:spTree>
    <p:extLst>
      <p:ext uri="{BB962C8B-B14F-4D97-AF65-F5344CB8AC3E}">
        <p14:creationId xmlns:p14="http://schemas.microsoft.com/office/powerpoint/2010/main" val="1210841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br>
              <a:rPr lang="es-ES" altLang="es-ES" b="1" dirty="0">
                <a:cs typeface="Arial" panose="020B0604020202020204" pitchFamily="34" charset="0"/>
              </a:rPr>
            </a:br>
            <a:r>
              <a:rPr lang="es-ES" altLang="es-ES" b="1" dirty="0">
                <a:cs typeface="Arial" panose="020B0604020202020204" pitchFamily="34" charset="0"/>
              </a:rPr>
              <a:t>2.2.3 Ética deontológica/deber racional</a:t>
            </a:r>
            <a:br>
              <a:rPr lang="es-ES" altLang="es-ES" b="1" dirty="0">
                <a:solidFill>
                  <a:srgbClr val="CC0066"/>
                </a:solidFill>
                <a:cs typeface="Arial" panose="020B0604020202020204" pitchFamily="34" charset="0"/>
              </a:rPr>
            </a:br>
            <a:endParaRPr lang="es-ES" dirty="0"/>
          </a:p>
        </p:txBody>
      </p:sp>
      <p:sp>
        <p:nvSpPr>
          <p:cNvPr id="3" name="Marcador de contenido 2"/>
          <p:cNvSpPr>
            <a:spLocks noGrp="1"/>
          </p:cNvSpPr>
          <p:nvPr>
            <p:ph idx="1"/>
          </p:nvPr>
        </p:nvSpPr>
        <p:spPr/>
        <p:txBody>
          <a:bodyPr/>
          <a:lstStyle/>
          <a:p>
            <a:pPr>
              <a:spcAft>
                <a:spcPts val="1200"/>
              </a:spcAft>
            </a:pPr>
            <a:r>
              <a:rPr lang="es-ES" altLang="es-ES" b="1" dirty="0">
                <a:solidFill>
                  <a:srgbClr val="CC0066"/>
                </a:solidFill>
                <a:cs typeface="Arial" panose="020B0604020202020204" pitchFamily="34" charset="0"/>
              </a:rPr>
              <a:t>Kant</a:t>
            </a:r>
          </a:p>
          <a:p>
            <a:pPr lvl="1"/>
            <a:endParaRPr lang="es-ES" altLang="es-ES" sz="2800" dirty="0">
              <a:cs typeface="Arial" panose="020B0604020202020204" pitchFamily="34" charset="0"/>
            </a:endParaRPr>
          </a:p>
          <a:p>
            <a:pPr lvl="1"/>
            <a:r>
              <a:rPr lang="es-ES" altLang="es-ES" sz="2800" dirty="0">
                <a:cs typeface="Arial" panose="020B0604020202020204" pitchFamily="34" charset="0"/>
              </a:rPr>
              <a:t>La corrección de una acción se basa en que se ajuste a unos principios y normas universales.  </a:t>
            </a:r>
          </a:p>
          <a:p>
            <a:pPr lvl="1"/>
            <a:r>
              <a:rPr lang="es-ES" altLang="es-ES" sz="2800" dirty="0"/>
              <a:t>Pone el foco no en las consecuencias, sino en ciertos principios y normas a los que se llega a través del uso de la razón. Este enfoque parte de que la razón que compartimos nos hace personas, con dignidad propia. Debemos hacernos tres preguntas:</a:t>
            </a:r>
          </a:p>
          <a:p>
            <a:pPr marL="1371600" lvl="2" indent="-457200">
              <a:buAutoNum type="alphaLcParenR"/>
            </a:pPr>
            <a:r>
              <a:rPr lang="es-ES" altLang="es-ES" sz="2400" dirty="0"/>
              <a:t>es nuestra acción </a:t>
            </a:r>
            <a:r>
              <a:rPr lang="es-ES" altLang="es-ES" sz="2400" dirty="0" err="1"/>
              <a:t>universalizable</a:t>
            </a:r>
            <a:endParaRPr lang="es-ES" altLang="es-ES" sz="2400" dirty="0"/>
          </a:p>
          <a:p>
            <a:pPr marL="1371600" lvl="2" indent="-457200">
              <a:buAutoNum type="alphaLcParenR"/>
            </a:pPr>
            <a:r>
              <a:rPr lang="es-ES" altLang="es-ES" sz="2400" dirty="0"/>
              <a:t>nos sentiríamos cómodos haciendo pública nuestra decisión-acción </a:t>
            </a:r>
          </a:p>
          <a:p>
            <a:pPr marL="1371600" lvl="2" indent="-457200">
              <a:buAutoNum type="alphaLcParenR"/>
            </a:pPr>
            <a:r>
              <a:rPr lang="es-ES" altLang="es-ES" sz="2400" dirty="0"/>
              <a:t>estamos tratando a los demás como fines en sí mismos, y no sólo como medios</a:t>
            </a:r>
          </a:p>
          <a:p>
            <a:pPr marL="457200" lvl="1" indent="0">
              <a:buNone/>
            </a:pPr>
            <a:r>
              <a:rPr lang="es-ES" altLang="es-ES" dirty="0">
                <a:cs typeface="Arial" panose="020B0604020202020204" pitchFamily="34" charset="0"/>
              </a:rPr>
              <a:t> </a:t>
            </a:r>
          </a:p>
          <a:p>
            <a:endParaRPr lang="es-ES" dirty="0"/>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10</a:t>
            </a:fld>
            <a:endParaRPr lang="es-ES" dirty="0"/>
          </a:p>
        </p:txBody>
      </p:sp>
    </p:spTree>
    <p:extLst>
      <p:ext uri="{BB962C8B-B14F-4D97-AF65-F5344CB8AC3E}">
        <p14:creationId xmlns:p14="http://schemas.microsoft.com/office/powerpoint/2010/main" val="274214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spcAft>
                <a:spcPts val="1200"/>
              </a:spcAft>
            </a:pPr>
            <a:r>
              <a:rPr lang="es-ES" altLang="es-ES" b="1" dirty="0">
                <a:cs typeface="Arial" panose="020B0604020202020204" pitchFamily="34" charset="0"/>
              </a:rPr>
              <a:t>2.2.4 Ética dialógica</a:t>
            </a:r>
          </a:p>
        </p:txBody>
      </p:sp>
      <p:sp>
        <p:nvSpPr>
          <p:cNvPr id="3" name="Marcador de contenido 2"/>
          <p:cNvSpPr>
            <a:spLocks noGrp="1"/>
          </p:cNvSpPr>
          <p:nvPr>
            <p:ph idx="1"/>
          </p:nvPr>
        </p:nvSpPr>
        <p:spPr/>
        <p:txBody>
          <a:bodyPr/>
          <a:lstStyle/>
          <a:p>
            <a:pPr>
              <a:spcBef>
                <a:spcPct val="0"/>
              </a:spcBef>
              <a:spcAft>
                <a:spcPts val="1200"/>
              </a:spcAft>
              <a:buClrTx/>
            </a:pPr>
            <a:r>
              <a:rPr lang="es-ES" altLang="es-ES" b="1" dirty="0" err="1">
                <a:solidFill>
                  <a:srgbClr val="CC0066"/>
                </a:solidFill>
                <a:cs typeface="Arial" panose="020B0604020202020204" pitchFamily="34" charset="0"/>
              </a:rPr>
              <a:t>Habermas</a:t>
            </a:r>
            <a:endParaRPr lang="es-ES" altLang="es-ES" b="1" dirty="0">
              <a:solidFill>
                <a:srgbClr val="CC0066"/>
              </a:solidFill>
              <a:cs typeface="Arial" panose="020B0604020202020204" pitchFamily="34" charset="0"/>
            </a:endParaRPr>
          </a:p>
          <a:p>
            <a:pPr>
              <a:spcBef>
                <a:spcPct val="0"/>
              </a:spcBef>
              <a:spcAft>
                <a:spcPts val="1200"/>
              </a:spcAft>
              <a:buClrTx/>
            </a:pPr>
            <a:endParaRPr lang="es-ES" altLang="es-ES" b="1" dirty="0">
              <a:solidFill>
                <a:srgbClr val="CC0066"/>
              </a:solidFill>
              <a:cs typeface="Arial" panose="020B0604020202020204" pitchFamily="34" charset="0"/>
            </a:endParaRPr>
          </a:p>
          <a:p>
            <a:pPr lvl="1">
              <a:spcBef>
                <a:spcPct val="0"/>
              </a:spcBef>
            </a:pPr>
            <a:r>
              <a:rPr lang="es-ES" altLang="es-ES" sz="2800" dirty="0">
                <a:cs typeface="Arial" panose="020B0604020202020204" pitchFamily="34" charset="0"/>
              </a:rPr>
              <a:t>La corrección de una acción se basa en el diálogo, argumentación y participación de todas las partes afectadas por ella.  </a:t>
            </a:r>
          </a:p>
          <a:p>
            <a:pPr lvl="1">
              <a:spcBef>
                <a:spcPct val="0"/>
              </a:spcBef>
            </a:pPr>
            <a:endParaRPr lang="es-ES" altLang="es-ES" sz="2800" dirty="0">
              <a:cs typeface="Arial" panose="020B0604020202020204" pitchFamily="34" charset="0"/>
              <a:hlinkClick r:id="rId3"/>
            </a:endParaRPr>
          </a:p>
          <a:p>
            <a:endParaRPr lang="es-ES" dirty="0"/>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11</a:t>
            </a:fld>
            <a:endParaRPr lang="es-ES" dirty="0"/>
          </a:p>
        </p:txBody>
      </p:sp>
    </p:spTree>
    <p:extLst>
      <p:ext uri="{BB962C8B-B14F-4D97-AF65-F5344CB8AC3E}">
        <p14:creationId xmlns:p14="http://schemas.microsoft.com/office/powerpoint/2010/main" val="278031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spcAft>
                <a:spcPts val="1200"/>
              </a:spcAft>
            </a:pPr>
            <a:r>
              <a:rPr lang="es-ES" altLang="es-ES" b="1" dirty="0">
                <a:cs typeface="Arial" panose="020B0604020202020204" pitchFamily="34" charset="0"/>
              </a:rPr>
              <a:t>2.2.5 Ética de la virtud</a:t>
            </a:r>
          </a:p>
        </p:txBody>
      </p:sp>
      <p:sp>
        <p:nvSpPr>
          <p:cNvPr id="3" name="Marcador de contenido 2"/>
          <p:cNvSpPr>
            <a:spLocks noGrp="1"/>
          </p:cNvSpPr>
          <p:nvPr>
            <p:ph idx="1"/>
          </p:nvPr>
        </p:nvSpPr>
        <p:spPr/>
        <p:txBody>
          <a:bodyPr/>
          <a:lstStyle/>
          <a:p>
            <a:pPr>
              <a:spcBef>
                <a:spcPct val="0"/>
              </a:spcBef>
              <a:spcAft>
                <a:spcPts val="1200"/>
              </a:spcAft>
            </a:pPr>
            <a:r>
              <a:rPr lang="es-ES" altLang="es-ES" sz="2400" b="1" dirty="0">
                <a:solidFill>
                  <a:srgbClr val="CC0066"/>
                </a:solidFill>
                <a:cs typeface="Arial" panose="020B0604020202020204" pitchFamily="34" charset="0"/>
              </a:rPr>
              <a:t>Aristóteles</a:t>
            </a:r>
          </a:p>
          <a:p>
            <a:pPr>
              <a:spcBef>
                <a:spcPct val="0"/>
              </a:spcBef>
              <a:spcAft>
                <a:spcPts val="1200"/>
              </a:spcAft>
            </a:pPr>
            <a:endParaRPr lang="es-ES" altLang="es-ES" sz="2400" b="1" dirty="0">
              <a:solidFill>
                <a:srgbClr val="CC0066"/>
              </a:solidFill>
              <a:cs typeface="Arial" panose="020B0604020202020204" pitchFamily="34" charset="0"/>
            </a:endParaRPr>
          </a:p>
          <a:p>
            <a:pPr lvl="1">
              <a:spcBef>
                <a:spcPct val="0"/>
              </a:spcBef>
            </a:pPr>
            <a:r>
              <a:rPr lang="es-ES" altLang="es-ES" sz="2800" dirty="0">
                <a:cs typeface="Arial" panose="020B0604020202020204" pitchFamily="34" charset="0"/>
              </a:rPr>
              <a:t>La corrección de una acción se basa en la coherencia con los rasgos y virtudes que considera éticos la persona/agente que decide</a:t>
            </a:r>
          </a:p>
          <a:p>
            <a:pPr lvl="1">
              <a:spcBef>
                <a:spcPct val="0"/>
              </a:spcBef>
            </a:pPr>
            <a:r>
              <a:rPr lang="es-ES" altLang="es-ES" sz="2800" dirty="0">
                <a:cs typeface="Arial" panose="020B0604020202020204" pitchFamily="34" charset="0"/>
              </a:rPr>
              <a:t>También, y en muchas ocasiones en función de lo que “se espera”, de ese agente en la sociedad que realiza la acción.</a:t>
            </a:r>
          </a:p>
          <a:p>
            <a:endParaRPr lang="es-ES" dirty="0"/>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12</a:t>
            </a:fld>
            <a:endParaRPr lang="es-ES" dirty="0"/>
          </a:p>
        </p:txBody>
      </p:sp>
    </p:spTree>
    <p:extLst>
      <p:ext uri="{BB962C8B-B14F-4D97-AF65-F5344CB8AC3E}">
        <p14:creationId xmlns:p14="http://schemas.microsoft.com/office/powerpoint/2010/main" val="3993597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cs typeface="Arial" panose="020B0604020202020204" pitchFamily="34" charset="0"/>
              </a:rPr>
              <a:t>2.2.6 Ética del cuidado</a:t>
            </a:r>
            <a:endParaRPr lang="es-ES" dirty="0"/>
          </a:p>
        </p:txBody>
      </p:sp>
      <p:sp>
        <p:nvSpPr>
          <p:cNvPr id="3" name="Marcador de contenido 2"/>
          <p:cNvSpPr>
            <a:spLocks noGrp="1"/>
          </p:cNvSpPr>
          <p:nvPr>
            <p:ph idx="1"/>
          </p:nvPr>
        </p:nvSpPr>
        <p:spPr/>
        <p:txBody>
          <a:bodyPr/>
          <a:lstStyle/>
          <a:p>
            <a:pPr marL="228600" lvl="1">
              <a:spcBef>
                <a:spcPts val="1000"/>
              </a:spcBef>
            </a:pPr>
            <a:r>
              <a:rPr lang="es-ES" sz="2800" b="1" dirty="0" err="1">
                <a:solidFill>
                  <a:srgbClr val="CC0066"/>
                </a:solidFill>
                <a:latin typeface="Calibri" panose="020F0502020204030204" pitchFamily="34" charset="0"/>
                <a:ea typeface="Calibri" panose="020F0502020204030204" pitchFamily="34" charset="0"/>
                <a:cs typeface="Calibri" panose="020F0502020204030204" pitchFamily="34" charset="0"/>
              </a:rPr>
              <a:t>Guilligan</a:t>
            </a:r>
            <a:r>
              <a:rPr lang="es-ES" sz="2800" b="1" dirty="0">
                <a:solidFill>
                  <a:srgbClr val="CC0066"/>
                </a:solidFill>
                <a:latin typeface="Calibri" panose="020F0502020204030204" pitchFamily="34" charset="0"/>
                <a:ea typeface="Calibri" panose="020F0502020204030204" pitchFamily="34" charset="0"/>
                <a:cs typeface="Calibri" panose="020F0502020204030204" pitchFamily="34" charset="0"/>
              </a:rPr>
              <a:t>, 1982</a:t>
            </a:r>
            <a:endParaRPr lang="es-ES" sz="2800" b="1" dirty="0">
              <a:latin typeface="Calibri" panose="020F0502020204030204" pitchFamily="34" charset="0"/>
              <a:ea typeface="Calibri" panose="020F0502020204030204" pitchFamily="34" charset="0"/>
              <a:cs typeface="Calibri" panose="020F0502020204030204" pitchFamily="34" charset="0"/>
            </a:endParaRPr>
          </a:p>
          <a:p>
            <a:pPr marL="228600" lvl="1">
              <a:spcBef>
                <a:spcPts val="1000"/>
              </a:spcBef>
            </a:pPr>
            <a:endParaRPr lang="es-ES" sz="2800" b="1" dirty="0">
              <a:latin typeface="Calibri" panose="020F0502020204030204" pitchFamily="34" charset="0"/>
              <a:ea typeface="Calibri" panose="020F0502020204030204" pitchFamily="34" charset="0"/>
              <a:cs typeface="Calibri" panose="020F0502020204030204" pitchFamily="34" charset="0"/>
            </a:endParaRPr>
          </a:p>
          <a:p>
            <a:pPr marL="228600" lvl="1">
              <a:spcBef>
                <a:spcPts val="1000"/>
              </a:spcBef>
            </a:pPr>
            <a:r>
              <a:rPr lang="es-ES" sz="2800" dirty="0">
                <a:latin typeface="Calibri" panose="020F0502020204030204" pitchFamily="34" charset="0"/>
                <a:ea typeface="Calibri" panose="020F0502020204030204" pitchFamily="34" charset="0"/>
                <a:cs typeface="Calibri" panose="020F0502020204030204" pitchFamily="34" charset="0"/>
              </a:rPr>
              <a:t>Intenta incorporar la experiencia femenina en la teoría moral y propone una ética del cuidado que ponga el énfasis en las cuestiones de afecto y cuidado entre los seres humanos</a:t>
            </a:r>
          </a:p>
          <a:p>
            <a:pPr marL="228600" lvl="1">
              <a:spcBef>
                <a:spcPts val="1000"/>
              </a:spcBef>
            </a:pPr>
            <a:endParaRPr lang="es-ES" altLang="es-ES" sz="2800" dirty="0">
              <a:latin typeface="Calibri" panose="020F0502020204030204" pitchFamily="34" charset="0"/>
              <a:ea typeface="Calibri" panose="020F0502020204030204" pitchFamily="34" charset="0"/>
              <a:cs typeface="Calibri" panose="020F0502020204030204" pitchFamily="34" charset="0"/>
            </a:endParaRPr>
          </a:p>
          <a:p>
            <a:pPr marL="228600" lvl="1">
              <a:spcBef>
                <a:spcPts val="1000"/>
              </a:spcBef>
            </a:pPr>
            <a:endParaRPr lang="es-ES" altLang="es-ES" sz="2800" dirty="0">
              <a:latin typeface="Calibri" panose="020F0502020204030204" pitchFamily="34" charset="0"/>
              <a:ea typeface="Calibri" panose="020F0502020204030204" pitchFamily="34" charset="0"/>
              <a:cs typeface="Calibri" panose="020F0502020204030204" pitchFamily="34" charset="0"/>
            </a:endParaRPr>
          </a:p>
          <a:p>
            <a:pPr marL="228600" lvl="1">
              <a:spcBef>
                <a:spcPts val="1000"/>
              </a:spcBef>
            </a:pPr>
            <a:r>
              <a:rPr lang="es-ES" altLang="es-ES" sz="2800" dirty="0">
                <a:latin typeface="Calibri" panose="020F0502020204030204" pitchFamily="34" charset="0"/>
                <a:ea typeface="Calibri" panose="020F0502020204030204" pitchFamily="34" charset="0"/>
                <a:cs typeface="Calibri" panose="020F0502020204030204" pitchFamily="34" charset="0"/>
                <a:hlinkClick r:id="rId3"/>
              </a:rPr>
              <a:t>https://www.youtube.com/watch?v=4iaCpAFypq8</a:t>
            </a:r>
            <a:endParaRPr lang="es-ES" altLang="es-ES" sz="2800" dirty="0">
              <a:latin typeface="Calibri" panose="020F0502020204030204" pitchFamily="34" charset="0"/>
              <a:ea typeface="Calibri" panose="020F0502020204030204" pitchFamily="34" charset="0"/>
              <a:cs typeface="Calibri" panose="020F0502020204030204" pitchFamily="34" charset="0"/>
            </a:endParaRPr>
          </a:p>
          <a:p>
            <a:pPr marL="228600" lvl="1">
              <a:spcBef>
                <a:spcPts val="1000"/>
              </a:spcBef>
            </a:pPr>
            <a:endParaRPr lang="es-ES" altLang="es-ES" sz="2800" dirty="0">
              <a:latin typeface="Calibri" panose="020F0502020204030204" pitchFamily="34" charset="0"/>
              <a:ea typeface="Calibri" panose="020F0502020204030204" pitchFamily="34" charset="0"/>
              <a:cs typeface="Calibri" panose="020F0502020204030204" pitchFamily="34" charset="0"/>
            </a:endParaRPr>
          </a:p>
          <a:p>
            <a:endParaRPr lang="es-ES" dirty="0"/>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13</a:t>
            </a:fld>
            <a:endParaRPr lang="es-ES" dirty="0"/>
          </a:p>
        </p:txBody>
      </p:sp>
    </p:spTree>
    <p:extLst>
      <p:ext uri="{BB962C8B-B14F-4D97-AF65-F5344CB8AC3E}">
        <p14:creationId xmlns:p14="http://schemas.microsoft.com/office/powerpoint/2010/main" val="1540132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Ética profesional</a:t>
            </a:r>
          </a:p>
        </p:txBody>
      </p:sp>
      <p:sp>
        <p:nvSpPr>
          <p:cNvPr id="3" name="Marcador de contenido 2"/>
          <p:cNvSpPr>
            <a:spLocks noGrp="1"/>
          </p:cNvSpPr>
          <p:nvPr>
            <p:ph idx="1"/>
          </p:nvPr>
        </p:nvSpPr>
        <p:spPr>
          <a:xfrm>
            <a:off x="537210" y="1440180"/>
            <a:ext cx="6316517" cy="4127044"/>
          </a:xfrm>
        </p:spPr>
        <p:txBody>
          <a:bodyPr/>
          <a:lstStyle/>
          <a:p>
            <a:r>
              <a:rPr lang="es-ES" dirty="0"/>
              <a:t>Valores, principios y procedimientos que, en los diferentes casos, deberán tener en cuenta los profesionales para tomar </a:t>
            </a:r>
            <a:r>
              <a:rPr lang="es-ES" b="1" dirty="0">
                <a:solidFill>
                  <a:srgbClr val="83B330"/>
                </a:solidFill>
              </a:rPr>
              <a:t>decisiones morales, autónomas y racionales.</a:t>
            </a:r>
            <a:endParaRPr lang="es-ES" sz="2400" b="1" dirty="0">
              <a:solidFill>
                <a:srgbClr val="83B330"/>
              </a:solidFill>
            </a:endParaRPr>
          </a:p>
        </p:txBody>
      </p:sp>
      <p:sp>
        <p:nvSpPr>
          <p:cNvPr id="4" name="Marcador de pie de página 3"/>
          <p:cNvSpPr>
            <a:spLocks noGrp="1"/>
          </p:cNvSpPr>
          <p:nvPr>
            <p:ph type="ftr" sz="quarter" idx="11"/>
          </p:nvPr>
        </p:nvSpPr>
        <p:spPr/>
        <p:txBody>
          <a:bodyPr/>
          <a:lstStyle/>
          <a:p>
            <a:r>
              <a:rPr lang="es-ES" dirty="0"/>
              <a:t> </a:t>
            </a:r>
          </a:p>
        </p:txBody>
      </p:sp>
      <p:sp>
        <p:nvSpPr>
          <p:cNvPr id="5" name="Marcador de número de diapositiva 4"/>
          <p:cNvSpPr>
            <a:spLocks noGrp="1"/>
          </p:cNvSpPr>
          <p:nvPr>
            <p:ph type="sldNum" sz="quarter" idx="12"/>
          </p:nvPr>
        </p:nvSpPr>
        <p:spPr/>
        <p:txBody>
          <a:bodyPr/>
          <a:lstStyle/>
          <a:p>
            <a:fld id="{B7F7DEE0-106B-4677-B64E-E4FBDB157F4D}" type="slidenum">
              <a:rPr lang="es-ES" smtClean="0"/>
              <a:pPr/>
              <a:t>14</a:t>
            </a:fld>
            <a:endParaRPr lang="es-ES" dirty="0"/>
          </a:p>
        </p:txBody>
      </p:sp>
      <p:pic>
        <p:nvPicPr>
          <p:cNvPr id="6" name="Imagen 5" descr="Ingeniero tomando una decisión ayudado por un portátil"/>
          <p:cNvPicPr>
            <a:picLocks noChangeAspect="1"/>
          </p:cNvPicPr>
          <p:nvPr/>
        </p:nvPicPr>
        <p:blipFill rotWithShape="1">
          <a:blip r:embed="rId3" cstate="print">
            <a:extLst>
              <a:ext uri="{28A0092B-C50C-407E-A947-70E740481C1C}">
                <a14:useLocalDpi xmlns:a14="http://schemas.microsoft.com/office/drawing/2010/main" val="0"/>
              </a:ext>
            </a:extLst>
          </a:blip>
          <a:srcRect l="25060"/>
          <a:stretch/>
        </p:blipFill>
        <p:spPr>
          <a:xfrm>
            <a:off x="7218999" y="1440180"/>
            <a:ext cx="4435791" cy="3329525"/>
          </a:xfrm>
          <a:prstGeom prst="rect">
            <a:avLst/>
          </a:prstGeom>
        </p:spPr>
      </p:pic>
    </p:spTree>
    <p:extLst>
      <p:ext uri="{BB962C8B-B14F-4D97-AF65-F5344CB8AC3E}">
        <p14:creationId xmlns:p14="http://schemas.microsoft.com/office/powerpoint/2010/main" val="2381161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pie de página 7">
            <a:extLst>
              <a:ext uri="{FF2B5EF4-FFF2-40B4-BE49-F238E27FC236}">
                <a16:creationId xmlns:a16="http://schemas.microsoft.com/office/drawing/2014/main" id="{A9D13E17-65D3-4C6D-866B-89217A15840B}"/>
              </a:ext>
            </a:extLst>
          </p:cNvPr>
          <p:cNvSpPr>
            <a:spLocks noGrp="1"/>
          </p:cNvSpPr>
          <p:nvPr>
            <p:ph type="ftr" sz="quarter" idx="11"/>
          </p:nvPr>
        </p:nvSpPr>
        <p:spPr/>
        <p:txBody>
          <a:bodyPr/>
          <a:lstStyle/>
          <a:p>
            <a:r>
              <a:rPr lang="es-ES"/>
              <a:t>Tema 2</a:t>
            </a:r>
          </a:p>
        </p:txBody>
      </p:sp>
      <p:sp>
        <p:nvSpPr>
          <p:cNvPr id="9" name="Marcador de número de diapositiva 8">
            <a:extLst>
              <a:ext uri="{FF2B5EF4-FFF2-40B4-BE49-F238E27FC236}">
                <a16:creationId xmlns:a16="http://schemas.microsoft.com/office/drawing/2014/main" id="{BA917288-BC49-4E74-92C2-A8CEEF99BA2C}"/>
              </a:ext>
            </a:extLst>
          </p:cNvPr>
          <p:cNvSpPr>
            <a:spLocks noGrp="1"/>
          </p:cNvSpPr>
          <p:nvPr>
            <p:ph type="sldNum" sz="quarter" idx="12"/>
          </p:nvPr>
        </p:nvSpPr>
        <p:spPr/>
        <p:txBody>
          <a:bodyPr/>
          <a:lstStyle/>
          <a:p>
            <a:fld id="{970374DC-72EE-4398-9922-A28B17BF9C0C}" type="slidenum">
              <a:rPr lang="es-ES" smtClean="0"/>
              <a:t>15</a:t>
            </a:fld>
            <a:endParaRPr lang="es-ES"/>
          </a:p>
        </p:txBody>
      </p:sp>
      <p:pic>
        <p:nvPicPr>
          <p:cNvPr id="5" name="Imagen 4">
            <a:extLst>
              <a:ext uri="{FF2B5EF4-FFF2-40B4-BE49-F238E27FC236}">
                <a16:creationId xmlns:a16="http://schemas.microsoft.com/office/drawing/2014/main" id="{F811D80A-A386-4E58-BA9E-93BE38E7228F}"/>
              </a:ext>
            </a:extLst>
          </p:cNvPr>
          <p:cNvPicPr>
            <a:picLocks noChangeAspect="1"/>
          </p:cNvPicPr>
          <p:nvPr/>
        </p:nvPicPr>
        <p:blipFill>
          <a:blip r:embed="rId3"/>
          <a:stretch>
            <a:fillRect/>
          </a:stretch>
        </p:blipFill>
        <p:spPr>
          <a:xfrm>
            <a:off x="187947" y="5907640"/>
            <a:ext cx="1202202" cy="729465"/>
          </a:xfrm>
          <a:prstGeom prst="rect">
            <a:avLst/>
          </a:prstGeom>
        </p:spPr>
      </p:pic>
      <p:sp>
        <p:nvSpPr>
          <p:cNvPr id="7" name="CuadroTexto 6">
            <a:extLst>
              <a:ext uri="{FF2B5EF4-FFF2-40B4-BE49-F238E27FC236}">
                <a16:creationId xmlns:a16="http://schemas.microsoft.com/office/drawing/2014/main" id="{756570A5-E26D-4B59-98F9-0D7EE5F761D7}"/>
              </a:ext>
            </a:extLst>
          </p:cNvPr>
          <p:cNvSpPr txBox="1"/>
          <p:nvPr/>
        </p:nvSpPr>
        <p:spPr>
          <a:xfrm>
            <a:off x="2910627" y="5805510"/>
            <a:ext cx="6226245" cy="584775"/>
          </a:xfrm>
          <a:prstGeom prst="rect">
            <a:avLst/>
          </a:prstGeom>
          <a:noFill/>
        </p:spPr>
        <p:txBody>
          <a:bodyPr wrap="square" rtlCol="0">
            <a:spAutoFit/>
          </a:bodyPr>
          <a:lstStyle/>
          <a:p>
            <a:pPr algn="ctr"/>
            <a:r>
              <a:rPr lang="es-ES" sz="1600" dirty="0"/>
              <a:t> </a:t>
            </a:r>
          </a:p>
          <a:p>
            <a:pPr algn="ctr"/>
            <a:endParaRPr lang="es-ES" sz="1600" dirty="0"/>
          </a:p>
        </p:txBody>
      </p:sp>
      <p:pic>
        <p:nvPicPr>
          <p:cNvPr id="10" name="Marcador de contenido 9"/>
          <p:cNvPicPr>
            <a:picLocks noGrp="1" noChangeAspect="1"/>
          </p:cNvPicPr>
          <p:nvPr>
            <p:ph idx="1"/>
          </p:nvPr>
        </p:nvPicPr>
        <p:blipFill>
          <a:blip r:embed="rId4"/>
          <a:stretch>
            <a:fillRect/>
          </a:stretch>
        </p:blipFill>
        <p:spPr>
          <a:xfrm>
            <a:off x="369542" y="969953"/>
            <a:ext cx="10247123" cy="4600081"/>
          </a:xfrm>
          <a:prstGeom prst="rect">
            <a:avLst/>
          </a:prstGeom>
        </p:spPr>
      </p:pic>
      <p:sp>
        <p:nvSpPr>
          <p:cNvPr id="12" name="Rectángulo 11"/>
          <p:cNvSpPr/>
          <p:nvPr/>
        </p:nvSpPr>
        <p:spPr>
          <a:xfrm>
            <a:off x="508000" y="5619515"/>
            <a:ext cx="3886199" cy="691207"/>
          </a:xfrm>
          <a:prstGeom prst="rect">
            <a:avLst/>
          </a:prstGeom>
          <a:solidFill>
            <a:schemeClr val="accent1">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s-ES" dirty="0"/>
              <a:t>Transparencia</a:t>
            </a:r>
          </a:p>
        </p:txBody>
      </p:sp>
      <p:sp>
        <p:nvSpPr>
          <p:cNvPr id="13" name="Rectángulo 12"/>
          <p:cNvSpPr/>
          <p:nvPr/>
        </p:nvSpPr>
        <p:spPr>
          <a:xfrm>
            <a:off x="4610099" y="5721532"/>
            <a:ext cx="5758025" cy="5508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solidFill>
                  <a:srgbClr val="FF0000"/>
                </a:solidFill>
              </a:rPr>
              <a:t>Ej. IMPACT</a:t>
            </a:r>
          </a:p>
        </p:txBody>
      </p:sp>
      <p:pic>
        <p:nvPicPr>
          <p:cNvPr id="15" name="Picture 2" descr="Logo de la ACM, Association for Computing Machinery.">
            <a:extLst>
              <a:ext uri="{FF2B5EF4-FFF2-40B4-BE49-F238E27FC236}">
                <a16:creationId xmlns:a16="http://schemas.microsoft.com/office/drawing/2014/main" id="{837F7164-8C4C-48B3-8A38-AAD73727F4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250" t="14603" r="73214" b="76191"/>
          <a:stretch/>
        </p:blipFill>
        <p:spPr bwMode="auto">
          <a:xfrm>
            <a:off x="10616665" y="920472"/>
            <a:ext cx="1230044" cy="4100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ángulo 3"/>
          <p:cNvSpPr/>
          <p:nvPr/>
        </p:nvSpPr>
        <p:spPr>
          <a:xfrm>
            <a:off x="1937550" y="160020"/>
            <a:ext cx="9652470" cy="523220"/>
          </a:xfrm>
          <a:prstGeom prst="rect">
            <a:avLst/>
          </a:prstGeom>
        </p:spPr>
        <p:txBody>
          <a:bodyPr wrap="square">
            <a:spAutoFit/>
          </a:bodyPr>
          <a:lstStyle/>
          <a:p>
            <a:r>
              <a:rPr lang="es-ES" sz="2800" b="1" dirty="0">
                <a:solidFill>
                  <a:schemeClr val="bg1"/>
                </a:solidFill>
              </a:rPr>
              <a:t>2.2 Ética profesional: principios fundamentales</a:t>
            </a:r>
          </a:p>
        </p:txBody>
      </p:sp>
    </p:spTree>
    <p:extLst>
      <p:ext uri="{BB962C8B-B14F-4D97-AF65-F5344CB8AC3E}">
        <p14:creationId xmlns:p14="http://schemas.microsoft.com/office/powerpoint/2010/main" val="144509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60738" y="369625"/>
            <a:ext cx="8596668" cy="133295"/>
          </a:xfrm>
        </p:spPr>
        <p:txBody>
          <a:bodyPr>
            <a:normAutofit fontScale="90000"/>
          </a:bodyPr>
          <a:lstStyle/>
          <a:p>
            <a:r>
              <a:rPr lang="es-ES" b="1" dirty="0"/>
              <a:t>Códigos deontológicos (ética profesional)</a:t>
            </a:r>
          </a:p>
        </p:txBody>
      </p:sp>
      <p:sp>
        <p:nvSpPr>
          <p:cNvPr id="4" name="Marcador de pie de página 3"/>
          <p:cNvSpPr>
            <a:spLocks noGrp="1"/>
          </p:cNvSpPr>
          <p:nvPr>
            <p:ph type="ftr" sz="quarter" idx="11"/>
          </p:nvPr>
        </p:nvSpPr>
        <p:spPr/>
        <p:txBody>
          <a:bodyPr/>
          <a:lstStyle/>
          <a:p>
            <a:r>
              <a:rPr lang="es-ES"/>
              <a:t>CTS. Tema 3. Ética, TIC y Derechos Humanos</a:t>
            </a:r>
            <a:endParaRPr lang="es-ES" dirty="0"/>
          </a:p>
        </p:txBody>
      </p:sp>
      <p:sp>
        <p:nvSpPr>
          <p:cNvPr id="5" name="Marcador de número de diapositiva 4"/>
          <p:cNvSpPr>
            <a:spLocks noGrp="1"/>
          </p:cNvSpPr>
          <p:nvPr>
            <p:ph type="sldNum" sz="quarter" idx="12"/>
          </p:nvPr>
        </p:nvSpPr>
        <p:spPr/>
        <p:txBody>
          <a:bodyPr/>
          <a:lstStyle/>
          <a:p>
            <a:fld id="{B7F7DEE0-106B-4677-B64E-E4FBDB157F4D}" type="slidenum">
              <a:rPr lang="es-ES" smtClean="0"/>
              <a:pPr/>
              <a:t>16</a:t>
            </a:fld>
            <a:endParaRPr lang="es-ES" dirty="0"/>
          </a:p>
        </p:txBody>
      </p:sp>
      <p:sp>
        <p:nvSpPr>
          <p:cNvPr id="11" name="Rectangle 1030">
            <a:extLst>
              <a:ext uri="{FF2B5EF4-FFF2-40B4-BE49-F238E27FC236}">
                <a16:creationId xmlns:a16="http://schemas.microsoft.com/office/drawing/2014/main" id="{4BEC008D-213E-4656-839F-E94065697111}"/>
              </a:ext>
            </a:extLst>
          </p:cNvPr>
          <p:cNvSpPr>
            <a:spLocks noChangeArrowheads="1"/>
          </p:cNvSpPr>
          <p:nvPr/>
        </p:nvSpPr>
        <p:spPr bwMode="auto">
          <a:xfrm>
            <a:off x="715964" y="1455476"/>
            <a:ext cx="10618786" cy="4421449"/>
          </a:xfrm>
          <a:prstGeom prst="rect">
            <a:avLst/>
          </a:prstGeom>
          <a:noFill/>
          <a:ln w="12700">
            <a:solidFill>
              <a:schemeClr val="accent1"/>
            </a:solidFill>
            <a:miter lim="800000"/>
            <a:headEnd/>
            <a:tailEnd/>
          </a:ln>
        </p:spPr>
        <p:txBody>
          <a:bodyPr lIns="85725" tIns="44450" rIns="85725" bIns="44450"/>
          <a:lstStyle>
            <a:lvl1pPr marL="227013" indent="-227013">
              <a:defRPr>
                <a:solidFill>
                  <a:schemeClr val="tx1"/>
                </a:solidFill>
                <a:latin typeface="Arial" charset="0"/>
                <a:ea typeface="MS PGothic" pitchFamily="34" charset="-128"/>
              </a:defRPr>
            </a:lvl1pPr>
            <a:lvl2pPr marL="355600" indent="-325438">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marL="342900" lvl="1" indent="-342900" defTabSz="457200">
              <a:lnSpc>
                <a:spcPct val="110000"/>
              </a:lnSpc>
              <a:spcBef>
                <a:spcPts val="1000"/>
              </a:spcBef>
              <a:buClr>
                <a:schemeClr val="accent1"/>
              </a:buClr>
              <a:buSzPct val="80000"/>
              <a:buFont typeface="Wingdings 3" charset="2"/>
              <a:buChar char=""/>
              <a:defRPr/>
            </a:pPr>
            <a:endParaRPr lang="es-ES_tradnl" altLang="es-ES" sz="1000" dirty="0">
              <a:solidFill>
                <a:schemeClr val="tx1">
                  <a:lumMod val="75000"/>
                  <a:lumOff val="25000"/>
                </a:schemeClr>
              </a:solidFill>
              <a:latin typeface="Lato" panose="020F0502020204030203" pitchFamily="34" charset="0"/>
              <a:ea typeface="+mn-ea"/>
            </a:endParaRPr>
          </a:p>
          <a:p>
            <a:pPr marL="342900" lvl="1" indent="-342900" defTabSz="457200">
              <a:lnSpc>
                <a:spcPct val="110000"/>
              </a:lnSpc>
              <a:spcBef>
                <a:spcPts val="1000"/>
              </a:spcBef>
              <a:buClr>
                <a:schemeClr val="accent1"/>
              </a:buClr>
              <a:buSzPct val="80000"/>
              <a:buFont typeface="Wingdings 3" charset="2"/>
              <a:buChar char=""/>
              <a:defRPr/>
            </a:pPr>
            <a:r>
              <a:rPr lang="es-ES_tradnl" altLang="es-ES" sz="2800" dirty="0">
                <a:solidFill>
                  <a:schemeClr val="tx1">
                    <a:lumMod val="75000"/>
                    <a:lumOff val="25000"/>
                  </a:schemeClr>
                </a:solidFill>
                <a:latin typeface="Lato" panose="020F0502020204030203" pitchFamily="34" charset="0"/>
                <a:ea typeface="+mn-ea"/>
              </a:rPr>
              <a:t>Presentan la </a:t>
            </a:r>
            <a:r>
              <a:rPr lang="es-ES_tradnl" altLang="es-ES" sz="2800" b="1" dirty="0">
                <a:solidFill>
                  <a:srgbClr val="92D050"/>
                </a:solidFill>
                <a:latin typeface="Lato" panose="020F0502020204030203" pitchFamily="34" charset="0"/>
                <a:ea typeface="+mn-ea"/>
              </a:rPr>
              <a:t>misión</a:t>
            </a:r>
            <a:r>
              <a:rPr lang="es-ES_tradnl" altLang="es-ES" sz="2800" dirty="0">
                <a:solidFill>
                  <a:schemeClr val="tx1">
                    <a:lumMod val="75000"/>
                    <a:lumOff val="25000"/>
                  </a:schemeClr>
                </a:solidFill>
                <a:latin typeface="Lato" panose="020F0502020204030203" pitchFamily="34" charset="0"/>
                <a:ea typeface="+mn-ea"/>
              </a:rPr>
              <a:t> del grupo profesional</a:t>
            </a:r>
          </a:p>
          <a:p>
            <a:pPr marL="342900" lvl="1" indent="-342900" defTabSz="457200">
              <a:lnSpc>
                <a:spcPct val="110000"/>
              </a:lnSpc>
              <a:spcBef>
                <a:spcPts val="1000"/>
              </a:spcBef>
              <a:buClr>
                <a:schemeClr val="accent1"/>
              </a:buClr>
              <a:buSzPct val="80000"/>
              <a:buFont typeface="Wingdings 3" charset="2"/>
              <a:buChar char=""/>
              <a:defRPr/>
            </a:pPr>
            <a:r>
              <a:rPr lang="es-ES_tradnl" altLang="es-ES" sz="2800" dirty="0">
                <a:solidFill>
                  <a:schemeClr val="tx1">
                    <a:lumMod val="75000"/>
                    <a:lumOff val="25000"/>
                  </a:schemeClr>
                </a:solidFill>
                <a:latin typeface="Lato" panose="020F0502020204030203" pitchFamily="34" charset="0"/>
                <a:ea typeface="+mn-ea"/>
              </a:rPr>
              <a:t>Enumeran los </a:t>
            </a:r>
            <a:r>
              <a:rPr lang="es-ES_tradnl" altLang="es-ES" sz="2800" b="1" dirty="0">
                <a:solidFill>
                  <a:srgbClr val="92D050"/>
                </a:solidFill>
                <a:latin typeface="Lato" panose="020F0502020204030203" pitchFamily="34" charset="0"/>
                <a:ea typeface="+mn-ea"/>
              </a:rPr>
              <a:t>valores  y principios </a:t>
            </a:r>
            <a:r>
              <a:rPr lang="es-ES_tradnl" altLang="es-ES" sz="2800" dirty="0">
                <a:solidFill>
                  <a:schemeClr val="tx1">
                    <a:lumMod val="75000"/>
                    <a:lumOff val="25000"/>
                  </a:schemeClr>
                </a:solidFill>
                <a:latin typeface="Lato" panose="020F0502020204030203" pitchFamily="34" charset="0"/>
                <a:ea typeface="+mn-ea"/>
              </a:rPr>
              <a:t>fundamentales </a:t>
            </a:r>
          </a:p>
          <a:p>
            <a:pPr marL="342900" lvl="1" indent="-342900" defTabSz="457200">
              <a:lnSpc>
                <a:spcPct val="110000"/>
              </a:lnSpc>
              <a:spcBef>
                <a:spcPts val="1000"/>
              </a:spcBef>
              <a:buClr>
                <a:schemeClr val="accent1"/>
              </a:buClr>
              <a:buSzPct val="80000"/>
              <a:buFont typeface="Wingdings 3" charset="2"/>
              <a:buChar char=""/>
              <a:defRPr/>
            </a:pPr>
            <a:r>
              <a:rPr lang="es-ES_tradnl" altLang="es-ES" sz="2800" dirty="0">
                <a:solidFill>
                  <a:schemeClr val="tx1">
                    <a:lumMod val="75000"/>
                    <a:lumOff val="25000"/>
                  </a:schemeClr>
                </a:solidFill>
                <a:latin typeface="Lato" panose="020F0502020204030203" pitchFamily="34" charset="0"/>
                <a:ea typeface="+mn-ea"/>
              </a:rPr>
              <a:t>Identifican los principales </a:t>
            </a:r>
            <a:r>
              <a:rPr lang="es-ES_tradnl" altLang="es-ES" sz="2800" b="1" dirty="0">
                <a:solidFill>
                  <a:srgbClr val="92D050"/>
                </a:solidFill>
                <a:latin typeface="Lato" panose="020F0502020204030203" pitchFamily="34" charset="0"/>
                <a:ea typeface="+mn-ea"/>
              </a:rPr>
              <a:t>problemas éticos </a:t>
            </a:r>
            <a:r>
              <a:rPr lang="es-ES_tradnl" altLang="es-ES" sz="2800" dirty="0">
                <a:solidFill>
                  <a:schemeClr val="tx1">
                    <a:lumMod val="75000"/>
                    <a:lumOff val="25000"/>
                  </a:schemeClr>
                </a:solidFill>
                <a:latin typeface="Lato" panose="020F0502020204030203" pitchFamily="34" charset="0"/>
                <a:ea typeface="+mn-ea"/>
              </a:rPr>
              <a:t>de la profesión</a:t>
            </a:r>
          </a:p>
          <a:p>
            <a:pPr marL="342900" lvl="1" indent="-342900" defTabSz="457200">
              <a:lnSpc>
                <a:spcPct val="110000"/>
              </a:lnSpc>
              <a:spcBef>
                <a:spcPts val="1000"/>
              </a:spcBef>
              <a:buClr>
                <a:schemeClr val="accent1"/>
              </a:buClr>
              <a:buSzPct val="80000"/>
              <a:buFont typeface="Wingdings 3" charset="2"/>
              <a:buChar char=""/>
              <a:defRPr/>
            </a:pPr>
            <a:r>
              <a:rPr lang="es-ES_tradnl" altLang="es-ES" sz="2800" dirty="0">
                <a:solidFill>
                  <a:schemeClr val="tx1">
                    <a:lumMod val="75000"/>
                    <a:lumOff val="25000"/>
                  </a:schemeClr>
                </a:solidFill>
                <a:latin typeface="Lato" panose="020F0502020204030203" pitchFamily="34" charset="0"/>
                <a:ea typeface="+mn-ea"/>
              </a:rPr>
              <a:t>Hacen </a:t>
            </a:r>
            <a:r>
              <a:rPr lang="es-ES_tradnl" altLang="es-ES" sz="2800" b="1" dirty="0">
                <a:solidFill>
                  <a:srgbClr val="92D050"/>
                </a:solidFill>
                <a:latin typeface="Lato" panose="020F0502020204030203" pitchFamily="34" charset="0"/>
                <a:ea typeface="+mn-ea"/>
              </a:rPr>
              <a:t>propuestas </a:t>
            </a:r>
            <a:r>
              <a:rPr lang="es-ES_tradnl" altLang="es-ES" sz="2800" dirty="0">
                <a:solidFill>
                  <a:schemeClr val="tx1">
                    <a:lumMod val="75000"/>
                    <a:lumOff val="25000"/>
                  </a:schemeClr>
                </a:solidFill>
                <a:latin typeface="Lato" panose="020F0502020204030203" pitchFamily="34" charset="0"/>
                <a:ea typeface="+mn-ea"/>
              </a:rPr>
              <a:t>para la aplicación de los principios en esas problemáticas</a:t>
            </a:r>
          </a:p>
          <a:p>
            <a:pPr marL="342900" lvl="1" indent="-342900" defTabSz="457200">
              <a:lnSpc>
                <a:spcPct val="110000"/>
              </a:lnSpc>
              <a:spcBef>
                <a:spcPts val="1000"/>
              </a:spcBef>
              <a:buClr>
                <a:schemeClr val="accent1"/>
              </a:buClr>
              <a:buSzPct val="80000"/>
              <a:buFont typeface="Wingdings 3" charset="2"/>
              <a:buChar char=""/>
              <a:defRPr/>
            </a:pPr>
            <a:r>
              <a:rPr lang="es-ES" altLang="es-ES" sz="2800" b="1" dirty="0">
                <a:solidFill>
                  <a:srgbClr val="92D050"/>
                </a:solidFill>
                <a:latin typeface="Lato" panose="020F0502020204030203" pitchFamily="34" charset="0"/>
                <a:ea typeface="+mn-ea"/>
              </a:rPr>
              <a:t>Complementan</a:t>
            </a:r>
            <a:r>
              <a:rPr lang="es-ES" altLang="es-ES" sz="2800" dirty="0">
                <a:solidFill>
                  <a:schemeClr val="tx1">
                    <a:lumMod val="75000"/>
                    <a:lumOff val="25000"/>
                  </a:schemeClr>
                </a:solidFill>
                <a:latin typeface="Lato" panose="020F0502020204030203" pitchFamily="34" charset="0"/>
                <a:ea typeface="+mn-ea"/>
              </a:rPr>
              <a:t> medidas políticas y legales del ámbito profesional</a:t>
            </a:r>
            <a:endParaRPr lang="es-ES_tradnl" altLang="es-ES" sz="2800" dirty="0">
              <a:solidFill>
                <a:schemeClr val="tx1">
                  <a:lumMod val="75000"/>
                  <a:lumOff val="25000"/>
                </a:schemeClr>
              </a:solidFill>
              <a:latin typeface="Lato" panose="020F0502020204030203" pitchFamily="34" charset="0"/>
              <a:ea typeface="+mn-ea"/>
            </a:endParaRPr>
          </a:p>
          <a:p>
            <a:pPr marL="30162" lvl="1" indent="0">
              <a:spcBef>
                <a:spcPct val="10000"/>
              </a:spcBef>
              <a:buClr>
                <a:schemeClr val="accent2"/>
              </a:buClr>
              <a:buSzPct val="60000"/>
              <a:defRPr/>
            </a:pPr>
            <a:endParaRPr lang="es-ES" altLang="es-ES" sz="2600" i="1" dirty="0">
              <a:solidFill>
                <a:srgbClr val="999999"/>
              </a:solidFill>
            </a:endParaRPr>
          </a:p>
        </p:txBody>
      </p:sp>
      <p:pic>
        <p:nvPicPr>
          <p:cNvPr id="15" name="Picture 5" descr="Imagen Código de Hammurabi 1760 a.C.">
            <a:hlinkClick r:id="rId2"/>
            <a:extLst>
              <a:ext uri="{FF2B5EF4-FFF2-40B4-BE49-F238E27FC236}">
                <a16:creationId xmlns:a16="http://schemas.microsoft.com/office/drawing/2014/main" id="{4552F204-03BD-41E3-A47C-E0FD5DAE7C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446" r="21249" b="65602"/>
          <a:stretch>
            <a:fillRect/>
          </a:stretch>
        </p:blipFill>
        <p:spPr bwMode="auto">
          <a:xfrm>
            <a:off x="9899953" y="335894"/>
            <a:ext cx="1825322" cy="17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1879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Códigos de ética en la ingeniería TIC</a:t>
            </a:r>
          </a:p>
        </p:txBody>
      </p:sp>
      <p:sp>
        <p:nvSpPr>
          <p:cNvPr id="3" name="Marcador de contenido 2"/>
          <p:cNvSpPr>
            <a:spLocks noGrp="1"/>
          </p:cNvSpPr>
          <p:nvPr>
            <p:ph idx="1"/>
          </p:nvPr>
        </p:nvSpPr>
        <p:spPr/>
        <p:txBody>
          <a:bodyPr>
            <a:normAutofit/>
          </a:bodyPr>
          <a:lstStyle/>
          <a:p>
            <a:pPr>
              <a:lnSpc>
                <a:spcPct val="200000"/>
              </a:lnSpc>
            </a:pPr>
            <a:r>
              <a:rPr lang="es-ES" dirty="0"/>
              <a:t>Código de Ética y Conducta Profesional de la </a:t>
            </a:r>
            <a:r>
              <a:rPr lang="es-ES" dirty="0">
                <a:solidFill>
                  <a:srgbClr val="699841"/>
                </a:solidFill>
                <a:hlinkClick r:id="rId2"/>
              </a:rPr>
              <a:t>ACM</a:t>
            </a:r>
            <a:endParaRPr lang="es-ES" dirty="0">
              <a:solidFill>
                <a:srgbClr val="699841"/>
              </a:solidFill>
            </a:endParaRPr>
          </a:p>
          <a:p>
            <a:pPr>
              <a:lnSpc>
                <a:spcPct val="200000"/>
              </a:lnSpc>
            </a:pPr>
            <a:r>
              <a:rPr lang="es-ES" dirty="0"/>
              <a:t>Código Deontológico del </a:t>
            </a:r>
            <a:r>
              <a:rPr lang="es-ES" dirty="0">
                <a:hlinkClick r:id="rId3"/>
              </a:rPr>
              <a:t>CCII </a:t>
            </a:r>
            <a:r>
              <a:rPr lang="es-ES" dirty="0"/>
              <a:t> </a:t>
            </a:r>
            <a:endParaRPr lang="es-ES" dirty="0">
              <a:solidFill>
                <a:srgbClr val="699841"/>
              </a:solidFill>
            </a:endParaRPr>
          </a:p>
          <a:p>
            <a:pPr>
              <a:lnSpc>
                <a:spcPct val="200000"/>
              </a:lnSpc>
            </a:pPr>
            <a:r>
              <a:rPr lang="en-GB" dirty="0">
                <a:solidFill>
                  <a:srgbClr val="699841"/>
                </a:solidFill>
                <a:hlinkClick r:id="rId4"/>
              </a:rPr>
              <a:t>IEEE</a:t>
            </a:r>
            <a:r>
              <a:rPr lang="en-GB" dirty="0"/>
              <a:t> Code of Ethics</a:t>
            </a:r>
          </a:p>
          <a:p>
            <a:pPr>
              <a:lnSpc>
                <a:spcPct val="200000"/>
              </a:lnSpc>
            </a:pPr>
            <a:r>
              <a:rPr lang="es-ES" dirty="0"/>
              <a:t>Declaración de principios éticos de la </a:t>
            </a:r>
            <a:r>
              <a:rPr lang="es-ES" dirty="0" err="1">
                <a:solidFill>
                  <a:srgbClr val="699841"/>
                </a:solidFill>
                <a:hlinkClick r:id="rId5"/>
              </a:rPr>
              <a:t>RAEng</a:t>
            </a:r>
            <a:endParaRPr lang="es-ES" dirty="0">
              <a:solidFill>
                <a:srgbClr val="699841"/>
              </a:solidFill>
            </a:endParaRPr>
          </a:p>
          <a:p>
            <a:pPr>
              <a:lnSpc>
                <a:spcPct val="200000"/>
              </a:lnSpc>
            </a:pPr>
            <a:r>
              <a:rPr lang="es-ES" dirty="0"/>
              <a:t>Modelo de código de ética de la </a:t>
            </a:r>
            <a:r>
              <a:rPr lang="es-ES" dirty="0">
                <a:solidFill>
                  <a:srgbClr val="699841"/>
                </a:solidFill>
                <a:hlinkClick r:id="rId6"/>
              </a:rPr>
              <a:t>WFEO</a:t>
            </a:r>
            <a:endParaRPr lang="es-ES" dirty="0">
              <a:solidFill>
                <a:srgbClr val="699841"/>
              </a:solidFill>
            </a:endParaRPr>
          </a:p>
        </p:txBody>
      </p:sp>
      <p:sp>
        <p:nvSpPr>
          <p:cNvPr id="4" name="Marcador de pie de página 3"/>
          <p:cNvSpPr>
            <a:spLocks noGrp="1"/>
          </p:cNvSpPr>
          <p:nvPr>
            <p:ph type="ftr" sz="quarter" idx="11"/>
          </p:nvPr>
        </p:nvSpPr>
        <p:spPr/>
        <p:txBody>
          <a:bodyPr/>
          <a:lstStyle/>
          <a:p>
            <a:r>
              <a:rPr lang="es-ES"/>
              <a:t>CTS. Tema 3. Ética, TIC y Derechos Humanos</a:t>
            </a:r>
            <a:endParaRPr lang="es-ES" dirty="0"/>
          </a:p>
        </p:txBody>
      </p:sp>
      <p:sp>
        <p:nvSpPr>
          <p:cNvPr id="5" name="Marcador de número de diapositiva 4"/>
          <p:cNvSpPr>
            <a:spLocks noGrp="1"/>
          </p:cNvSpPr>
          <p:nvPr>
            <p:ph type="sldNum" sz="quarter" idx="12"/>
          </p:nvPr>
        </p:nvSpPr>
        <p:spPr/>
        <p:txBody>
          <a:bodyPr/>
          <a:lstStyle/>
          <a:p>
            <a:fld id="{B7F7DEE0-106B-4677-B64E-E4FBDB157F4D}" type="slidenum">
              <a:rPr lang="es-ES" smtClean="0"/>
              <a:pPr/>
              <a:t>17</a:t>
            </a:fld>
            <a:endParaRPr lang="es-ES" dirty="0"/>
          </a:p>
        </p:txBody>
      </p:sp>
      <p:pic>
        <p:nvPicPr>
          <p:cNvPr id="6" name="Picture 2" descr="Logo del IEEE. Tecnología que avanza para la Humanidad.">
            <a:hlinkClick r:id="rId7" action="ppaction://hlinkfile"/>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6328" t="18195" r="73673" b="71388"/>
          <a:stretch/>
        </p:blipFill>
        <p:spPr bwMode="auto">
          <a:xfrm>
            <a:off x="3659150" y="2802734"/>
            <a:ext cx="1614308" cy="9459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descr="Logo de la ACM, Association for Computing Machinery."/>
          <p:cNvPicPr>
            <a:picLocks noChangeAspect="1" noChangeArrowheads="1"/>
          </p:cNvPicPr>
          <p:nvPr/>
        </p:nvPicPr>
        <p:blipFill rotWithShape="1">
          <a:blip r:embed="rId9">
            <a:extLst>
              <a:ext uri="{28A0092B-C50C-407E-A947-70E740481C1C}">
                <a14:useLocalDpi xmlns:a14="http://schemas.microsoft.com/office/drawing/2010/main" val="0"/>
              </a:ext>
            </a:extLst>
          </a:blip>
          <a:srcRect l="11250" t="14603" r="73214" b="76191"/>
          <a:stretch/>
        </p:blipFill>
        <p:spPr bwMode="auto">
          <a:xfrm>
            <a:off x="8368842" y="885854"/>
            <a:ext cx="2704166" cy="901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7 Imagen" descr="Logo de la Royal Academy of Engineering"/>
          <p:cNvPicPr>
            <a:picLocks noChangeAspect="1"/>
          </p:cNvPicPr>
          <p:nvPr/>
        </p:nvPicPr>
        <p:blipFill rotWithShape="1">
          <a:blip r:embed="rId10" cstate="print"/>
          <a:srcRect l="13587" t="14493" r="70652" b="73912"/>
          <a:stretch/>
        </p:blipFill>
        <p:spPr bwMode="auto">
          <a:xfrm>
            <a:off x="7229133" y="3497521"/>
            <a:ext cx="2178202" cy="901379"/>
          </a:xfrm>
          <a:prstGeom prst="rect">
            <a:avLst/>
          </a:prstGeom>
          <a:ln>
            <a:noFill/>
          </a:ln>
          <a:extLst>
            <a:ext uri="{53640926-AAD7-44D8-BBD7-CCE9431645EC}">
              <a14:shadowObscured xmlns:a14="http://schemas.microsoft.com/office/drawing/2010/main"/>
            </a:ext>
          </a:extLst>
        </p:spPr>
      </p:pic>
      <p:pic>
        <p:nvPicPr>
          <p:cNvPr id="10" name="6 Imagen" descr="Logo del WFEO, World Federation of Engineering Organizations"/>
          <p:cNvPicPr>
            <a:picLocks noChangeAspect="1"/>
          </p:cNvPicPr>
          <p:nvPr/>
        </p:nvPicPr>
        <p:blipFill rotWithShape="1">
          <a:blip r:embed="rId11" cstate="print"/>
          <a:srcRect l="18207" t="13768" r="50815" b="75845"/>
          <a:stretch/>
        </p:blipFill>
        <p:spPr bwMode="auto">
          <a:xfrm>
            <a:off x="6430939" y="5051548"/>
            <a:ext cx="4677214" cy="882159"/>
          </a:xfrm>
          <a:prstGeom prst="rect">
            <a:avLst/>
          </a:prstGeom>
          <a:ln>
            <a:noFill/>
          </a:ln>
          <a:extLst>
            <a:ext uri="{53640926-AAD7-44D8-BBD7-CCE9431645EC}">
              <a14:shadowObscured xmlns:a14="http://schemas.microsoft.com/office/drawing/2010/main"/>
            </a:ext>
          </a:extLst>
        </p:spPr>
      </p:pic>
      <p:pic>
        <p:nvPicPr>
          <p:cNvPr id="12" name="Imagen 11">
            <a:extLst>
              <a:ext uri="{FF2B5EF4-FFF2-40B4-BE49-F238E27FC236}">
                <a16:creationId xmlns:a16="http://schemas.microsoft.com/office/drawing/2014/main" id="{73EC4B3D-0D12-D408-9E31-EA9A7B4A7A1A}"/>
              </a:ext>
            </a:extLst>
          </p:cNvPr>
          <p:cNvPicPr>
            <a:picLocks noChangeAspect="1"/>
          </p:cNvPicPr>
          <p:nvPr/>
        </p:nvPicPr>
        <p:blipFill>
          <a:blip r:embed="rId12"/>
          <a:stretch>
            <a:fillRect/>
          </a:stretch>
        </p:blipFill>
        <p:spPr>
          <a:xfrm>
            <a:off x="5164688" y="1784768"/>
            <a:ext cx="3404571" cy="1038245"/>
          </a:xfrm>
          <a:prstGeom prst="rect">
            <a:avLst/>
          </a:prstGeom>
        </p:spPr>
      </p:pic>
    </p:spTree>
    <p:extLst>
      <p:ext uri="{BB962C8B-B14F-4D97-AF65-F5344CB8AC3E}">
        <p14:creationId xmlns:p14="http://schemas.microsoft.com/office/powerpoint/2010/main" val="1622447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468630" y="-111571"/>
            <a:ext cx="11380470" cy="1092918"/>
          </a:xfrm>
        </p:spPr>
        <p:txBody>
          <a:bodyPr>
            <a:normAutofit/>
          </a:bodyPr>
          <a:lstStyle/>
          <a:p>
            <a:r>
              <a:rPr lang="es-ES_tradnl" b="1" dirty="0"/>
              <a:t>2.2 Problemas éticos relevantes en ingeniería: Seguridad, uso dual</a:t>
            </a:r>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18</a:t>
            </a:fld>
            <a:endParaRPr lang="es-ES" sz="1400"/>
          </a:p>
        </p:txBody>
      </p:sp>
      <p:sp>
        <p:nvSpPr>
          <p:cNvPr id="7" name="Rectangle 7"/>
          <p:cNvSpPr txBox="1">
            <a:spLocks noChangeArrowheads="1"/>
          </p:cNvSpPr>
          <p:nvPr/>
        </p:nvSpPr>
        <p:spPr bwMode="auto">
          <a:xfrm>
            <a:off x="816881" y="713055"/>
            <a:ext cx="10702019" cy="5775320"/>
          </a:xfrm>
          <a:prstGeom prst="rect">
            <a:avLst/>
          </a:prstGeom>
          <a:noFill/>
          <a:ln w="9525">
            <a:noFill/>
            <a:miter lim="800000"/>
            <a:headEnd/>
            <a:tailEnd/>
          </a:ln>
          <a:effectLst/>
        </p:spPr>
        <p:txBody>
          <a:bodyPr/>
          <a:lstStyle>
            <a:lvl1pPr marL="441325" indent="-441325"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355725" indent="-441325"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0" indent="0" algn="ctr">
              <a:spcBef>
                <a:spcPct val="20000"/>
              </a:spcBef>
              <a:buClr>
                <a:srgbClr val="000099"/>
              </a:buClr>
              <a:defRPr/>
            </a:pPr>
            <a:r>
              <a:rPr lang="es-ES_tradnl" altLang="es-ES" sz="2800" b="1" dirty="0">
                <a:solidFill>
                  <a:srgbClr val="CC0066"/>
                </a:solidFill>
                <a:latin typeface="Lato" panose="020F0502020204030203"/>
                <a:cs typeface="Arial" pitchFamily="34" charset="0"/>
              </a:rPr>
              <a:t> </a:t>
            </a:r>
          </a:p>
          <a:p>
            <a:pPr algn="ctr">
              <a:spcBef>
                <a:spcPct val="20000"/>
              </a:spcBef>
              <a:buClr>
                <a:srgbClr val="000099"/>
              </a:buClr>
              <a:buFont typeface="Wingdings" pitchFamily="2" charset="2"/>
              <a:buNone/>
              <a:defRPr/>
            </a:pPr>
            <a:r>
              <a:rPr lang="es-ES_tradnl" altLang="es-ES" sz="2800" b="1" dirty="0">
                <a:solidFill>
                  <a:srgbClr val="B9B9B9"/>
                </a:solidFill>
                <a:latin typeface="Lato" panose="020F0502020204030203"/>
                <a:cs typeface="Arial" pitchFamily="34" charset="0"/>
              </a:rPr>
              <a:t>	</a:t>
            </a:r>
            <a:r>
              <a:rPr lang="es-ES_tradnl" altLang="es-ES" sz="2800" dirty="0">
                <a:solidFill>
                  <a:schemeClr val="tx2"/>
                </a:solidFill>
                <a:latin typeface="Calibri" panose="020F0502020204030204" pitchFamily="34" charset="0"/>
                <a:ea typeface="Calibri" panose="020F0502020204030204" pitchFamily="34" charset="0"/>
                <a:cs typeface="Calibri" panose="020F0502020204030204" pitchFamily="34" charset="0"/>
              </a:rPr>
              <a:t>Minimizar los impactos negativos de la tecnología. </a:t>
            </a:r>
          </a:p>
          <a:p>
            <a:pPr>
              <a:spcBef>
                <a:spcPct val="20000"/>
              </a:spcBef>
              <a:buClr>
                <a:srgbClr val="000099"/>
              </a:buClr>
              <a:buFont typeface="Wingdings" pitchFamily="2" charset="2"/>
              <a:buNone/>
              <a:defRPr/>
            </a:pPr>
            <a:r>
              <a:rPr lang="es-ES_tradnl" altLang="es-ES" sz="28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s-ES_tradnl" altLang="es-ES" sz="2800" b="1" dirty="0">
                <a:solidFill>
                  <a:srgbClr val="CC0066"/>
                </a:solidFill>
                <a:latin typeface="Calibri" panose="020F0502020204030204" pitchFamily="34" charset="0"/>
                <a:ea typeface="Calibri" panose="020F0502020204030204" pitchFamily="34" charset="0"/>
                <a:cs typeface="Calibri" panose="020F0502020204030204" pitchFamily="34" charset="0"/>
              </a:rPr>
              <a:t>Safety</a:t>
            </a:r>
            <a:r>
              <a:rPr lang="es-ES_tradnl" altLang="es-ES" sz="2800" dirty="0">
                <a:solidFill>
                  <a:schemeClr val="tx2"/>
                </a:solidFill>
                <a:latin typeface="Calibri" panose="020F0502020204030204" pitchFamily="34" charset="0"/>
                <a:ea typeface="Calibri" panose="020F0502020204030204" pitchFamily="34" charset="0"/>
                <a:cs typeface="Calibri" panose="020F0502020204030204" pitchFamily="34" charset="0"/>
              </a:rPr>
              <a:t>     &amp;    </a:t>
            </a:r>
            <a:r>
              <a:rPr lang="es-ES_tradnl" altLang="es-ES" sz="2800" b="1" dirty="0">
                <a:solidFill>
                  <a:srgbClr val="CC0066"/>
                </a:solidFill>
                <a:latin typeface="Calibri" panose="020F0502020204030204" pitchFamily="34" charset="0"/>
                <a:ea typeface="Calibri" panose="020F0502020204030204" pitchFamily="34" charset="0"/>
                <a:cs typeface="Calibri" panose="020F0502020204030204" pitchFamily="34" charset="0"/>
              </a:rPr>
              <a:t>Security</a:t>
            </a:r>
          </a:p>
          <a:p>
            <a:pPr algn="ctr"/>
            <a:r>
              <a:rPr lang="es-ES" sz="2800" dirty="0">
                <a:solidFill>
                  <a:schemeClr val="tx2"/>
                </a:solidFill>
                <a:latin typeface="Calibri" panose="020F0502020204030204" pitchFamily="34" charset="0"/>
                <a:ea typeface="Calibri" panose="020F0502020204030204" pitchFamily="34" charset="0"/>
                <a:cs typeface="Calibri" panose="020F0502020204030204" pitchFamily="34" charset="0"/>
              </a:rPr>
              <a:t>El sistema no causa daño a otros     &amp;   Otros no pueden causar daño al</a:t>
            </a:r>
            <a:br>
              <a:rPr lang="es-ES" sz="2800" dirty="0">
                <a:solidFill>
                  <a:schemeClr val="tx2"/>
                </a:solidFill>
                <a:latin typeface="Calibri" panose="020F0502020204030204" pitchFamily="34" charset="0"/>
                <a:ea typeface="Calibri" panose="020F0502020204030204" pitchFamily="34" charset="0"/>
                <a:cs typeface="Calibri" panose="020F0502020204030204" pitchFamily="34" charset="0"/>
              </a:rPr>
            </a:br>
            <a:r>
              <a:rPr lang="es-ES" sz="2800" dirty="0">
                <a:solidFill>
                  <a:schemeClr val="tx2"/>
                </a:solidFill>
                <a:latin typeface="Calibri" panose="020F0502020204030204" pitchFamily="34" charset="0"/>
                <a:ea typeface="Calibri" panose="020F0502020204030204" pitchFamily="34" charset="0"/>
                <a:cs typeface="Calibri" panose="020F0502020204030204" pitchFamily="34" charset="0"/>
              </a:rPr>
              <a:t>						 sistema</a:t>
            </a:r>
          </a:p>
          <a:p>
            <a:pPr algn="ctr">
              <a:spcBef>
                <a:spcPct val="20000"/>
              </a:spcBef>
              <a:buClr>
                <a:srgbClr val="000099"/>
              </a:buClr>
              <a:buFont typeface="Wingdings" pitchFamily="2" charset="2"/>
              <a:buNone/>
              <a:defRPr/>
            </a:pPr>
            <a:endParaRPr lang="es-ES_tradnl" altLang="es-ES" sz="2800" b="1" dirty="0">
              <a:solidFill>
                <a:srgbClr val="CC0066"/>
              </a:solidFill>
              <a:latin typeface="Calibri" panose="020F0502020204030204" pitchFamily="34" charset="0"/>
              <a:ea typeface="Calibri" panose="020F0502020204030204" pitchFamily="34" charset="0"/>
              <a:cs typeface="Calibri" panose="020F0502020204030204" pitchFamily="34" charset="0"/>
            </a:endParaRPr>
          </a:p>
        </p:txBody>
      </p:sp>
      <p:sp>
        <p:nvSpPr>
          <p:cNvPr id="6" name="Marcador de número de diapositiva 5"/>
          <p:cNvSpPr>
            <a:spLocks noGrp="1"/>
          </p:cNvSpPr>
          <p:nvPr>
            <p:ph type="sldNum" sz="quarter" idx="12"/>
          </p:nvPr>
        </p:nvSpPr>
        <p:spPr/>
        <p:txBody>
          <a:bodyPr/>
          <a:lstStyle/>
          <a:p>
            <a:endParaRPr lang="es-ES"/>
          </a:p>
          <a:p>
            <a:endParaRPr lang="es-ES" dirty="0"/>
          </a:p>
        </p:txBody>
      </p:sp>
      <p:pic>
        <p:nvPicPr>
          <p:cNvPr id="10" name="Picture 5">
            <a:extLst>
              <a:ext uri="{FF2B5EF4-FFF2-40B4-BE49-F238E27FC236}">
                <a16:creationId xmlns:a16="http://schemas.microsoft.com/office/drawing/2014/main" id="{DD63DF68-310F-4796-BD5B-B232232802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108" t="52856" r="43304" b="5080"/>
          <a:stretch>
            <a:fillRect/>
          </a:stretch>
        </p:blipFill>
        <p:spPr bwMode="auto">
          <a:xfrm>
            <a:off x="1971623" y="3155992"/>
            <a:ext cx="3886252" cy="3332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4 Rectángulo">
            <a:extLst>
              <a:ext uri="{FF2B5EF4-FFF2-40B4-BE49-F238E27FC236}">
                <a16:creationId xmlns:a16="http://schemas.microsoft.com/office/drawing/2014/main" id="{5351BAAA-CA7F-4461-96FF-C0602FC39811}"/>
              </a:ext>
            </a:extLst>
          </p:cNvPr>
          <p:cNvSpPr>
            <a:spLocks noChangeArrowheads="1"/>
          </p:cNvSpPr>
          <p:nvPr/>
        </p:nvSpPr>
        <p:spPr bwMode="auto">
          <a:xfrm>
            <a:off x="6191252" y="3376744"/>
            <a:ext cx="34385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Font typeface="Wingdings" panose="05000000000000000000" pitchFamily="2" charset="2"/>
              <a:buChar char="ü"/>
              <a:defRPr sz="2800" b="1">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FontTx/>
              <a:buNone/>
            </a:pPr>
            <a:r>
              <a:rPr lang="es-ES" altLang="es-ES" sz="1200" b="0" dirty="0">
                <a:solidFill>
                  <a:schemeClr val="tx1"/>
                </a:solidFill>
                <a:cs typeface="Arial" panose="020B0604020202020204" pitchFamily="34" charset="0"/>
                <a:hlinkClick r:id="rId4"/>
              </a:rPr>
              <a:t>https://www.elmundo.es/tecnologia/2019/02/12/5c62e9a9fdddff6b268b4667.html</a:t>
            </a:r>
            <a:r>
              <a:rPr lang="es-ES" altLang="es-ES" sz="1200" b="0" dirty="0">
                <a:solidFill>
                  <a:schemeClr val="tx1"/>
                </a:solidFill>
                <a:cs typeface="Arial" panose="020B0604020202020204" pitchFamily="34" charset="0"/>
              </a:rPr>
              <a:t> </a:t>
            </a:r>
          </a:p>
        </p:txBody>
      </p:sp>
    </p:spTree>
    <p:extLst>
      <p:ext uri="{BB962C8B-B14F-4D97-AF65-F5344CB8AC3E}">
        <p14:creationId xmlns:p14="http://schemas.microsoft.com/office/powerpoint/2010/main" val="345496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607330" y="-148590"/>
            <a:ext cx="11584669" cy="1095647"/>
          </a:xfrm>
        </p:spPr>
        <p:txBody>
          <a:bodyPr>
            <a:normAutofit/>
          </a:bodyPr>
          <a:lstStyle/>
          <a:p>
            <a:r>
              <a:rPr lang="es-ES_tradnl" b="1" dirty="0"/>
              <a:t>2.2 Problemas éticos relevantes en ingeniería: Seguridad, uso dual</a:t>
            </a:r>
            <a:endParaRPr lang="es-ES_tradnl" dirty="0"/>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19</a:t>
            </a:fld>
            <a:endParaRPr lang="es-ES" sz="1400"/>
          </a:p>
        </p:txBody>
      </p:sp>
      <p:sp>
        <p:nvSpPr>
          <p:cNvPr id="3" name="2 Rectángulo redondeado"/>
          <p:cNvSpPr/>
          <p:nvPr/>
        </p:nvSpPr>
        <p:spPr>
          <a:xfrm>
            <a:off x="8090805" y="1951671"/>
            <a:ext cx="3386820" cy="16981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b="1" dirty="0">
                <a:latin typeface="Lato" panose="020F0502020204030203"/>
              </a:rPr>
              <a:t>Referencias:</a:t>
            </a:r>
          </a:p>
          <a:p>
            <a:r>
              <a:rPr lang="es-ES" sz="2000" dirty="0">
                <a:latin typeface="Lato" panose="020F0502020204030203"/>
              </a:rPr>
              <a:t>ACM: 1.1, 1.2, 2.9</a:t>
            </a:r>
          </a:p>
          <a:p>
            <a:r>
              <a:rPr lang="es-ES" sz="2000" dirty="0">
                <a:latin typeface="Lato" panose="020F0502020204030203"/>
              </a:rPr>
              <a:t>COITT: 88, 89</a:t>
            </a:r>
          </a:p>
          <a:p>
            <a:r>
              <a:rPr lang="es-ES" sz="2000" dirty="0">
                <a:latin typeface="Lato" panose="020F0502020204030203"/>
              </a:rPr>
              <a:t>IEEE (1990): 1, 9</a:t>
            </a:r>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endParaRPr lang="es-ES"/>
          </a:p>
          <a:p>
            <a:endParaRPr lang="es-ES" dirty="0"/>
          </a:p>
        </p:txBody>
      </p:sp>
      <p:sp>
        <p:nvSpPr>
          <p:cNvPr id="13" name="CuadroTexto 12">
            <a:extLst>
              <a:ext uri="{FF2B5EF4-FFF2-40B4-BE49-F238E27FC236}">
                <a16:creationId xmlns:a16="http://schemas.microsoft.com/office/drawing/2014/main" id="{338CD6AA-2E0F-45BC-A6DF-E25DF7E36696}"/>
              </a:ext>
            </a:extLst>
          </p:cNvPr>
          <p:cNvSpPr txBox="1"/>
          <p:nvPr/>
        </p:nvSpPr>
        <p:spPr>
          <a:xfrm>
            <a:off x="607330" y="1130300"/>
            <a:ext cx="6993619" cy="2308324"/>
          </a:xfrm>
          <a:prstGeom prst="rect">
            <a:avLst/>
          </a:prstGeom>
          <a:noFill/>
          <a:ln w="28575">
            <a:solidFill>
              <a:srgbClr val="92D050"/>
            </a:solidFill>
          </a:ln>
        </p:spPr>
        <p:txBody>
          <a:bodyPr wrap="square">
            <a:spAutoFit/>
          </a:bodyPr>
          <a:lstStyle/>
          <a:p>
            <a:pPr algn="l"/>
            <a:r>
              <a:rPr lang="es-ES" sz="2400" b="1" i="0" u="none" strike="noStrike" baseline="0" dirty="0"/>
              <a:t>IEEE (1990)</a:t>
            </a:r>
          </a:p>
          <a:p>
            <a:pPr algn="l"/>
            <a:r>
              <a:rPr lang="es-ES" sz="2400" b="0" i="1" u="none" strike="noStrike" baseline="0" dirty="0"/>
              <a:t>1. Aceptar la responsabilidad de tomar decisiones de ingeniería que guarden coherencia</a:t>
            </a:r>
          </a:p>
          <a:p>
            <a:pPr algn="l"/>
            <a:r>
              <a:rPr lang="es-ES" sz="2400" b="0" i="1" u="none" strike="noStrike" baseline="0" dirty="0"/>
              <a:t>con la </a:t>
            </a:r>
            <a:r>
              <a:rPr lang="es-ES" sz="2400" b="1" i="1" u="none" strike="noStrike" baseline="0" dirty="0"/>
              <a:t>seguridad, la salud y el bienestar del público</a:t>
            </a:r>
            <a:r>
              <a:rPr lang="es-ES" sz="2400" b="0" i="1" u="none" strike="noStrike" baseline="0" dirty="0"/>
              <a:t>, así como a </a:t>
            </a:r>
            <a:r>
              <a:rPr lang="es-ES" sz="2400" b="1" i="1" u="none" strike="noStrike" baseline="0" dirty="0"/>
              <a:t>revelar los factores </a:t>
            </a:r>
            <a:r>
              <a:rPr lang="es-ES" sz="2400" b="0" i="1" u="none" strike="noStrike" baseline="0" dirty="0"/>
              <a:t>que puedan poner en peligro al </a:t>
            </a:r>
            <a:r>
              <a:rPr lang="es-ES" sz="2400" b="1" i="1" u="none" strike="noStrike" baseline="0" dirty="0"/>
              <a:t>público</a:t>
            </a:r>
            <a:r>
              <a:rPr lang="es-ES" sz="2400" b="0" i="1" u="none" strike="noStrike" baseline="0" dirty="0"/>
              <a:t> o al </a:t>
            </a:r>
            <a:r>
              <a:rPr lang="es-ES" sz="2400" b="1" i="1" u="none" strike="noStrike" baseline="0" dirty="0"/>
              <a:t>medio ambiente</a:t>
            </a:r>
            <a:r>
              <a:rPr lang="es-ES" sz="2400" b="0" i="1" u="none" strike="noStrike" baseline="0" dirty="0"/>
              <a:t>;</a:t>
            </a:r>
            <a:endParaRPr lang="es-ES" sz="2400" i="1" dirty="0"/>
          </a:p>
        </p:txBody>
      </p:sp>
      <p:sp>
        <p:nvSpPr>
          <p:cNvPr id="12" name="1 CuadroTexto">
            <a:extLst>
              <a:ext uri="{FF2B5EF4-FFF2-40B4-BE49-F238E27FC236}">
                <a16:creationId xmlns:a16="http://schemas.microsoft.com/office/drawing/2014/main" id="{1E42ABD8-845B-4AE8-B3A7-743E16A34FC9}"/>
              </a:ext>
            </a:extLst>
          </p:cNvPr>
          <p:cNvSpPr txBox="1"/>
          <p:nvPr/>
        </p:nvSpPr>
        <p:spPr>
          <a:xfrm>
            <a:off x="1307203" y="4314459"/>
            <a:ext cx="9805297" cy="1384995"/>
          </a:xfrm>
          <a:prstGeom prst="rect">
            <a:avLst/>
          </a:prstGeom>
          <a:noFill/>
          <a:ln w="63500">
            <a:solidFill>
              <a:schemeClr val="accent1"/>
            </a:solidFill>
          </a:ln>
        </p:spPr>
        <p:txBody>
          <a:bodyPr wrap="square" rtlCol="0">
            <a:spAutoFit/>
          </a:bodyPr>
          <a:lstStyle/>
          <a:p>
            <a:pPr algn="ctr">
              <a:spcBef>
                <a:spcPct val="20000"/>
              </a:spcBef>
              <a:buClr>
                <a:srgbClr val="000099"/>
              </a:buClr>
              <a:defRPr/>
            </a:pPr>
            <a:r>
              <a:rPr lang="es-ES_tradnl" altLang="es-ES" sz="2800" dirty="0">
                <a:solidFill>
                  <a:schemeClr val="tx2"/>
                </a:solidFill>
                <a:latin typeface="Lato" panose="020F0502020204030203"/>
                <a:cs typeface="Arial" pitchFamily="34" charset="0"/>
              </a:rPr>
              <a:t>Propuestas</a:t>
            </a:r>
          </a:p>
          <a:p>
            <a:pPr algn="ctr">
              <a:spcBef>
                <a:spcPct val="0"/>
              </a:spcBef>
            </a:pPr>
            <a:r>
              <a:rPr lang="es-ES" altLang="es-ES" sz="2800" dirty="0">
                <a:solidFill>
                  <a:srgbClr val="92D050"/>
                </a:solidFill>
                <a:latin typeface="Lato" panose="020F0502020204030203"/>
                <a:cs typeface="Arial" panose="020B0604020202020204" pitchFamily="34" charset="0"/>
              </a:rPr>
              <a:t>Evaluar y Analizar +  Informar </a:t>
            </a:r>
          </a:p>
          <a:p>
            <a:pPr algn="ctr">
              <a:spcBef>
                <a:spcPct val="0"/>
              </a:spcBef>
            </a:pPr>
            <a:r>
              <a:rPr lang="es-ES" altLang="es-ES" sz="2800" dirty="0">
                <a:solidFill>
                  <a:srgbClr val="92D050"/>
                </a:solidFill>
                <a:latin typeface="Lato" panose="020F0502020204030203"/>
                <a:cs typeface="Arial" panose="020B0604020202020204" pitchFamily="34" charset="0"/>
              </a:rPr>
              <a:t>Minimizar daños + Considerar no implementar</a:t>
            </a:r>
          </a:p>
        </p:txBody>
      </p:sp>
    </p:spTree>
    <p:extLst>
      <p:ext uri="{BB962C8B-B14F-4D97-AF65-F5344CB8AC3E}">
        <p14:creationId xmlns:p14="http://schemas.microsoft.com/office/powerpoint/2010/main" val="1108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88900" y="-125730"/>
            <a:ext cx="12192230" cy="1072787"/>
          </a:xfrm>
        </p:spPr>
        <p:txBody>
          <a:bodyPr>
            <a:normAutofit/>
          </a:bodyPr>
          <a:lstStyle/>
          <a:p>
            <a:r>
              <a:rPr lang="es-ES_tradnl" dirty="0"/>
              <a:t>   </a:t>
            </a:r>
            <a:r>
              <a:rPr lang="es-ES_tradnl" b="1" dirty="0"/>
              <a:t>2.2 Problemas éticos relevantes en ingeniería: Conflicto de intereses</a:t>
            </a:r>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20</a:t>
            </a:fld>
            <a:endParaRPr lang="es-ES" sz="1400"/>
          </a:p>
        </p:txBody>
      </p:sp>
      <p:sp>
        <p:nvSpPr>
          <p:cNvPr id="7" name="Rectangle 7"/>
          <p:cNvSpPr txBox="1">
            <a:spLocks noChangeArrowheads="1"/>
          </p:cNvSpPr>
          <p:nvPr/>
        </p:nvSpPr>
        <p:spPr bwMode="auto">
          <a:xfrm>
            <a:off x="607331" y="996272"/>
            <a:ext cx="9898744" cy="518203"/>
          </a:xfrm>
          <a:prstGeom prst="rect">
            <a:avLst/>
          </a:prstGeom>
          <a:noFill/>
          <a:ln w="9525">
            <a:noFill/>
            <a:miter lim="800000"/>
            <a:headEnd/>
            <a:tailEnd/>
          </a:ln>
          <a:effectLst/>
        </p:spPr>
        <p:txBody>
          <a:bodyPr/>
          <a:lstStyle>
            <a:lvl1pPr marL="441325" indent="-441325"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355725" indent="-441325"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0" indent="0" algn="ctr">
              <a:spcBef>
                <a:spcPct val="20000"/>
              </a:spcBef>
              <a:buClr>
                <a:srgbClr val="000099"/>
              </a:buClr>
              <a:defRPr/>
            </a:pPr>
            <a:endParaRPr lang="es-ES_tradnl" altLang="es-ES" sz="2800" b="1" dirty="0">
              <a:solidFill>
                <a:srgbClr val="CC0066"/>
              </a:solidFill>
              <a:latin typeface="Lato" panose="020F0502020204030203"/>
              <a:cs typeface="Arial" pitchFamily="34" charset="0"/>
            </a:endParaRPr>
          </a:p>
          <a:p>
            <a:pPr algn="ctr">
              <a:spcBef>
                <a:spcPct val="20000"/>
              </a:spcBef>
              <a:buClr>
                <a:srgbClr val="000099"/>
              </a:buClr>
              <a:buFont typeface="Wingdings" pitchFamily="2" charset="2"/>
              <a:buNone/>
              <a:defRPr/>
            </a:pPr>
            <a:r>
              <a:rPr lang="es-ES_tradnl" altLang="es-ES" sz="2800" b="1" dirty="0">
                <a:solidFill>
                  <a:srgbClr val="B9B9B9"/>
                </a:solidFill>
                <a:latin typeface="Lato" panose="020F0502020204030203"/>
                <a:cs typeface="Arial" pitchFamily="34" charset="0"/>
              </a:rPr>
              <a:t>	</a:t>
            </a:r>
            <a:endParaRPr lang="es-ES" sz="2000" dirty="0">
              <a:solidFill>
                <a:schemeClr val="tx2"/>
              </a:solidFill>
              <a:latin typeface="Lato" panose="020F0502020204030203"/>
            </a:endParaRPr>
          </a:p>
          <a:p>
            <a:pPr algn="ctr">
              <a:spcBef>
                <a:spcPct val="20000"/>
              </a:spcBef>
              <a:buClr>
                <a:srgbClr val="000099"/>
              </a:buClr>
              <a:buFont typeface="Wingdings" pitchFamily="2" charset="2"/>
              <a:buNone/>
              <a:defRPr/>
            </a:pPr>
            <a:endParaRPr lang="es-ES_tradnl" altLang="es-ES" sz="2000" b="1" dirty="0">
              <a:solidFill>
                <a:srgbClr val="CC0066"/>
              </a:solidFill>
              <a:cs typeface="Arial" pitchFamily="34" charset="0"/>
            </a:endParaRPr>
          </a:p>
        </p:txBody>
      </p:sp>
      <p:sp>
        <p:nvSpPr>
          <p:cNvPr id="3" name="2 Rectángulo redondeado"/>
          <p:cNvSpPr/>
          <p:nvPr/>
        </p:nvSpPr>
        <p:spPr>
          <a:xfrm>
            <a:off x="607331" y="4301966"/>
            <a:ext cx="2952750" cy="16981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b="1" dirty="0">
                <a:latin typeface="Lato" panose="020F0502020204030203"/>
              </a:rPr>
              <a:t>Referencias:</a:t>
            </a:r>
          </a:p>
          <a:p>
            <a:r>
              <a:rPr lang="es-ES" sz="2000" dirty="0"/>
              <a:t>ACM: 1.1</a:t>
            </a:r>
          </a:p>
          <a:p>
            <a:r>
              <a:rPr lang="es-ES" sz="2000" dirty="0"/>
              <a:t>COITT: 81</a:t>
            </a:r>
          </a:p>
          <a:p>
            <a:r>
              <a:rPr lang="es-ES" sz="2000" dirty="0"/>
              <a:t>IEEE (2014): 5(a)(b)</a:t>
            </a:r>
          </a:p>
        </p:txBody>
      </p:sp>
      <p:sp>
        <p:nvSpPr>
          <p:cNvPr id="6" name="Marcador de número de diapositiva 5"/>
          <p:cNvSpPr>
            <a:spLocks noGrp="1"/>
          </p:cNvSpPr>
          <p:nvPr>
            <p:ph type="sldNum" sz="quarter" idx="12"/>
          </p:nvPr>
        </p:nvSpPr>
        <p:spPr/>
        <p:txBody>
          <a:bodyPr/>
          <a:lstStyle/>
          <a:p>
            <a:endParaRPr lang="es-ES"/>
          </a:p>
          <a:p>
            <a:endParaRPr lang="es-ES" dirty="0"/>
          </a:p>
        </p:txBody>
      </p:sp>
      <p:sp>
        <p:nvSpPr>
          <p:cNvPr id="13" name="CuadroTexto 12">
            <a:extLst>
              <a:ext uri="{FF2B5EF4-FFF2-40B4-BE49-F238E27FC236}">
                <a16:creationId xmlns:a16="http://schemas.microsoft.com/office/drawing/2014/main" id="{338CD6AA-2E0F-45BC-A6DF-E25DF7E36696}"/>
              </a:ext>
            </a:extLst>
          </p:cNvPr>
          <p:cNvSpPr txBox="1"/>
          <p:nvPr/>
        </p:nvSpPr>
        <p:spPr>
          <a:xfrm>
            <a:off x="241300" y="947057"/>
            <a:ext cx="11366500" cy="1508105"/>
          </a:xfrm>
          <a:prstGeom prst="rect">
            <a:avLst/>
          </a:prstGeom>
          <a:solidFill>
            <a:schemeClr val="bg1"/>
          </a:solidFill>
          <a:ln w="28575">
            <a:solidFill>
              <a:srgbClr val="92D050"/>
            </a:solidFill>
          </a:ln>
        </p:spPr>
        <p:txBody>
          <a:bodyPr wrap="square">
            <a:spAutoFit/>
          </a:bodyPr>
          <a:lstStyle/>
          <a:p>
            <a:pPr indent="6350">
              <a:spcBef>
                <a:spcPts val="0"/>
              </a:spcBef>
              <a:spcAft>
                <a:spcPts val="1200"/>
              </a:spcAft>
              <a:buFont typeface="Wingdings" pitchFamily="2" charset="2"/>
              <a:buNone/>
              <a:defRPr/>
            </a:pPr>
            <a:r>
              <a:rPr lang="es-ES_tradnl" altLang="es-ES" sz="2400" dirty="0">
                <a:latin typeface="Calibri" panose="020F0502020204030204" pitchFamily="34" charset="0"/>
                <a:ea typeface="Calibri" panose="020F0502020204030204" pitchFamily="34" charset="0"/>
                <a:cs typeface="Calibri" panose="020F0502020204030204" pitchFamily="34" charset="0"/>
              </a:rPr>
              <a:t>Conflicto</a:t>
            </a:r>
            <a:r>
              <a:rPr lang="es-ES_tradnl" altLang="es-ES" sz="2400" b="0" dirty="0">
                <a:latin typeface="Calibri" panose="020F0502020204030204" pitchFamily="34" charset="0"/>
                <a:ea typeface="Calibri" panose="020F0502020204030204" pitchFamily="34" charset="0"/>
                <a:cs typeface="Calibri" panose="020F0502020204030204" pitchFamily="34" charset="0"/>
              </a:rPr>
              <a:t> entre </a:t>
            </a:r>
            <a:r>
              <a:rPr lang="es-ES_tradnl" altLang="es-ES" sz="2400" b="1" dirty="0">
                <a:latin typeface="Calibri" panose="020F0502020204030204" pitchFamily="34" charset="0"/>
                <a:ea typeface="Calibri" panose="020F0502020204030204" pitchFamily="34" charset="0"/>
                <a:cs typeface="Calibri" panose="020F0502020204030204" pitchFamily="34" charset="0"/>
              </a:rPr>
              <a:t>intereses particulares </a:t>
            </a:r>
            <a:r>
              <a:rPr lang="es-ES_tradnl" altLang="es-ES" sz="2400" b="0" dirty="0">
                <a:latin typeface="Calibri" panose="020F0502020204030204" pitchFamily="34" charset="0"/>
                <a:ea typeface="Calibri" panose="020F0502020204030204" pitchFamily="34" charset="0"/>
                <a:cs typeface="Calibri" panose="020F0502020204030204" pitchFamily="34" charset="0"/>
              </a:rPr>
              <a:t>– propios o del cliente – y los </a:t>
            </a:r>
            <a:r>
              <a:rPr lang="es-ES_tradnl" altLang="es-ES" sz="2400" b="1" dirty="0">
                <a:latin typeface="Calibri" panose="020F0502020204030204" pitchFamily="34" charset="0"/>
                <a:ea typeface="Calibri" panose="020F0502020204030204" pitchFamily="34" charset="0"/>
                <a:cs typeface="Calibri" panose="020F0502020204030204" pitchFamily="34" charset="0"/>
              </a:rPr>
              <a:t>intereses generales</a:t>
            </a:r>
            <a:r>
              <a:rPr lang="es-ES_tradnl" altLang="es-ES" sz="2400" b="0" dirty="0">
                <a:latin typeface="Calibri" panose="020F0502020204030204" pitchFamily="34" charset="0"/>
                <a:ea typeface="Calibri" panose="020F0502020204030204" pitchFamily="34" charset="0"/>
                <a:cs typeface="Calibri" panose="020F0502020204030204" pitchFamily="34" charset="0"/>
              </a:rPr>
              <a:t>. </a:t>
            </a:r>
          </a:p>
          <a:p>
            <a:pPr indent="6350">
              <a:spcBef>
                <a:spcPts val="0"/>
              </a:spcBef>
              <a:spcAft>
                <a:spcPts val="1200"/>
              </a:spcAft>
              <a:buFont typeface="Wingdings" pitchFamily="2" charset="2"/>
              <a:buNone/>
              <a:defRPr/>
            </a:pPr>
            <a:r>
              <a:rPr lang="es-ES_tradnl" altLang="es-ES" sz="2400" b="0" dirty="0">
                <a:latin typeface="Calibri" panose="020F0502020204030204" pitchFamily="34" charset="0"/>
                <a:ea typeface="Calibri" panose="020F0502020204030204" pitchFamily="34" charset="0"/>
                <a:cs typeface="Calibri" panose="020F0502020204030204" pitchFamily="34" charset="0"/>
              </a:rPr>
              <a:t>Perseguir </a:t>
            </a:r>
            <a:r>
              <a:rPr lang="es-ES_tradnl" altLang="es-ES" sz="2400" b="1" dirty="0">
                <a:latin typeface="Calibri" panose="020F0502020204030204" pitchFamily="34" charset="0"/>
                <a:ea typeface="Calibri" panose="020F0502020204030204" pitchFamily="34" charset="0"/>
                <a:cs typeface="Calibri" panose="020F0502020204030204" pitchFamily="34" charset="0"/>
              </a:rPr>
              <a:t>intereses legítimos </a:t>
            </a:r>
            <a:r>
              <a:rPr lang="es-ES_tradnl" altLang="es-ES" sz="2400" b="0" dirty="0">
                <a:latin typeface="Calibri" panose="020F0502020204030204" pitchFamily="34" charset="0"/>
                <a:ea typeface="Calibri" panose="020F0502020204030204" pitchFamily="34" charset="0"/>
                <a:cs typeface="Calibri" panose="020F0502020204030204" pitchFamily="34" charset="0"/>
              </a:rPr>
              <a:t>con </a:t>
            </a:r>
            <a:r>
              <a:rPr lang="es-ES_tradnl" altLang="es-ES" sz="2400" b="1" dirty="0">
                <a:latin typeface="Calibri" panose="020F0502020204030204" pitchFamily="34" charset="0"/>
                <a:ea typeface="Calibri" panose="020F0502020204030204" pitchFamily="34" charset="0"/>
                <a:cs typeface="Calibri" panose="020F0502020204030204" pitchFamily="34" charset="0"/>
              </a:rPr>
              <a:t>medios ilegítimos </a:t>
            </a:r>
            <a:r>
              <a:rPr lang="es-ES_tradnl" altLang="es-ES" sz="2400" b="0" dirty="0">
                <a:latin typeface="Calibri" panose="020F0502020204030204" pitchFamily="34" charset="0"/>
                <a:ea typeface="Calibri" panose="020F0502020204030204" pitchFamily="34" charset="0"/>
                <a:cs typeface="Calibri" panose="020F0502020204030204" pitchFamily="34" charset="0"/>
              </a:rPr>
              <a:t>(corrupción, fraudes, sobornos,…). </a:t>
            </a:r>
          </a:p>
          <a:p>
            <a:pPr indent="6350">
              <a:spcBef>
                <a:spcPts val="0"/>
              </a:spcBef>
              <a:spcAft>
                <a:spcPts val="1200"/>
              </a:spcAft>
              <a:buFont typeface="Wingdings" pitchFamily="2" charset="2"/>
              <a:buNone/>
              <a:defRPr/>
            </a:pPr>
            <a:r>
              <a:rPr lang="es-ES_tradnl" altLang="es-ES" sz="2400" b="0" dirty="0">
                <a:latin typeface="Calibri" panose="020F0502020204030204" pitchFamily="34" charset="0"/>
                <a:ea typeface="Calibri" panose="020F0502020204030204" pitchFamily="34" charset="0"/>
                <a:cs typeface="Calibri" panose="020F0502020204030204" pitchFamily="34" charset="0"/>
              </a:rPr>
              <a:t>Conflicto </a:t>
            </a:r>
            <a:r>
              <a:rPr lang="es-ES_tradnl" altLang="es-ES" sz="2400" b="1" dirty="0">
                <a:latin typeface="Calibri" panose="020F0502020204030204" pitchFamily="34" charset="0"/>
                <a:ea typeface="Calibri" panose="020F0502020204030204" pitchFamily="34" charset="0"/>
                <a:cs typeface="Calibri" panose="020F0502020204030204" pitchFamily="34" charset="0"/>
              </a:rPr>
              <a:t>entre dos principios o valores éticos </a:t>
            </a:r>
            <a:r>
              <a:rPr lang="es-ES_tradnl" altLang="es-ES" sz="2400" dirty="0">
                <a:latin typeface="Calibri" panose="020F0502020204030204" pitchFamily="34" charset="0"/>
                <a:ea typeface="Calibri" panose="020F0502020204030204" pitchFamily="34" charset="0"/>
                <a:cs typeface="Calibri" panose="020F0502020204030204" pitchFamily="34" charset="0"/>
              </a:rPr>
              <a:t>aceptados</a:t>
            </a:r>
            <a:r>
              <a:rPr lang="es-ES_tradnl" altLang="es-ES" sz="2400" b="0" dirty="0">
                <a:latin typeface="Calibri" panose="020F0502020204030204" pitchFamily="34" charset="0"/>
                <a:ea typeface="Calibri" panose="020F0502020204030204" pitchFamily="34" charset="0"/>
                <a:cs typeface="Calibri" panose="020F0502020204030204" pitchFamily="34" charset="0"/>
              </a:rPr>
              <a:t>.</a:t>
            </a:r>
          </a:p>
        </p:txBody>
      </p:sp>
      <p:pic>
        <p:nvPicPr>
          <p:cNvPr id="9" name="Imagen 8">
            <a:extLst>
              <a:ext uri="{FF2B5EF4-FFF2-40B4-BE49-F238E27FC236}">
                <a16:creationId xmlns:a16="http://schemas.microsoft.com/office/drawing/2014/main" id="{9311C584-7ACC-48FA-8AD9-65B505AFF5E6}"/>
              </a:ext>
            </a:extLst>
          </p:cNvPr>
          <p:cNvPicPr>
            <a:picLocks noChangeAspect="1"/>
          </p:cNvPicPr>
          <p:nvPr/>
        </p:nvPicPr>
        <p:blipFill rotWithShape="1">
          <a:blip r:embed="rId3"/>
          <a:srcRect l="30938" t="30417" r="30469" b="25277"/>
          <a:stretch/>
        </p:blipFill>
        <p:spPr>
          <a:xfrm>
            <a:off x="7213601" y="2980442"/>
            <a:ext cx="4454212" cy="2876304"/>
          </a:xfrm>
          <a:prstGeom prst="rect">
            <a:avLst/>
          </a:prstGeom>
        </p:spPr>
      </p:pic>
      <p:sp>
        <p:nvSpPr>
          <p:cNvPr id="14" name="CuadroTexto 13">
            <a:extLst>
              <a:ext uri="{FF2B5EF4-FFF2-40B4-BE49-F238E27FC236}">
                <a16:creationId xmlns:a16="http://schemas.microsoft.com/office/drawing/2014/main" id="{947F0582-D457-4383-8C6E-0F4C2ED50607}"/>
              </a:ext>
            </a:extLst>
          </p:cNvPr>
          <p:cNvSpPr txBox="1"/>
          <p:nvPr/>
        </p:nvSpPr>
        <p:spPr>
          <a:xfrm>
            <a:off x="7296150" y="6000139"/>
            <a:ext cx="1793190" cy="553998"/>
          </a:xfrm>
          <a:prstGeom prst="rect">
            <a:avLst/>
          </a:prstGeom>
          <a:noFill/>
        </p:spPr>
        <p:txBody>
          <a:bodyPr wrap="square">
            <a:spAutoFit/>
          </a:bodyPr>
          <a:lstStyle/>
          <a:p>
            <a:r>
              <a:rPr lang="es-ES" sz="1000" dirty="0">
                <a:hlinkClick r:id="rId4"/>
              </a:rPr>
              <a:t>https://www.pmconsul.com/conflicto-de-intereses-en-iso-3700/</a:t>
            </a:r>
            <a:r>
              <a:rPr lang="es-ES" sz="1000" dirty="0"/>
              <a:t> </a:t>
            </a:r>
          </a:p>
        </p:txBody>
      </p:sp>
    </p:spTree>
    <p:extLst>
      <p:ext uri="{BB962C8B-B14F-4D97-AF65-F5344CB8AC3E}">
        <p14:creationId xmlns:p14="http://schemas.microsoft.com/office/powerpoint/2010/main" val="2836709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607330" y="-148590"/>
            <a:ext cx="11495999" cy="1095647"/>
          </a:xfrm>
        </p:spPr>
        <p:txBody>
          <a:bodyPr>
            <a:normAutofit/>
          </a:bodyPr>
          <a:lstStyle/>
          <a:p>
            <a:pPr algn="l"/>
            <a:r>
              <a:rPr lang="es-ES_tradnl" sz="2800" b="1" dirty="0"/>
              <a:t>2.2 Problemas éticos relevantes en ingeniería: Conflicto de intereses</a:t>
            </a:r>
            <a:endParaRPr lang="es-ES_tradnl" sz="2800" dirty="0"/>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21</a:t>
            </a:fld>
            <a:endParaRPr lang="es-ES" sz="1400"/>
          </a:p>
        </p:txBody>
      </p:sp>
      <p:sp>
        <p:nvSpPr>
          <p:cNvPr id="7" name="Rectangle 7"/>
          <p:cNvSpPr txBox="1">
            <a:spLocks noChangeArrowheads="1"/>
          </p:cNvSpPr>
          <p:nvPr/>
        </p:nvSpPr>
        <p:spPr bwMode="auto">
          <a:xfrm>
            <a:off x="607331" y="996273"/>
            <a:ext cx="9898744" cy="465960"/>
          </a:xfrm>
          <a:prstGeom prst="rect">
            <a:avLst/>
          </a:prstGeom>
          <a:noFill/>
          <a:ln w="9525">
            <a:noFill/>
            <a:miter lim="800000"/>
            <a:headEnd/>
            <a:tailEnd/>
          </a:ln>
          <a:effectLst/>
        </p:spPr>
        <p:txBody>
          <a:bodyPr/>
          <a:lstStyle>
            <a:lvl1pPr marL="441325" indent="-441325"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355725" indent="-441325"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a:spcBef>
                <a:spcPct val="20000"/>
              </a:spcBef>
              <a:buClr>
                <a:srgbClr val="000099"/>
              </a:buClr>
              <a:buFont typeface="Wingdings" pitchFamily="2" charset="2"/>
              <a:buNone/>
              <a:defRPr/>
            </a:pPr>
            <a:r>
              <a:rPr lang="es-ES_tradnl" altLang="es-ES" sz="2800" b="1" dirty="0">
                <a:solidFill>
                  <a:srgbClr val="B9B9B9"/>
                </a:solidFill>
                <a:latin typeface="Lato" panose="020F0502020204030203"/>
                <a:cs typeface="Arial" pitchFamily="34" charset="0"/>
              </a:rPr>
              <a:t>	</a:t>
            </a:r>
            <a:endParaRPr lang="es-ES" sz="2000" dirty="0">
              <a:solidFill>
                <a:schemeClr val="tx2"/>
              </a:solidFill>
              <a:latin typeface="Lato" panose="020F0502020204030203"/>
            </a:endParaRPr>
          </a:p>
          <a:p>
            <a:pPr algn="ctr">
              <a:spcBef>
                <a:spcPct val="20000"/>
              </a:spcBef>
              <a:buClr>
                <a:srgbClr val="000099"/>
              </a:buClr>
              <a:buFont typeface="Wingdings" pitchFamily="2" charset="2"/>
              <a:buNone/>
              <a:defRPr/>
            </a:pPr>
            <a:endParaRPr lang="es-ES_tradnl" altLang="es-ES" sz="2000" b="1" dirty="0">
              <a:solidFill>
                <a:srgbClr val="CC0066"/>
              </a:solidFill>
              <a:cs typeface="Arial" pitchFamily="34" charset="0"/>
            </a:endParaRPr>
          </a:p>
        </p:txBody>
      </p:sp>
      <p:sp>
        <p:nvSpPr>
          <p:cNvPr id="6" name="Marcador de número de diapositiva 5"/>
          <p:cNvSpPr>
            <a:spLocks noGrp="1"/>
          </p:cNvSpPr>
          <p:nvPr>
            <p:ph type="sldNum" sz="quarter" idx="12"/>
          </p:nvPr>
        </p:nvSpPr>
        <p:spPr/>
        <p:txBody>
          <a:bodyPr/>
          <a:lstStyle/>
          <a:p>
            <a:endParaRPr lang="es-ES"/>
          </a:p>
          <a:p>
            <a:endParaRPr lang="es-ES" dirty="0"/>
          </a:p>
        </p:txBody>
      </p:sp>
      <p:sp>
        <p:nvSpPr>
          <p:cNvPr id="14" name="1 CuadroTexto">
            <a:extLst>
              <a:ext uri="{FF2B5EF4-FFF2-40B4-BE49-F238E27FC236}">
                <a16:creationId xmlns:a16="http://schemas.microsoft.com/office/drawing/2014/main" id="{939DB8D9-AFC0-460E-BC3B-AA963CEF8A03}"/>
              </a:ext>
            </a:extLst>
          </p:cNvPr>
          <p:cNvSpPr txBox="1"/>
          <p:nvPr/>
        </p:nvSpPr>
        <p:spPr>
          <a:xfrm>
            <a:off x="2153100" y="4053360"/>
            <a:ext cx="8404458" cy="1815882"/>
          </a:xfrm>
          <a:prstGeom prst="rect">
            <a:avLst/>
          </a:prstGeom>
          <a:solidFill>
            <a:schemeClr val="bg1"/>
          </a:solidFill>
          <a:ln w="63500">
            <a:solidFill>
              <a:schemeClr val="accent1"/>
            </a:solidFill>
          </a:ln>
        </p:spPr>
        <p:txBody>
          <a:bodyPr wrap="square" rtlCol="0">
            <a:spAutoFit/>
          </a:bodyPr>
          <a:lstStyle/>
          <a:p>
            <a:pPr algn="ctr">
              <a:spcBef>
                <a:spcPct val="20000"/>
              </a:spcBef>
              <a:buClr>
                <a:srgbClr val="000099"/>
              </a:buClr>
              <a:defRPr/>
            </a:pPr>
            <a:r>
              <a:rPr lang="es-ES_tradnl" altLang="es-ES" sz="2800" dirty="0">
                <a:solidFill>
                  <a:schemeClr val="tx2"/>
                </a:solidFill>
                <a:latin typeface="Lato" panose="020F0502020204030203"/>
                <a:cs typeface="Arial" pitchFamily="34" charset="0"/>
              </a:rPr>
              <a:t>Propuestas</a:t>
            </a:r>
          </a:p>
          <a:p>
            <a:pPr algn="ctr">
              <a:spcBef>
                <a:spcPct val="0"/>
              </a:spcBef>
            </a:pPr>
            <a:r>
              <a:rPr lang="es-ES" altLang="es-ES" sz="2800" i="1" dirty="0">
                <a:solidFill>
                  <a:srgbClr val="92D050"/>
                </a:solidFill>
                <a:latin typeface="Lato" panose="020F0502020204030203"/>
                <a:cs typeface="Arial" panose="020B0604020202020204" pitchFamily="34" charset="0"/>
              </a:rPr>
              <a:t>Evitar, objeción de conciencia, </a:t>
            </a:r>
          </a:p>
          <a:p>
            <a:pPr algn="ctr">
              <a:spcBef>
                <a:spcPct val="0"/>
              </a:spcBef>
            </a:pPr>
            <a:r>
              <a:rPr lang="es-ES" altLang="es-ES" sz="2800" i="1" dirty="0">
                <a:solidFill>
                  <a:srgbClr val="92D050"/>
                </a:solidFill>
                <a:latin typeface="Lato" panose="020F0502020204030203"/>
                <a:cs typeface="Arial" panose="020B0604020202020204" pitchFamily="34" charset="0"/>
              </a:rPr>
              <a:t>Informar, Transparencia, </a:t>
            </a:r>
          </a:p>
          <a:p>
            <a:pPr algn="ctr">
              <a:spcBef>
                <a:spcPct val="0"/>
              </a:spcBef>
            </a:pPr>
            <a:r>
              <a:rPr lang="es-ES" altLang="es-ES" sz="2800" i="1" dirty="0">
                <a:solidFill>
                  <a:srgbClr val="92D050"/>
                </a:solidFill>
                <a:latin typeface="Lato" panose="020F0502020204030203"/>
                <a:cs typeface="Arial" panose="020B0604020202020204" pitchFamily="34" charset="0"/>
              </a:rPr>
              <a:t>Moderar, Priorizar intereses de los más vulnerables</a:t>
            </a:r>
          </a:p>
        </p:txBody>
      </p:sp>
      <p:pic>
        <p:nvPicPr>
          <p:cNvPr id="10" name="Picture 3">
            <a:extLst>
              <a:ext uri="{FF2B5EF4-FFF2-40B4-BE49-F238E27FC236}">
                <a16:creationId xmlns:a16="http://schemas.microsoft.com/office/drawing/2014/main" id="{6C1A2DB3-A085-447D-9EC3-59B3F9E5F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516" t="29681" r="20714" b="47620"/>
          <a:stretch>
            <a:fillRect/>
          </a:stretch>
        </p:blipFill>
        <p:spPr bwMode="auto">
          <a:xfrm>
            <a:off x="379990" y="1116100"/>
            <a:ext cx="10427710" cy="184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6 Rectángulo">
            <a:extLst>
              <a:ext uri="{FF2B5EF4-FFF2-40B4-BE49-F238E27FC236}">
                <a16:creationId xmlns:a16="http://schemas.microsoft.com/office/drawing/2014/main" id="{91300376-691F-4F90-AC52-EB584D2E9F8C}"/>
              </a:ext>
            </a:extLst>
          </p:cNvPr>
          <p:cNvSpPr>
            <a:spLocks noChangeArrowheads="1"/>
          </p:cNvSpPr>
          <p:nvPr/>
        </p:nvSpPr>
        <p:spPr bwMode="auto">
          <a:xfrm>
            <a:off x="1180828" y="3439703"/>
            <a:ext cx="830647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Font typeface="Wingdings" panose="05000000000000000000" pitchFamily="2" charset="2"/>
              <a:buChar char="ü"/>
              <a:defRPr sz="2800" b="1">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FontTx/>
              <a:buNone/>
            </a:pPr>
            <a:r>
              <a:rPr lang="es-ES" altLang="es-ES" sz="1200" b="0" dirty="0">
                <a:solidFill>
                  <a:schemeClr val="tx1"/>
                </a:solidFill>
                <a:cs typeface="Arial" panose="020B0604020202020204" pitchFamily="34" charset="0"/>
                <a:hlinkClick r:id="rId4"/>
              </a:rPr>
              <a:t>https://www.rtve.es/noticias/20090803/presidente-google-se-marcha-direccion-apple-conflicto-intereses/287601.shtml</a:t>
            </a:r>
            <a:r>
              <a:rPr lang="es-ES" altLang="es-ES" sz="1200" b="0" dirty="0">
                <a:solidFill>
                  <a:schemeClr val="tx1"/>
                </a:solidFill>
                <a:cs typeface="Arial" panose="020B0604020202020204" pitchFamily="34" charset="0"/>
              </a:rPr>
              <a:t> </a:t>
            </a:r>
          </a:p>
        </p:txBody>
      </p:sp>
    </p:spTree>
    <p:extLst>
      <p:ext uri="{BB962C8B-B14F-4D97-AF65-F5344CB8AC3E}">
        <p14:creationId xmlns:p14="http://schemas.microsoft.com/office/powerpoint/2010/main" val="107116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400702" y="-91440"/>
            <a:ext cx="11397597" cy="1038497"/>
          </a:xfrm>
        </p:spPr>
        <p:txBody>
          <a:bodyPr>
            <a:normAutofit/>
          </a:bodyPr>
          <a:lstStyle/>
          <a:p>
            <a:r>
              <a:rPr lang="es-ES_tradnl" b="1" dirty="0"/>
              <a:t>2.2 Problemas éticos relevantes en ingeniería: confidencialidad</a:t>
            </a:r>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22</a:t>
            </a:fld>
            <a:endParaRPr lang="es-ES" sz="1400"/>
          </a:p>
        </p:txBody>
      </p:sp>
      <p:sp>
        <p:nvSpPr>
          <p:cNvPr id="3" name="2 Rectángulo redondeado"/>
          <p:cNvSpPr/>
          <p:nvPr/>
        </p:nvSpPr>
        <p:spPr>
          <a:xfrm>
            <a:off x="727764" y="4334722"/>
            <a:ext cx="2952750" cy="16981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b="1" dirty="0">
                <a:latin typeface="Lato" panose="020F0502020204030203"/>
              </a:rPr>
              <a:t>Referencias:</a:t>
            </a:r>
          </a:p>
          <a:p>
            <a:r>
              <a:rPr lang="es-ES" sz="2000" dirty="0"/>
              <a:t>ACM: 1.7</a:t>
            </a:r>
          </a:p>
          <a:p>
            <a:r>
              <a:rPr lang="es-ES" sz="2000" dirty="0"/>
              <a:t>COITT: 84</a:t>
            </a:r>
          </a:p>
          <a:p>
            <a:r>
              <a:rPr lang="es-ES" sz="2000" dirty="0"/>
              <a:t>IEEE (2014): 5(c)</a:t>
            </a:r>
          </a:p>
        </p:txBody>
      </p:sp>
      <p:sp>
        <p:nvSpPr>
          <p:cNvPr id="6" name="Marcador de número de diapositiva 5"/>
          <p:cNvSpPr>
            <a:spLocks noGrp="1"/>
          </p:cNvSpPr>
          <p:nvPr>
            <p:ph type="sldNum" sz="quarter" idx="12"/>
          </p:nvPr>
        </p:nvSpPr>
        <p:spPr/>
        <p:txBody>
          <a:bodyPr/>
          <a:lstStyle/>
          <a:p>
            <a:endParaRPr lang="es-ES"/>
          </a:p>
          <a:p>
            <a:endParaRPr lang="es-ES" dirty="0"/>
          </a:p>
        </p:txBody>
      </p:sp>
      <p:sp>
        <p:nvSpPr>
          <p:cNvPr id="13" name="CuadroTexto 12">
            <a:extLst>
              <a:ext uri="{FF2B5EF4-FFF2-40B4-BE49-F238E27FC236}">
                <a16:creationId xmlns:a16="http://schemas.microsoft.com/office/drawing/2014/main" id="{338CD6AA-2E0F-45BC-A6DF-E25DF7E36696}"/>
              </a:ext>
            </a:extLst>
          </p:cNvPr>
          <p:cNvSpPr txBox="1"/>
          <p:nvPr/>
        </p:nvSpPr>
        <p:spPr>
          <a:xfrm>
            <a:off x="400702" y="947057"/>
            <a:ext cx="11000723" cy="2677656"/>
          </a:xfrm>
          <a:prstGeom prst="rect">
            <a:avLst/>
          </a:prstGeom>
          <a:solidFill>
            <a:schemeClr val="bg1"/>
          </a:solidFill>
          <a:ln w="28575">
            <a:solidFill>
              <a:srgbClr val="92D050"/>
            </a:solidFill>
          </a:ln>
        </p:spPr>
        <p:txBody>
          <a:bodyPr wrap="square">
            <a:spAutoFit/>
          </a:bodyPr>
          <a:lstStyle/>
          <a:p>
            <a:pPr algn="l"/>
            <a:r>
              <a:rPr lang="es-ES" sz="2400" b="1" i="0" u="none" strike="noStrike" baseline="0" dirty="0">
                <a:latin typeface="Calibri" panose="020F0502020204030204" pitchFamily="34" charset="0"/>
                <a:ea typeface="Calibri" panose="020F0502020204030204" pitchFamily="34" charset="0"/>
                <a:cs typeface="Calibri" panose="020F0502020204030204" pitchFamily="34" charset="0"/>
              </a:rPr>
              <a:t>CITT (84)</a:t>
            </a:r>
          </a:p>
          <a:p>
            <a:pPr algn="l"/>
            <a:r>
              <a:rPr lang="es-ES" sz="2400" b="0" i="1" u="none" strike="noStrike" baseline="0" dirty="0">
                <a:latin typeface="Calibri" panose="020F0502020204030204" pitchFamily="34" charset="0"/>
                <a:ea typeface="Calibri" panose="020F0502020204030204" pitchFamily="34" charset="0"/>
                <a:cs typeface="Calibri" panose="020F0502020204030204" pitchFamily="34" charset="0"/>
              </a:rPr>
              <a:t>Debe entenderse por </a:t>
            </a:r>
            <a:r>
              <a:rPr lang="es-ES" sz="2400" b="1" i="1" u="none" strike="noStrike" baseline="0" dirty="0">
                <a:latin typeface="Calibri" panose="020F0502020204030204" pitchFamily="34" charset="0"/>
                <a:ea typeface="Calibri" panose="020F0502020204030204" pitchFamily="34" charset="0"/>
                <a:cs typeface="Calibri" panose="020F0502020204030204" pitchFamily="34" charset="0"/>
              </a:rPr>
              <a:t>secreto profesional </a:t>
            </a:r>
            <a:r>
              <a:rPr lang="es-ES" sz="2400" b="0" i="1" u="none" strike="noStrike" baseline="0" dirty="0">
                <a:latin typeface="Calibri" panose="020F0502020204030204" pitchFamily="34" charset="0"/>
                <a:ea typeface="Calibri" panose="020F0502020204030204" pitchFamily="34" charset="0"/>
                <a:cs typeface="Calibri" panose="020F0502020204030204" pitchFamily="34" charset="0"/>
              </a:rPr>
              <a:t>el sigilo o reserva de lo que se conoce por razón del ejercicio de la profesión […] </a:t>
            </a:r>
          </a:p>
          <a:p>
            <a:pPr algn="l"/>
            <a:endParaRPr lang="es-ES" sz="2400" i="1" dirty="0">
              <a:latin typeface="Calibri" panose="020F0502020204030204" pitchFamily="34" charset="0"/>
              <a:ea typeface="Calibri" panose="020F0502020204030204" pitchFamily="34" charset="0"/>
              <a:cs typeface="Calibri" panose="020F0502020204030204" pitchFamily="34" charset="0"/>
            </a:endParaRPr>
          </a:p>
          <a:p>
            <a:pPr algn="l"/>
            <a:r>
              <a:rPr lang="es-ES" sz="2400" b="0" i="1" u="none" strike="noStrike" baseline="0" dirty="0">
                <a:latin typeface="Calibri" panose="020F0502020204030204" pitchFamily="34" charset="0"/>
                <a:ea typeface="Calibri" panose="020F0502020204030204" pitchFamily="34" charset="0"/>
                <a:cs typeface="Calibri" panose="020F0502020204030204" pitchFamily="34" charset="0"/>
              </a:rPr>
              <a:t>Este secreto abarca tanto a las informaciones, métodos y procesos, como su debida </a:t>
            </a:r>
            <a:r>
              <a:rPr lang="es-ES" sz="2400" b="1" i="1" u="none" strike="noStrike" baseline="0" dirty="0">
                <a:latin typeface="Calibri" panose="020F0502020204030204" pitchFamily="34" charset="0"/>
                <a:ea typeface="Calibri" panose="020F0502020204030204" pitchFamily="34" charset="0"/>
                <a:cs typeface="Calibri" panose="020F0502020204030204" pitchFamily="34" charset="0"/>
              </a:rPr>
              <a:t>protección</a:t>
            </a:r>
            <a:r>
              <a:rPr lang="es-ES" sz="2400" b="0" i="1" u="none" strike="noStrike" baseline="0" dirty="0">
                <a:latin typeface="Calibri" panose="020F0502020204030204" pitchFamily="34" charset="0"/>
                <a:ea typeface="Calibri" panose="020F0502020204030204" pitchFamily="34" charset="0"/>
                <a:cs typeface="Calibri" panose="020F0502020204030204" pitchFamily="34" charset="0"/>
              </a:rPr>
              <a:t>, lo que conlleva a la </a:t>
            </a:r>
            <a:r>
              <a:rPr lang="es-ES" sz="2400" b="1" i="1" u="none" strike="noStrike" baseline="0" dirty="0">
                <a:latin typeface="Calibri" panose="020F0502020204030204" pitchFamily="34" charset="0"/>
                <a:ea typeface="Calibri" panose="020F0502020204030204" pitchFamily="34" charset="0"/>
                <a:cs typeface="Calibri" panose="020F0502020204030204" pitchFamily="34" charset="0"/>
              </a:rPr>
              <a:t>prohibición de revelar </a:t>
            </a:r>
            <a:r>
              <a:rPr lang="es-ES" sz="2400" b="0" i="1" u="none" strike="noStrike" baseline="0" dirty="0">
                <a:latin typeface="Calibri" panose="020F0502020204030204" pitchFamily="34" charset="0"/>
                <a:ea typeface="Calibri" panose="020F0502020204030204" pitchFamily="34" charset="0"/>
                <a:cs typeface="Calibri" panose="020F0502020204030204" pitchFamily="34" charset="0"/>
              </a:rPr>
              <a:t>dichas informaciones, métodos y procesos salvo autorización expresa;</a:t>
            </a:r>
            <a:endParaRPr lang="es-ES" sz="2400" i="1" dirty="0">
              <a:latin typeface="Calibri" panose="020F0502020204030204" pitchFamily="34" charset="0"/>
              <a:ea typeface="Calibri" panose="020F0502020204030204" pitchFamily="34" charset="0"/>
              <a:cs typeface="Calibri" panose="020F0502020204030204" pitchFamily="34" charset="0"/>
            </a:endParaRPr>
          </a:p>
        </p:txBody>
      </p:sp>
      <p:pic>
        <p:nvPicPr>
          <p:cNvPr id="4" name="Imagen 3" descr="Texto, Carta&#10;&#10;Descripción generada automáticamente">
            <a:extLst>
              <a:ext uri="{FF2B5EF4-FFF2-40B4-BE49-F238E27FC236}">
                <a16:creationId xmlns:a16="http://schemas.microsoft.com/office/drawing/2014/main" id="{98135928-F24F-4926-A4D2-FF2B30AFC0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4467" y="3732245"/>
            <a:ext cx="3514708" cy="2343138"/>
          </a:xfrm>
          <a:prstGeom prst="rect">
            <a:avLst/>
          </a:prstGeom>
        </p:spPr>
      </p:pic>
    </p:spTree>
    <p:extLst>
      <p:ext uri="{BB962C8B-B14F-4D97-AF65-F5344CB8AC3E}">
        <p14:creationId xmlns:p14="http://schemas.microsoft.com/office/powerpoint/2010/main" val="426894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297180" y="-102870"/>
            <a:ext cx="11666220" cy="1049927"/>
          </a:xfrm>
        </p:spPr>
        <p:txBody>
          <a:bodyPr>
            <a:normAutofit/>
          </a:bodyPr>
          <a:lstStyle/>
          <a:p>
            <a:r>
              <a:rPr lang="es-ES_tradnl" b="1" dirty="0"/>
              <a:t>2.2 Problemas éticos relevantes en ingeniería: confidencialidad</a:t>
            </a:r>
            <a:endParaRPr lang="es-ES_tradnl" dirty="0"/>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23</a:t>
            </a:fld>
            <a:endParaRPr lang="es-ES" sz="1400"/>
          </a:p>
        </p:txBody>
      </p:sp>
      <p:sp>
        <p:nvSpPr>
          <p:cNvPr id="5" name="Marcador de pie de página 4"/>
          <p:cNvSpPr>
            <a:spLocks noGrp="1"/>
          </p:cNvSpPr>
          <p:nvPr>
            <p:ph type="ftr" sz="quarter" idx="11"/>
          </p:nvPr>
        </p:nvSpPr>
        <p:spPr>
          <a:xfrm>
            <a:off x="2145832" y="6131996"/>
            <a:ext cx="3711981" cy="365125"/>
          </a:xfrm>
        </p:spPr>
        <p:txBody>
          <a:bodyPr/>
          <a:lstStyle/>
          <a:p>
            <a:endParaRPr lang="es-ES" dirty="0"/>
          </a:p>
        </p:txBody>
      </p:sp>
      <p:sp>
        <p:nvSpPr>
          <p:cNvPr id="14" name="1 CuadroTexto">
            <a:extLst>
              <a:ext uri="{FF2B5EF4-FFF2-40B4-BE49-F238E27FC236}">
                <a16:creationId xmlns:a16="http://schemas.microsoft.com/office/drawing/2014/main" id="{939DB8D9-AFC0-460E-BC3B-AA963CEF8A03}"/>
              </a:ext>
            </a:extLst>
          </p:cNvPr>
          <p:cNvSpPr txBox="1"/>
          <p:nvPr/>
        </p:nvSpPr>
        <p:spPr>
          <a:xfrm>
            <a:off x="1771651" y="947057"/>
            <a:ext cx="8839200" cy="3539430"/>
          </a:xfrm>
          <a:prstGeom prst="rect">
            <a:avLst/>
          </a:prstGeom>
          <a:solidFill>
            <a:schemeClr val="bg1"/>
          </a:solidFill>
          <a:ln w="63500">
            <a:solidFill>
              <a:schemeClr val="accent1"/>
            </a:solidFill>
          </a:ln>
        </p:spPr>
        <p:txBody>
          <a:bodyPr wrap="square" rtlCol="0">
            <a:spAutoFit/>
          </a:bodyPr>
          <a:lstStyle/>
          <a:p>
            <a:pPr>
              <a:spcBef>
                <a:spcPct val="20000"/>
              </a:spcBef>
              <a:buClr>
                <a:srgbClr val="000099"/>
              </a:buClr>
              <a:defRPr/>
            </a:pPr>
            <a:r>
              <a:rPr lang="es-ES_tradnl" altLang="es-ES" sz="2800" dirty="0">
                <a:solidFill>
                  <a:schemeClr val="tx2"/>
                </a:solidFill>
                <a:latin typeface="Lato" panose="020F0502020204030203"/>
                <a:cs typeface="Arial" pitchFamily="34" charset="0"/>
              </a:rPr>
              <a:t>ACM (1.7):</a:t>
            </a:r>
          </a:p>
          <a:p>
            <a:pPr>
              <a:spcBef>
                <a:spcPct val="0"/>
              </a:spcBef>
            </a:pPr>
            <a:r>
              <a:rPr lang="es-ES" sz="2800" i="1" dirty="0">
                <a:latin typeface="Lato" panose="020F0502020204030203"/>
              </a:rPr>
              <a:t>[…] </a:t>
            </a:r>
            <a:r>
              <a:rPr lang="es-ES" sz="2800" b="1" i="1" dirty="0">
                <a:latin typeface="Lato" panose="020F0502020204030203"/>
              </a:rPr>
              <a:t>excepto</a:t>
            </a:r>
            <a:r>
              <a:rPr lang="es-ES" sz="2800" i="1" dirty="0">
                <a:latin typeface="Lato" panose="020F0502020204030203"/>
              </a:rPr>
              <a:t> en los casos en que encuentren evidencias de la violación de una ley, de los reglamentos de la organización o del Código. </a:t>
            </a:r>
          </a:p>
          <a:p>
            <a:pPr>
              <a:spcBef>
                <a:spcPct val="0"/>
              </a:spcBef>
            </a:pPr>
            <a:endParaRPr lang="es-ES" sz="2800" i="1" dirty="0">
              <a:latin typeface="Lato" panose="020F0502020204030203"/>
            </a:endParaRPr>
          </a:p>
          <a:p>
            <a:pPr>
              <a:spcBef>
                <a:spcPct val="0"/>
              </a:spcBef>
            </a:pPr>
            <a:r>
              <a:rPr lang="es-ES" sz="2800" i="1" dirty="0">
                <a:latin typeface="Lato" panose="020F0502020204030203"/>
              </a:rPr>
              <a:t>En estos casos, la naturaleza o el contenido de esa información sólo debe ser </a:t>
            </a:r>
            <a:r>
              <a:rPr lang="es-ES" sz="2800" b="1" i="1" dirty="0">
                <a:latin typeface="Lato" panose="020F0502020204030203"/>
              </a:rPr>
              <a:t>comunicada a las autoridades correspondientes</a:t>
            </a:r>
            <a:r>
              <a:rPr lang="es-ES" sz="2800" i="1" dirty="0">
                <a:latin typeface="Lato" panose="020F0502020204030203"/>
              </a:rPr>
              <a:t>.</a:t>
            </a:r>
            <a:endParaRPr lang="es-ES" altLang="es-ES" sz="2800" i="1" dirty="0">
              <a:solidFill>
                <a:srgbClr val="92D050"/>
              </a:solidFill>
              <a:latin typeface="Lato" panose="020F0502020204030203"/>
              <a:cs typeface="Arial" panose="020B0604020202020204" pitchFamily="34" charset="0"/>
            </a:endParaRPr>
          </a:p>
        </p:txBody>
      </p:sp>
      <p:sp>
        <p:nvSpPr>
          <p:cNvPr id="16" name="Rectangle 7">
            <a:extLst>
              <a:ext uri="{FF2B5EF4-FFF2-40B4-BE49-F238E27FC236}">
                <a16:creationId xmlns:a16="http://schemas.microsoft.com/office/drawing/2014/main" id="{BD4878F7-2517-4F5E-B416-78BC5A005BB5}"/>
              </a:ext>
            </a:extLst>
          </p:cNvPr>
          <p:cNvSpPr txBox="1">
            <a:spLocks noChangeArrowheads="1"/>
          </p:cNvSpPr>
          <p:nvPr/>
        </p:nvSpPr>
        <p:spPr bwMode="auto">
          <a:xfrm>
            <a:off x="663560" y="909874"/>
            <a:ext cx="9898744" cy="465960"/>
          </a:xfrm>
          <a:prstGeom prst="rect">
            <a:avLst/>
          </a:prstGeom>
          <a:noFill/>
          <a:ln w="9525">
            <a:noFill/>
            <a:miter lim="800000"/>
            <a:headEnd/>
            <a:tailEnd/>
          </a:ln>
          <a:effectLst/>
        </p:spPr>
        <p:txBody>
          <a:bodyPr/>
          <a:lstStyle>
            <a:lvl1pPr marL="441325" indent="-441325"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355725" indent="-441325"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0" indent="0" algn="ctr">
              <a:spcBef>
                <a:spcPct val="20000"/>
              </a:spcBef>
              <a:buClr>
                <a:srgbClr val="000099"/>
              </a:buClr>
              <a:defRPr/>
            </a:pPr>
            <a:r>
              <a:rPr lang="es-ES_tradnl" altLang="es-ES" sz="2800" b="1" dirty="0">
                <a:solidFill>
                  <a:srgbClr val="CC0066"/>
                </a:solidFill>
                <a:latin typeface="Lato" panose="020F0502020204030203"/>
                <a:cs typeface="Arial" pitchFamily="34" charset="0"/>
              </a:rPr>
              <a:t> </a:t>
            </a:r>
          </a:p>
          <a:p>
            <a:pPr algn="ctr">
              <a:spcBef>
                <a:spcPct val="20000"/>
              </a:spcBef>
              <a:buClr>
                <a:srgbClr val="000099"/>
              </a:buClr>
              <a:buFont typeface="Wingdings" pitchFamily="2" charset="2"/>
              <a:buNone/>
              <a:defRPr/>
            </a:pPr>
            <a:r>
              <a:rPr lang="es-ES_tradnl" altLang="es-ES" sz="2800" b="1" dirty="0">
                <a:solidFill>
                  <a:srgbClr val="B9B9B9"/>
                </a:solidFill>
                <a:latin typeface="Lato" panose="020F0502020204030203"/>
                <a:cs typeface="Arial" pitchFamily="34" charset="0"/>
              </a:rPr>
              <a:t>	</a:t>
            </a:r>
            <a:endParaRPr lang="es-ES" sz="2000" dirty="0">
              <a:solidFill>
                <a:schemeClr val="tx2"/>
              </a:solidFill>
              <a:latin typeface="Lato" panose="020F0502020204030203"/>
            </a:endParaRPr>
          </a:p>
          <a:p>
            <a:pPr algn="ctr">
              <a:spcBef>
                <a:spcPct val="20000"/>
              </a:spcBef>
              <a:buClr>
                <a:srgbClr val="000099"/>
              </a:buClr>
              <a:buFont typeface="Wingdings" pitchFamily="2" charset="2"/>
              <a:buNone/>
              <a:defRPr/>
            </a:pPr>
            <a:endParaRPr lang="es-ES_tradnl" altLang="es-ES" sz="2000" b="1" dirty="0">
              <a:solidFill>
                <a:srgbClr val="CC0066"/>
              </a:solidFill>
              <a:cs typeface="Arial" pitchFamily="34" charset="0"/>
            </a:endParaRPr>
          </a:p>
        </p:txBody>
      </p:sp>
    </p:spTree>
    <p:extLst>
      <p:ext uri="{BB962C8B-B14F-4D97-AF65-F5344CB8AC3E}">
        <p14:creationId xmlns:p14="http://schemas.microsoft.com/office/powerpoint/2010/main" val="276362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320040" y="-102870"/>
            <a:ext cx="11490960" cy="1049927"/>
          </a:xfrm>
        </p:spPr>
        <p:txBody>
          <a:bodyPr>
            <a:normAutofit/>
          </a:bodyPr>
          <a:lstStyle/>
          <a:p>
            <a:r>
              <a:rPr lang="es-ES_tradnl" b="1" dirty="0"/>
              <a:t>2.2 Problemas éticos relevantes en ingeniería: denuncia</a:t>
            </a:r>
            <a:endParaRPr lang="es-ES_tradnl" dirty="0"/>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24</a:t>
            </a:fld>
            <a:endParaRPr lang="es-ES" sz="1400"/>
          </a:p>
        </p:txBody>
      </p:sp>
      <p:sp>
        <p:nvSpPr>
          <p:cNvPr id="7" name="Rectangle 7"/>
          <p:cNvSpPr txBox="1">
            <a:spLocks noChangeArrowheads="1"/>
          </p:cNvSpPr>
          <p:nvPr/>
        </p:nvSpPr>
        <p:spPr bwMode="auto">
          <a:xfrm>
            <a:off x="607331" y="996272"/>
            <a:ext cx="9898744" cy="518203"/>
          </a:xfrm>
          <a:prstGeom prst="rect">
            <a:avLst/>
          </a:prstGeom>
          <a:noFill/>
          <a:ln w="9525">
            <a:noFill/>
            <a:miter lim="800000"/>
            <a:headEnd/>
            <a:tailEnd/>
          </a:ln>
          <a:effectLst/>
        </p:spPr>
        <p:txBody>
          <a:bodyPr/>
          <a:lstStyle>
            <a:lvl1pPr marL="441325" indent="-441325"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355725" indent="-441325"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0" indent="0" algn="ctr">
              <a:spcBef>
                <a:spcPct val="20000"/>
              </a:spcBef>
              <a:buClr>
                <a:srgbClr val="000099"/>
              </a:buClr>
              <a:tabLst>
                <a:tab pos="990600" algn="l"/>
              </a:tabLst>
              <a:defRPr/>
            </a:pPr>
            <a:r>
              <a:rPr lang="es-ES_tradnl" altLang="es-ES" sz="2800" b="1" dirty="0">
                <a:solidFill>
                  <a:srgbClr val="CC0066"/>
                </a:solidFill>
                <a:latin typeface="Lato" panose="020F0502020204030203"/>
                <a:cs typeface="Arial" pitchFamily="34" charset="0"/>
              </a:rPr>
              <a:t>También se denomina </a:t>
            </a:r>
            <a:r>
              <a:rPr lang="es-ES_tradnl" altLang="es-ES" sz="2800" b="1" dirty="0" err="1">
                <a:solidFill>
                  <a:srgbClr val="CC0066"/>
                </a:solidFill>
                <a:latin typeface="Lato" panose="020F0502020204030203"/>
                <a:cs typeface="Arial" pitchFamily="34" charset="0"/>
              </a:rPr>
              <a:t>whistle-blowing</a:t>
            </a:r>
            <a:endParaRPr lang="es-ES_tradnl" altLang="es-ES" sz="2800" b="1" dirty="0">
              <a:solidFill>
                <a:srgbClr val="CC0066"/>
              </a:solidFill>
              <a:latin typeface="Lato" panose="020F0502020204030203"/>
              <a:cs typeface="Arial" pitchFamily="34" charset="0"/>
            </a:endParaRPr>
          </a:p>
          <a:p>
            <a:pPr algn="ctr">
              <a:spcBef>
                <a:spcPct val="20000"/>
              </a:spcBef>
              <a:buClr>
                <a:srgbClr val="000099"/>
              </a:buClr>
              <a:buFont typeface="Wingdings" pitchFamily="2" charset="2"/>
              <a:buNone/>
              <a:defRPr/>
            </a:pPr>
            <a:r>
              <a:rPr lang="es-ES_tradnl" altLang="es-ES" sz="2800" b="1" dirty="0">
                <a:solidFill>
                  <a:srgbClr val="B9B9B9"/>
                </a:solidFill>
                <a:latin typeface="Lato" panose="020F0502020204030203"/>
                <a:cs typeface="Arial" pitchFamily="34" charset="0"/>
              </a:rPr>
              <a:t>	</a:t>
            </a:r>
            <a:endParaRPr lang="es-ES" sz="2000" dirty="0">
              <a:solidFill>
                <a:schemeClr val="tx2"/>
              </a:solidFill>
              <a:latin typeface="Lato" panose="020F0502020204030203"/>
            </a:endParaRPr>
          </a:p>
          <a:p>
            <a:pPr algn="ctr">
              <a:spcBef>
                <a:spcPct val="20000"/>
              </a:spcBef>
              <a:buClr>
                <a:srgbClr val="000099"/>
              </a:buClr>
              <a:buFont typeface="Wingdings" pitchFamily="2" charset="2"/>
              <a:buNone/>
              <a:defRPr/>
            </a:pPr>
            <a:endParaRPr lang="es-ES_tradnl" altLang="es-ES" sz="2000" b="1" dirty="0">
              <a:solidFill>
                <a:srgbClr val="CC0066"/>
              </a:solidFill>
              <a:cs typeface="Arial" pitchFamily="34" charset="0"/>
            </a:endParaRPr>
          </a:p>
        </p:txBody>
      </p:sp>
      <p:sp>
        <p:nvSpPr>
          <p:cNvPr id="3" name="2 Rectángulo redondeado"/>
          <p:cNvSpPr/>
          <p:nvPr/>
        </p:nvSpPr>
        <p:spPr>
          <a:xfrm>
            <a:off x="1713054" y="4475885"/>
            <a:ext cx="2743200" cy="1450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b="1" dirty="0">
                <a:latin typeface="Lato" panose="020F0502020204030203"/>
              </a:rPr>
              <a:t>Referencias:</a:t>
            </a:r>
          </a:p>
          <a:p>
            <a:r>
              <a:rPr lang="es-ES" sz="2000" dirty="0"/>
              <a:t>ACM: 1.2, 4.2</a:t>
            </a:r>
          </a:p>
          <a:p>
            <a:r>
              <a:rPr lang="es-ES" sz="2000" i="1" dirty="0"/>
              <a:t>IEEE (2014): 4</a:t>
            </a:r>
          </a:p>
          <a:p>
            <a:r>
              <a:rPr lang="es-ES" sz="2000" dirty="0"/>
              <a:t>IEEE (1999): 1, 2</a:t>
            </a:r>
          </a:p>
        </p:txBody>
      </p:sp>
      <p:sp>
        <p:nvSpPr>
          <p:cNvPr id="5" name="Marcador de pie de página 4"/>
          <p:cNvSpPr>
            <a:spLocks noGrp="1"/>
          </p:cNvSpPr>
          <p:nvPr>
            <p:ph type="ftr" sz="quarter" idx="11"/>
          </p:nvPr>
        </p:nvSpPr>
        <p:spPr>
          <a:xfrm>
            <a:off x="2204139" y="6273714"/>
            <a:ext cx="3711981" cy="365125"/>
          </a:xfrm>
        </p:spPr>
        <p:txBody>
          <a:bodyPr/>
          <a:lstStyle/>
          <a:p>
            <a:r>
              <a:rPr lang="es-ES"/>
              <a:t>CTS. Tema 3. Ética, TIC y Derechos Humanos</a:t>
            </a:r>
          </a:p>
        </p:txBody>
      </p:sp>
      <p:sp>
        <p:nvSpPr>
          <p:cNvPr id="6" name="Marcador de número de diapositiva 5"/>
          <p:cNvSpPr>
            <a:spLocks noGrp="1"/>
          </p:cNvSpPr>
          <p:nvPr>
            <p:ph type="sldNum" sz="quarter" idx="12"/>
          </p:nvPr>
        </p:nvSpPr>
        <p:spPr/>
        <p:txBody>
          <a:bodyPr/>
          <a:lstStyle/>
          <a:p>
            <a:endParaRPr lang="es-ES"/>
          </a:p>
          <a:p>
            <a:endParaRPr lang="es-ES" dirty="0"/>
          </a:p>
        </p:txBody>
      </p:sp>
      <p:sp>
        <p:nvSpPr>
          <p:cNvPr id="13" name="CuadroTexto 12">
            <a:extLst>
              <a:ext uri="{FF2B5EF4-FFF2-40B4-BE49-F238E27FC236}">
                <a16:creationId xmlns:a16="http://schemas.microsoft.com/office/drawing/2014/main" id="{338CD6AA-2E0F-45BC-A6DF-E25DF7E36696}"/>
              </a:ext>
            </a:extLst>
          </p:cNvPr>
          <p:cNvSpPr txBox="1"/>
          <p:nvPr/>
        </p:nvSpPr>
        <p:spPr>
          <a:xfrm>
            <a:off x="400703" y="1679435"/>
            <a:ext cx="11000722" cy="2631490"/>
          </a:xfrm>
          <a:prstGeom prst="rect">
            <a:avLst/>
          </a:prstGeom>
          <a:solidFill>
            <a:schemeClr val="bg1"/>
          </a:solidFill>
          <a:ln w="28575">
            <a:solidFill>
              <a:srgbClr val="92D050"/>
            </a:solidFill>
          </a:ln>
        </p:spPr>
        <p:txBody>
          <a:bodyPr wrap="square">
            <a:spAutoFit/>
          </a:bodyPr>
          <a:lstStyle/>
          <a:p>
            <a:pPr algn="just">
              <a:spcAft>
                <a:spcPts val="1000"/>
              </a:spcAft>
            </a:pPr>
            <a:r>
              <a:rPr lang="es-ES" sz="2000" b="1" i="1" dirty="0">
                <a:effectLst/>
                <a:latin typeface="Lato" panose="020F0502020204030203"/>
                <a:ea typeface="Calibri" panose="020F0502020204030204" pitchFamily="34" charset="0"/>
                <a:cs typeface="Calibri" panose="020F0502020204030204" pitchFamily="34" charset="0"/>
              </a:rPr>
              <a:t>ACM (1.2)</a:t>
            </a:r>
          </a:p>
          <a:p>
            <a:pPr algn="just">
              <a:spcAft>
                <a:spcPts val="1000"/>
              </a:spcAft>
            </a:pPr>
            <a:r>
              <a:rPr lang="es-ES" sz="2000" i="1" dirty="0">
                <a:effectLst/>
                <a:latin typeface="Lato" panose="020F0502020204030203"/>
                <a:ea typeface="Calibri" panose="020F0502020204030204" pitchFamily="34" charset="0"/>
                <a:cs typeface="Calibri" panose="020F0502020204030204" pitchFamily="34" charset="0"/>
              </a:rPr>
              <a:t>Un profesional tiene la obligación adicional de </a:t>
            </a:r>
            <a:r>
              <a:rPr lang="es-ES" sz="2000" b="1" i="1" dirty="0">
                <a:effectLst/>
                <a:latin typeface="Lato" panose="020F0502020204030203"/>
                <a:ea typeface="Calibri" panose="020F0502020204030204" pitchFamily="34" charset="0"/>
                <a:cs typeface="Calibri" panose="020F0502020204030204" pitchFamily="34" charset="0"/>
              </a:rPr>
              <a:t>informar</a:t>
            </a:r>
            <a:r>
              <a:rPr lang="es-ES" sz="2000" i="1" dirty="0">
                <a:solidFill>
                  <a:srgbClr val="0000FF"/>
                </a:solidFill>
                <a:effectLst/>
                <a:latin typeface="Lato" panose="020F0502020204030203"/>
                <a:ea typeface="Calibri" panose="020F0502020204030204" pitchFamily="34" charset="0"/>
                <a:cs typeface="Calibri" panose="020F0502020204030204" pitchFamily="34" charset="0"/>
              </a:rPr>
              <a:t> </a:t>
            </a:r>
            <a:r>
              <a:rPr lang="es-ES" sz="2000" i="1" dirty="0">
                <a:effectLst/>
                <a:latin typeface="Lato" panose="020F0502020204030203"/>
                <a:ea typeface="Calibri" panose="020F0502020204030204" pitchFamily="34" charset="0"/>
                <a:cs typeface="Calibri" panose="020F0502020204030204" pitchFamily="34" charset="0"/>
              </a:rPr>
              <a:t>sobre cualquier signo de riesgo del sistema que pueda ocasionar daños. </a:t>
            </a:r>
          </a:p>
          <a:p>
            <a:pPr algn="just">
              <a:spcAft>
                <a:spcPts val="1000"/>
              </a:spcAft>
            </a:pPr>
            <a:r>
              <a:rPr lang="es-ES" sz="2000" b="1" i="1" dirty="0">
                <a:effectLst/>
                <a:latin typeface="Lato" panose="020F0502020204030203"/>
                <a:ea typeface="Calibri" panose="020F0502020204030204" pitchFamily="34" charset="0"/>
                <a:cs typeface="Calibri" panose="020F0502020204030204" pitchFamily="34" charset="0"/>
              </a:rPr>
              <a:t>Si los responsables no actúan </a:t>
            </a:r>
            <a:r>
              <a:rPr lang="es-ES" sz="2000" i="1" dirty="0">
                <a:effectLst/>
                <a:latin typeface="Lato" panose="020F0502020204030203"/>
                <a:ea typeface="Calibri" panose="020F0502020204030204" pitchFamily="34" charset="0"/>
                <a:cs typeface="Calibri" panose="020F0502020204030204" pitchFamily="34" charset="0"/>
              </a:rPr>
              <a:t>para reducir o mitigar dichos riesgos, puede ser necesario </a:t>
            </a:r>
            <a:r>
              <a:rPr lang="es-ES" sz="2000" b="1" i="1" dirty="0">
                <a:effectLst/>
                <a:latin typeface="Lato" panose="020F0502020204030203"/>
                <a:ea typeface="Calibri" panose="020F0502020204030204" pitchFamily="34" charset="0"/>
                <a:cs typeface="Calibri" panose="020F0502020204030204" pitchFamily="34" charset="0"/>
              </a:rPr>
              <a:t>dar la voz de alarma</a:t>
            </a:r>
            <a:r>
              <a:rPr lang="es-ES" sz="2000" i="1" dirty="0">
                <a:effectLst/>
                <a:latin typeface="Lato" panose="020F0502020204030203"/>
                <a:ea typeface="Calibri" panose="020F0502020204030204" pitchFamily="34" charset="0"/>
                <a:cs typeface="Calibri" panose="020F0502020204030204" pitchFamily="34" charset="0"/>
              </a:rPr>
              <a:t> para reducir el daño potencial. </a:t>
            </a:r>
          </a:p>
          <a:p>
            <a:pPr algn="just">
              <a:spcAft>
                <a:spcPts val="1000"/>
              </a:spcAft>
            </a:pPr>
            <a:r>
              <a:rPr lang="es-ES" sz="2000" i="1" dirty="0">
                <a:effectLst/>
                <a:latin typeface="Lato" panose="020F0502020204030203"/>
                <a:ea typeface="Calibri" panose="020F0502020204030204" pitchFamily="34" charset="0"/>
                <a:cs typeface="Calibri" panose="020F0502020204030204" pitchFamily="34" charset="0"/>
              </a:rPr>
              <a:t>Antes de informar sobre los riesgos, un profesional debe </a:t>
            </a:r>
            <a:r>
              <a:rPr lang="es-ES" sz="2000" b="1" i="1" dirty="0">
                <a:effectLst/>
                <a:latin typeface="Lato" panose="020F0502020204030203"/>
                <a:ea typeface="Calibri" panose="020F0502020204030204" pitchFamily="34" charset="0"/>
                <a:cs typeface="Calibri" panose="020F0502020204030204" pitchFamily="34" charset="0"/>
              </a:rPr>
              <a:t>evaluar cuidadosamente</a:t>
            </a:r>
            <a:r>
              <a:rPr lang="es-ES" sz="2000" i="1" dirty="0">
                <a:effectLst/>
                <a:latin typeface="Lato" panose="020F0502020204030203"/>
                <a:ea typeface="Calibri" panose="020F0502020204030204" pitchFamily="34" charset="0"/>
                <a:cs typeface="Calibri" panose="020F0502020204030204" pitchFamily="34" charset="0"/>
              </a:rPr>
              <a:t> los aspectos relevantes de la situación.</a:t>
            </a:r>
          </a:p>
        </p:txBody>
      </p:sp>
      <p:pic>
        <p:nvPicPr>
          <p:cNvPr id="9" name="Imagen 8"/>
          <p:cNvPicPr/>
          <p:nvPr/>
        </p:nvPicPr>
        <p:blipFill rotWithShape="1">
          <a:blip r:embed="rId3"/>
          <a:srcRect l="18344" t="23019" r="31797"/>
          <a:stretch/>
        </p:blipFill>
        <p:spPr bwMode="auto">
          <a:xfrm>
            <a:off x="5773617" y="4310925"/>
            <a:ext cx="3002248" cy="25470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4016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501634" y="-126247"/>
            <a:ext cx="11499866" cy="1073304"/>
          </a:xfrm>
        </p:spPr>
        <p:txBody>
          <a:bodyPr>
            <a:normAutofit/>
          </a:bodyPr>
          <a:lstStyle/>
          <a:p>
            <a:r>
              <a:rPr lang="es-ES_tradnl" b="1" dirty="0"/>
              <a:t>2.2 Problemas éticos relevantes en ingeniería: no discriminación</a:t>
            </a:r>
            <a:endParaRPr lang="es-ES_tradnl" dirty="0"/>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25</a:t>
            </a:fld>
            <a:endParaRPr lang="es-ES" sz="1400"/>
          </a:p>
        </p:txBody>
      </p:sp>
      <p:sp>
        <p:nvSpPr>
          <p:cNvPr id="5" name="Marcador de pie de página 4"/>
          <p:cNvSpPr>
            <a:spLocks noGrp="1"/>
          </p:cNvSpPr>
          <p:nvPr>
            <p:ph type="ftr" sz="quarter" idx="11"/>
          </p:nvPr>
        </p:nvSpPr>
        <p:spPr>
          <a:xfrm>
            <a:off x="2145832" y="6131996"/>
            <a:ext cx="3711981" cy="365125"/>
          </a:xfrm>
        </p:spPr>
        <p:txBody>
          <a:bodyPr/>
          <a:lstStyle/>
          <a:p>
            <a:r>
              <a:rPr lang="es-ES" dirty="0"/>
              <a:t>CTS. Tema 3. Ética, TIC y Derechos Humanos</a:t>
            </a:r>
          </a:p>
        </p:txBody>
      </p:sp>
      <p:sp>
        <p:nvSpPr>
          <p:cNvPr id="16" name="Rectangle 7">
            <a:extLst>
              <a:ext uri="{FF2B5EF4-FFF2-40B4-BE49-F238E27FC236}">
                <a16:creationId xmlns:a16="http://schemas.microsoft.com/office/drawing/2014/main" id="{BD4878F7-2517-4F5E-B416-78BC5A005BB5}"/>
              </a:ext>
            </a:extLst>
          </p:cNvPr>
          <p:cNvSpPr txBox="1">
            <a:spLocks noChangeArrowheads="1"/>
          </p:cNvSpPr>
          <p:nvPr/>
        </p:nvSpPr>
        <p:spPr bwMode="auto">
          <a:xfrm>
            <a:off x="663560" y="909874"/>
            <a:ext cx="9898744" cy="465960"/>
          </a:xfrm>
          <a:prstGeom prst="rect">
            <a:avLst/>
          </a:prstGeom>
          <a:noFill/>
          <a:ln w="9525">
            <a:noFill/>
            <a:miter lim="800000"/>
            <a:headEnd/>
            <a:tailEnd/>
          </a:ln>
          <a:effectLst/>
        </p:spPr>
        <p:txBody>
          <a:bodyPr/>
          <a:lstStyle>
            <a:lvl1pPr marL="441325" indent="-441325"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355725" indent="-441325"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0" indent="0" algn="ctr">
              <a:spcBef>
                <a:spcPct val="20000"/>
              </a:spcBef>
              <a:buClr>
                <a:srgbClr val="000099"/>
              </a:buClr>
              <a:defRPr/>
            </a:pPr>
            <a:endParaRPr lang="es-ES_tradnl" altLang="es-ES" sz="2800" b="1" dirty="0">
              <a:solidFill>
                <a:srgbClr val="CC0066"/>
              </a:solidFill>
              <a:latin typeface="Lato" panose="020F0502020204030203"/>
              <a:cs typeface="Arial" pitchFamily="34" charset="0"/>
            </a:endParaRPr>
          </a:p>
          <a:p>
            <a:pPr algn="ctr">
              <a:spcBef>
                <a:spcPct val="20000"/>
              </a:spcBef>
              <a:buClr>
                <a:srgbClr val="000099"/>
              </a:buClr>
              <a:buFont typeface="Wingdings" pitchFamily="2" charset="2"/>
              <a:buNone/>
              <a:defRPr/>
            </a:pPr>
            <a:r>
              <a:rPr lang="es-ES_tradnl" altLang="es-ES" sz="2800" b="1" dirty="0">
                <a:solidFill>
                  <a:srgbClr val="B9B9B9"/>
                </a:solidFill>
                <a:latin typeface="Lato" panose="020F0502020204030203"/>
                <a:cs typeface="Arial" pitchFamily="34" charset="0"/>
              </a:rPr>
              <a:t>	</a:t>
            </a:r>
            <a:endParaRPr lang="es-ES" sz="2000" dirty="0">
              <a:solidFill>
                <a:schemeClr val="tx2"/>
              </a:solidFill>
              <a:latin typeface="Lato" panose="020F0502020204030203"/>
            </a:endParaRPr>
          </a:p>
          <a:p>
            <a:pPr algn="ctr">
              <a:spcBef>
                <a:spcPct val="20000"/>
              </a:spcBef>
              <a:buClr>
                <a:srgbClr val="000099"/>
              </a:buClr>
              <a:buFont typeface="Wingdings" pitchFamily="2" charset="2"/>
              <a:buNone/>
              <a:defRPr/>
            </a:pPr>
            <a:endParaRPr lang="es-ES_tradnl" altLang="es-ES" sz="2000" b="1" dirty="0">
              <a:solidFill>
                <a:srgbClr val="CC0066"/>
              </a:solidFill>
              <a:cs typeface="Arial" pitchFamily="34" charset="0"/>
            </a:endParaRPr>
          </a:p>
        </p:txBody>
      </p:sp>
      <p:sp>
        <p:nvSpPr>
          <p:cNvPr id="9" name="8 Rectángulo redondeado">
            <a:extLst>
              <a:ext uri="{FF2B5EF4-FFF2-40B4-BE49-F238E27FC236}">
                <a16:creationId xmlns:a16="http://schemas.microsoft.com/office/drawing/2014/main" id="{DDEEB0FE-560C-416B-9667-A1B760D9AEF1}"/>
              </a:ext>
            </a:extLst>
          </p:cNvPr>
          <p:cNvSpPr/>
          <p:nvPr/>
        </p:nvSpPr>
        <p:spPr>
          <a:xfrm>
            <a:off x="501634" y="2914651"/>
            <a:ext cx="2422541" cy="1314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t>Referencias:</a:t>
            </a:r>
          </a:p>
          <a:p>
            <a:r>
              <a:rPr lang="es-ES" dirty="0"/>
              <a:t>ACM: 1.1, 1.4</a:t>
            </a:r>
          </a:p>
          <a:p>
            <a:r>
              <a:rPr lang="es-ES" dirty="0"/>
              <a:t>COITT: 83</a:t>
            </a:r>
          </a:p>
          <a:p>
            <a:r>
              <a:rPr lang="es-ES" dirty="0"/>
              <a:t>IEEE (2014): 2 </a:t>
            </a:r>
          </a:p>
        </p:txBody>
      </p:sp>
      <p:sp>
        <p:nvSpPr>
          <p:cNvPr id="13" name="CuadroTexto 12">
            <a:extLst>
              <a:ext uri="{FF2B5EF4-FFF2-40B4-BE49-F238E27FC236}">
                <a16:creationId xmlns:a16="http://schemas.microsoft.com/office/drawing/2014/main" id="{84B89D7A-C1A3-432B-85B8-8ED755E49237}"/>
              </a:ext>
            </a:extLst>
          </p:cNvPr>
          <p:cNvSpPr txBox="1"/>
          <p:nvPr/>
        </p:nvSpPr>
        <p:spPr>
          <a:xfrm>
            <a:off x="240030" y="909874"/>
            <a:ext cx="11342369" cy="1759456"/>
          </a:xfrm>
          <a:prstGeom prst="rect">
            <a:avLst/>
          </a:prstGeom>
          <a:solidFill>
            <a:schemeClr val="bg1"/>
          </a:solidFill>
          <a:ln w="28575">
            <a:solidFill>
              <a:srgbClr val="92D050"/>
            </a:solidFill>
          </a:ln>
        </p:spPr>
        <p:txBody>
          <a:bodyPr wrap="square">
            <a:spAutoFit/>
          </a:bodyPr>
          <a:lstStyle/>
          <a:p>
            <a:pPr algn="just">
              <a:spcAft>
                <a:spcPts val="1000"/>
              </a:spcAft>
            </a:pPr>
            <a:r>
              <a:rPr lang="es-ES" sz="2000" b="1" i="1" dirty="0">
                <a:effectLst/>
                <a:latin typeface="Lato" panose="020F0502020204030203"/>
                <a:ea typeface="Calibri" panose="020F0502020204030204" pitchFamily="34" charset="0"/>
                <a:cs typeface="Calibri" panose="020F0502020204030204" pitchFamily="34" charset="0"/>
              </a:rPr>
              <a:t>IEEE (2)</a:t>
            </a:r>
          </a:p>
          <a:p>
            <a:pPr algn="l"/>
            <a:r>
              <a:rPr lang="en-US" sz="2000" b="0" i="1" u="none" strike="noStrike" baseline="0" dirty="0">
                <a:latin typeface="Lato" panose="020F0502020204030203"/>
              </a:rPr>
              <a:t>We will </a:t>
            </a:r>
            <a:r>
              <a:rPr lang="en-US" sz="2000" b="1" i="1" u="none" strike="noStrike" baseline="0" dirty="0">
                <a:latin typeface="Lato" panose="020F0502020204030203"/>
              </a:rPr>
              <a:t>not discriminate against any person </a:t>
            </a:r>
            <a:r>
              <a:rPr lang="en-US" sz="2000" b="0" i="1" u="none" strike="noStrike" baseline="0" dirty="0">
                <a:latin typeface="Lato" panose="020F0502020204030203"/>
              </a:rPr>
              <a:t>because of characteristics protected by law </a:t>
            </a:r>
          </a:p>
          <a:p>
            <a:pPr algn="l"/>
            <a:r>
              <a:rPr lang="en-US" sz="2000" b="0" i="1" u="none" strike="noStrike" baseline="0" dirty="0">
                <a:latin typeface="Lato" panose="020F0502020204030203"/>
              </a:rPr>
              <a:t>(e.g., age, ancestry, color, disability or handicap, national origin, race, religion, gender, </a:t>
            </a:r>
            <a:r>
              <a:rPr lang="es-ES" sz="2000" b="0" i="1" u="none" strike="noStrike" baseline="0" dirty="0">
                <a:latin typeface="Lato" panose="020F0502020204030203"/>
              </a:rPr>
              <a:t>sexual </a:t>
            </a:r>
            <a:r>
              <a:rPr lang="es-ES" sz="2000" b="0" i="1" u="none" strike="noStrike" baseline="0" dirty="0" err="1">
                <a:latin typeface="Lato" panose="020F0502020204030203"/>
              </a:rPr>
              <a:t>or</a:t>
            </a:r>
            <a:r>
              <a:rPr lang="es-ES" sz="2000" b="0" i="1" u="none" strike="noStrike" baseline="0" dirty="0">
                <a:latin typeface="Lato" panose="020F0502020204030203"/>
              </a:rPr>
              <a:t> </a:t>
            </a:r>
            <a:r>
              <a:rPr lang="es-ES" sz="2000" b="0" i="1" u="none" strike="noStrike" baseline="0" dirty="0" err="1">
                <a:latin typeface="Lato" panose="020F0502020204030203"/>
              </a:rPr>
              <a:t>affectional</a:t>
            </a:r>
            <a:r>
              <a:rPr lang="es-ES" sz="2000" b="0" i="1" u="none" strike="noStrike" baseline="0" dirty="0">
                <a:latin typeface="Lato" panose="020F0502020204030203"/>
              </a:rPr>
              <a:t> </a:t>
            </a:r>
            <a:r>
              <a:rPr lang="es-ES" sz="2000" b="0" i="1" u="none" strike="noStrike" baseline="0" dirty="0" err="1">
                <a:latin typeface="Lato" panose="020F0502020204030203"/>
              </a:rPr>
              <a:t>orientation</a:t>
            </a:r>
            <a:r>
              <a:rPr lang="es-ES" sz="2000" b="0" i="1" u="none" strike="noStrike" baseline="0" dirty="0">
                <a:latin typeface="Lato" panose="020F0502020204030203"/>
              </a:rPr>
              <a:t>, </a:t>
            </a:r>
            <a:r>
              <a:rPr lang="es-ES" sz="2000" b="0" i="1" u="none" strike="noStrike" baseline="0" dirty="0" err="1">
                <a:latin typeface="Lato" panose="020F0502020204030203"/>
              </a:rPr>
              <a:t>gender</a:t>
            </a:r>
            <a:r>
              <a:rPr lang="es-ES" sz="2000" b="0" i="1" u="none" strike="noStrike" baseline="0" dirty="0">
                <a:latin typeface="Lato" panose="020F0502020204030203"/>
              </a:rPr>
              <a:t> </a:t>
            </a:r>
            <a:r>
              <a:rPr lang="es-ES" sz="2000" b="0" i="1" u="none" strike="noStrike" baseline="0" dirty="0" err="1">
                <a:latin typeface="Lato" panose="020F0502020204030203"/>
              </a:rPr>
              <a:t>identity</a:t>
            </a:r>
            <a:r>
              <a:rPr lang="es-ES" sz="2000" b="0" i="1" u="none" strike="noStrike" baseline="0" dirty="0">
                <a:latin typeface="Lato" panose="020F0502020204030203"/>
              </a:rPr>
              <a:t>, </a:t>
            </a:r>
            <a:r>
              <a:rPr lang="es-ES" sz="2000" b="0" i="1" u="none" strike="noStrike" baseline="0" dirty="0" err="1">
                <a:latin typeface="Lato" panose="020F0502020204030203"/>
              </a:rPr>
              <a:t>gender</a:t>
            </a:r>
            <a:r>
              <a:rPr lang="es-ES" sz="2000" b="0" i="1" u="none" strike="noStrike" baseline="0" dirty="0">
                <a:latin typeface="Lato" panose="020F0502020204030203"/>
              </a:rPr>
              <a:t> </a:t>
            </a:r>
            <a:r>
              <a:rPr lang="fr-FR" sz="2000" b="0" i="1" u="none" strike="noStrike" baseline="0" dirty="0">
                <a:latin typeface="Lato" panose="020F0502020204030203"/>
              </a:rPr>
              <a:t>expression, </a:t>
            </a:r>
            <a:r>
              <a:rPr lang="fr-FR" sz="2000" b="0" i="1" u="none" strike="noStrike" baseline="0" dirty="0" err="1">
                <a:latin typeface="Lato" panose="020F0502020204030203"/>
              </a:rPr>
              <a:t>appearance</a:t>
            </a:r>
            <a:r>
              <a:rPr lang="fr-FR" sz="2000" b="0" i="1" u="none" strike="noStrike" baseline="0" dirty="0">
                <a:latin typeface="Lato" panose="020F0502020204030203"/>
              </a:rPr>
              <a:t>, </a:t>
            </a:r>
            <a:r>
              <a:rPr lang="fr-FR" sz="2000" b="0" i="1" u="none" strike="noStrike" baseline="0" dirty="0" err="1">
                <a:latin typeface="Lato" panose="020F0502020204030203"/>
              </a:rPr>
              <a:t>political</a:t>
            </a:r>
            <a:r>
              <a:rPr lang="fr-FR" sz="2000" b="0" i="1" u="none" strike="noStrike" baseline="0" dirty="0">
                <a:latin typeface="Lato" panose="020F0502020204030203"/>
              </a:rPr>
              <a:t> affiliation, </a:t>
            </a:r>
            <a:r>
              <a:rPr lang="es-ES" sz="2000" b="0" i="1" u="none" strike="noStrike" baseline="0" dirty="0">
                <a:latin typeface="Lato" panose="020F0502020204030203"/>
              </a:rPr>
              <a:t>marital status, </a:t>
            </a:r>
            <a:r>
              <a:rPr lang="es-ES" sz="2000" b="0" i="1" u="none" strike="noStrike" baseline="0" dirty="0" err="1">
                <a:latin typeface="Lato" panose="020F0502020204030203"/>
              </a:rPr>
              <a:t>veteran</a:t>
            </a:r>
            <a:r>
              <a:rPr lang="es-ES" sz="2000" b="0" i="1" u="none" strike="noStrike" baseline="0" dirty="0">
                <a:latin typeface="Lato" panose="020F0502020204030203"/>
              </a:rPr>
              <a:t> status).</a:t>
            </a:r>
            <a:endParaRPr lang="es-ES" sz="2000" b="1" i="1" dirty="0">
              <a:effectLst/>
              <a:latin typeface="Lato" panose="020F0502020204030203"/>
              <a:ea typeface="Calibri" panose="020F0502020204030204" pitchFamily="34" charset="0"/>
              <a:cs typeface="Calibri" panose="020F0502020204030204" pitchFamily="34" charset="0"/>
            </a:endParaRPr>
          </a:p>
        </p:txBody>
      </p:sp>
      <p:pic>
        <p:nvPicPr>
          <p:cNvPr id="14" name="Imagen 13"/>
          <p:cNvPicPr/>
          <p:nvPr/>
        </p:nvPicPr>
        <p:blipFill rotWithShape="1">
          <a:blip r:embed="rId3"/>
          <a:srcRect l="7878" t="16359" r="16863" b="-1888"/>
          <a:stretch/>
        </p:blipFill>
        <p:spPr bwMode="auto">
          <a:xfrm>
            <a:off x="4126230" y="3108961"/>
            <a:ext cx="5029200" cy="32983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0093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777240" y="-194310"/>
            <a:ext cx="11414760" cy="1141367"/>
          </a:xfrm>
        </p:spPr>
        <p:txBody>
          <a:bodyPr>
            <a:normAutofit/>
          </a:bodyPr>
          <a:lstStyle/>
          <a:p>
            <a:r>
              <a:rPr lang="es-ES_tradnl" b="1" dirty="0"/>
              <a:t>2.2 Problemas éticos relevantes en ingeniería: no discriminación</a:t>
            </a:r>
            <a:endParaRPr lang="es-ES_tradnl" dirty="0"/>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26</a:t>
            </a:fld>
            <a:endParaRPr lang="es-ES" sz="1400"/>
          </a:p>
        </p:txBody>
      </p:sp>
      <p:sp>
        <p:nvSpPr>
          <p:cNvPr id="5" name="Marcador de pie de página 4"/>
          <p:cNvSpPr>
            <a:spLocks noGrp="1"/>
          </p:cNvSpPr>
          <p:nvPr>
            <p:ph type="ftr" sz="quarter" idx="11"/>
          </p:nvPr>
        </p:nvSpPr>
        <p:spPr>
          <a:xfrm>
            <a:off x="2145832" y="6131996"/>
            <a:ext cx="3711981" cy="365125"/>
          </a:xfrm>
        </p:spPr>
        <p:txBody>
          <a:bodyPr/>
          <a:lstStyle/>
          <a:p>
            <a:endParaRPr lang="es-ES" dirty="0"/>
          </a:p>
        </p:txBody>
      </p:sp>
      <p:sp>
        <p:nvSpPr>
          <p:cNvPr id="14" name="1 CuadroTexto">
            <a:extLst>
              <a:ext uri="{FF2B5EF4-FFF2-40B4-BE49-F238E27FC236}">
                <a16:creationId xmlns:a16="http://schemas.microsoft.com/office/drawing/2014/main" id="{939DB8D9-AFC0-460E-BC3B-AA963CEF8A03}"/>
              </a:ext>
            </a:extLst>
          </p:cNvPr>
          <p:cNvSpPr txBox="1"/>
          <p:nvPr/>
        </p:nvSpPr>
        <p:spPr>
          <a:xfrm>
            <a:off x="469900" y="947057"/>
            <a:ext cx="10526712" cy="1200329"/>
          </a:xfrm>
          <a:prstGeom prst="rect">
            <a:avLst/>
          </a:prstGeom>
          <a:solidFill>
            <a:schemeClr val="bg1"/>
          </a:solidFill>
          <a:ln w="63500">
            <a:solidFill>
              <a:schemeClr val="accent1"/>
            </a:solidFill>
          </a:ln>
        </p:spPr>
        <p:txBody>
          <a:bodyPr wrap="square" rtlCol="0">
            <a:spAutoFit/>
          </a:bodyPr>
          <a:lstStyle/>
          <a:p>
            <a:pPr>
              <a:spcBef>
                <a:spcPct val="20000"/>
              </a:spcBef>
              <a:buClr>
                <a:srgbClr val="000099"/>
              </a:buClr>
              <a:defRPr/>
            </a:pPr>
            <a:r>
              <a:rPr lang="es-ES_tradnl" altLang="es-ES" sz="2400" b="1" dirty="0">
                <a:solidFill>
                  <a:schemeClr val="tx2"/>
                </a:solidFill>
                <a:latin typeface="Calibri" panose="020F0502020204030204" pitchFamily="34" charset="0"/>
                <a:ea typeface="Calibri" panose="020F0502020204030204" pitchFamily="34" charset="0"/>
                <a:cs typeface="Calibri" panose="020F0502020204030204" pitchFamily="34" charset="0"/>
              </a:rPr>
              <a:t>ACM (1.4):</a:t>
            </a:r>
          </a:p>
          <a:p>
            <a:pPr>
              <a:spcBef>
                <a:spcPct val="0"/>
              </a:spcBef>
            </a:pPr>
            <a:r>
              <a:rPr lang="es-ES" sz="2400" i="1" dirty="0">
                <a:latin typeface="Calibri" panose="020F0502020204030204" pitchFamily="34" charset="0"/>
                <a:ea typeface="Calibri" panose="020F0502020204030204" pitchFamily="34" charset="0"/>
                <a:cs typeface="Calibri" panose="020F0502020204030204" pitchFamily="34" charset="0"/>
              </a:rPr>
              <a:t>[…] </a:t>
            </a:r>
            <a:r>
              <a:rPr lang="es-ES" sz="2400" b="1" i="1" dirty="0">
                <a:latin typeface="Calibri" panose="020F0502020204030204" pitchFamily="34" charset="0"/>
                <a:ea typeface="Calibri" panose="020F0502020204030204" pitchFamily="34" charset="0"/>
                <a:cs typeface="Calibri" panose="020F0502020204030204" pitchFamily="34" charset="0"/>
              </a:rPr>
              <a:t>Las tecnologías </a:t>
            </a:r>
            <a:r>
              <a:rPr lang="es-ES" sz="2400" i="1" dirty="0">
                <a:latin typeface="Calibri" panose="020F0502020204030204" pitchFamily="34" charset="0"/>
                <a:ea typeface="Calibri" panose="020F0502020204030204" pitchFamily="34" charset="0"/>
                <a:cs typeface="Calibri" panose="020F0502020204030204" pitchFamily="34" charset="0"/>
              </a:rPr>
              <a:t>y las prácticas </a:t>
            </a:r>
            <a:r>
              <a:rPr lang="es-ES" sz="2400" b="1" i="1" dirty="0">
                <a:latin typeface="Calibri" panose="020F0502020204030204" pitchFamily="34" charset="0"/>
                <a:ea typeface="Calibri" panose="020F0502020204030204" pitchFamily="34" charset="0"/>
                <a:cs typeface="Calibri" panose="020F0502020204030204" pitchFamily="34" charset="0"/>
              </a:rPr>
              <a:t>deben ser</a:t>
            </a:r>
            <a:r>
              <a:rPr lang="es-ES" sz="2400" i="1" dirty="0">
                <a:latin typeface="Calibri" panose="020F0502020204030204" pitchFamily="34" charset="0"/>
                <a:ea typeface="Calibri" panose="020F0502020204030204" pitchFamily="34" charset="0"/>
                <a:cs typeface="Calibri" panose="020F0502020204030204" pitchFamily="34" charset="0"/>
              </a:rPr>
              <a:t> lo más </a:t>
            </a:r>
            <a:r>
              <a:rPr lang="es-ES" sz="2400" b="1" i="1" dirty="0">
                <a:latin typeface="Calibri" panose="020F0502020204030204" pitchFamily="34" charset="0"/>
                <a:ea typeface="Calibri" panose="020F0502020204030204" pitchFamily="34" charset="0"/>
                <a:cs typeface="Calibri" panose="020F0502020204030204" pitchFamily="34" charset="0"/>
              </a:rPr>
              <a:t>inclusivas y accesibles</a:t>
            </a:r>
            <a:r>
              <a:rPr lang="es-ES" sz="2400" i="1" dirty="0">
                <a:latin typeface="Calibri" panose="020F0502020204030204" pitchFamily="34" charset="0"/>
                <a:ea typeface="Calibri" panose="020F0502020204030204" pitchFamily="34" charset="0"/>
                <a:cs typeface="Calibri" panose="020F0502020204030204" pitchFamily="34" charset="0"/>
              </a:rPr>
              <a:t> que sea posible </a:t>
            </a:r>
            <a:endParaRPr lang="es-ES" altLang="es-ES" sz="2400" i="1" dirty="0">
              <a:solidFill>
                <a:srgbClr val="92D050"/>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0C8541FC-6775-4869-B94B-CA8F4399B493}"/>
              </a:ext>
            </a:extLst>
          </p:cNvPr>
          <p:cNvPicPr>
            <a:picLocks noChangeAspect="1"/>
          </p:cNvPicPr>
          <p:nvPr/>
        </p:nvPicPr>
        <p:blipFill rotWithShape="1">
          <a:blip r:embed="rId3"/>
          <a:srcRect l="23906" t="26529" r="24922" b="8357"/>
          <a:stretch/>
        </p:blipFill>
        <p:spPr>
          <a:xfrm>
            <a:off x="5733256" y="2385559"/>
            <a:ext cx="6086475" cy="4356554"/>
          </a:xfrm>
          <a:prstGeom prst="rect">
            <a:avLst/>
          </a:prstGeom>
        </p:spPr>
      </p:pic>
      <p:sp>
        <p:nvSpPr>
          <p:cNvPr id="13" name="CuadroTexto 12">
            <a:extLst>
              <a:ext uri="{FF2B5EF4-FFF2-40B4-BE49-F238E27FC236}">
                <a16:creationId xmlns:a16="http://schemas.microsoft.com/office/drawing/2014/main" id="{A140615F-8CDA-4785-A415-E5740DA2D461}"/>
              </a:ext>
            </a:extLst>
          </p:cNvPr>
          <p:cNvSpPr txBox="1"/>
          <p:nvPr/>
        </p:nvSpPr>
        <p:spPr>
          <a:xfrm>
            <a:off x="66673" y="3504402"/>
            <a:ext cx="5318127" cy="400110"/>
          </a:xfrm>
          <a:prstGeom prst="rect">
            <a:avLst/>
          </a:prstGeom>
          <a:noFill/>
        </p:spPr>
        <p:txBody>
          <a:bodyPr wrap="square">
            <a:spAutoFit/>
          </a:bodyPr>
          <a:lstStyle/>
          <a:p>
            <a:r>
              <a:rPr lang="es-ES" sz="1000" dirty="0">
                <a:hlinkClick r:id="rId4"/>
              </a:rPr>
              <a:t>https://www.lavanguardia.com/tecnologia/20190205/46230613660/google-aplicaciones-sordera-live-transcribe-sound-amplifier-tecnologia.html</a:t>
            </a:r>
            <a:r>
              <a:rPr lang="es-ES" sz="1000" dirty="0"/>
              <a:t> </a:t>
            </a:r>
          </a:p>
        </p:txBody>
      </p:sp>
    </p:spTree>
    <p:extLst>
      <p:ext uri="{BB962C8B-B14F-4D97-AF65-F5344CB8AC3E}">
        <p14:creationId xmlns:p14="http://schemas.microsoft.com/office/powerpoint/2010/main" val="374650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additive="base">
                                        <p:cTn id="11" dur="500" fill="hold"/>
                                        <p:tgtEl>
                                          <p:spTgt spid="10243"/>
                                        </p:tgtEl>
                                        <p:attrNameLst>
                                          <p:attrName>ppt_x</p:attrName>
                                        </p:attrNameLst>
                                      </p:cBhvr>
                                      <p:tavLst>
                                        <p:tav tm="0">
                                          <p:val>
                                            <p:strVal val="#ppt_x"/>
                                          </p:val>
                                        </p:tav>
                                        <p:tav tm="100000">
                                          <p:val>
                                            <p:strVal val="#ppt_x"/>
                                          </p:val>
                                        </p:tav>
                                      </p:tavLst>
                                    </p:anim>
                                    <p:anim calcmode="lin" valueType="num">
                                      <p:cBhvr additive="base">
                                        <p:cTn id="12" dur="500" fill="hold"/>
                                        <p:tgtEl>
                                          <p:spTgt spid="1024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nodePh="1">
                                  <p:stCondLst>
                                    <p:cond delay="0"/>
                                  </p:stCondLst>
                                  <p:endCondLst>
                                    <p:cond evt="begin" delay="0">
                                      <p:tn val="13"/>
                                    </p:cond>
                                  </p:end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5" grpId="0"/>
      <p:bldP spid="14" grpId="0" animBg="1"/>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6"/>
          <p:cNvSpPr>
            <a:spLocks noGrp="1" noChangeArrowheads="1"/>
          </p:cNvSpPr>
          <p:nvPr>
            <p:ph type="title"/>
          </p:nvPr>
        </p:nvSpPr>
        <p:spPr>
          <a:xfrm>
            <a:off x="434989" y="-114300"/>
            <a:ext cx="11757011" cy="1061357"/>
          </a:xfrm>
        </p:spPr>
        <p:txBody>
          <a:bodyPr>
            <a:normAutofit/>
          </a:bodyPr>
          <a:lstStyle/>
          <a:p>
            <a:r>
              <a:rPr lang="es-ES_tradnl" b="1" dirty="0"/>
              <a:t>2.2 Problemas éticos relevantes en ingeniería: propiedad intelectual</a:t>
            </a:r>
          </a:p>
        </p:txBody>
      </p:sp>
      <p:sp>
        <p:nvSpPr>
          <p:cNvPr id="10243" name="5 Marcador de número de diapositiva"/>
          <p:cNvSpPr txBox="1">
            <a:spLocks noGrp="1"/>
          </p:cNvSpPr>
          <p:nvPr/>
        </p:nvSpPr>
        <p:spPr bwMode="auto">
          <a:xfrm>
            <a:off x="6191251" y="6284913"/>
            <a:ext cx="670983" cy="457200"/>
          </a:xfrm>
          <a:prstGeom prst="rect">
            <a:avLst/>
          </a:prstGeom>
          <a:noFill/>
          <a:ln w="9525">
            <a:noFill/>
            <a:miter lim="800000"/>
            <a:headEnd/>
            <a:tailEnd/>
          </a:ln>
        </p:spPr>
        <p:txBody>
          <a:bodyPr wrap="none"/>
          <a:lstStyle/>
          <a:p>
            <a:fld id="{DA827A5E-5184-450B-A151-B65A62CE3693}" type="slidenum">
              <a:rPr lang="es-ES" sz="1400"/>
              <a:pPr/>
              <a:t>27</a:t>
            </a:fld>
            <a:endParaRPr lang="es-ES" sz="1400"/>
          </a:p>
        </p:txBody>
      </p:sp>
      <p:sp>
        <p:nvSpPr>
          <p:cNvPr id="5" name="Marcador de pie de página 4"/>
          <p:cNvSpPr>
            <a:spLocks noGrp="1"/>
          </p:cNvSpPr>
          <p:nvPr>
            <p:ph type="ftr" sz="quarter" idx="11"/>
          </p:nvPr>
        </p:nvSpPr>
        <p:spPr>
          <a:xfrm>
            <a:off x="2145832" y="6131996"/>
            <a:ext cx="3711981" cy="365125"/>
          </a:xfrm>
        </p:spPr>
        <p:txBody>
          <a:bodyPr/>
          <a:lstStyle/>
          <a:p>
            <a:r>
              <a:rPr lang="es-ES" dirty="0"/>
              <a:t>CTS. Tema 3. Ética, TIC y Derechos Humanos</a:t>
            </a:r>
          </a:p>
        </p:txBody>
      </p:sp>
      <p:sp>
        <p:nvSpPr>
          <p:cNvPr id="9" name="8 Rectángulo redondeado">
            <a:extLst>
              <a:ext uri="{FF2B5EF4-FFF2-40B4-BE49-F238E27FC236}">
                <a16:creationId xmlns:a16="http://schemas.microsoft.com/office/drawing/2014/main" id="{DDEEB0FE-560C-416B-9667-A1B760D9AEF1}"/>
              </a:ext>
            </a:extLst>
          </p:cNvPr>
          <p:cNvSpPr/>
          <p:nvPr/>
        </p:nvSpPr>
        <p:spPr>
          <a:xfrm>
            <a:off x="434989" y="3068205"/>
            <a:ext cx="2422541" cy="13533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t>Referencias:</a:t>
            </a:r>
          </a:p>
          <a:p>
            <a:r>
              <a:rPr lang="es-ES" dirty="0"/>
              <a:t>ACM: 1.5, 2.8</a:t>
            </a:r>
          </a:p>
          <a:p>
            <a:r>
              <a:rPr lang="es-ES" dirty="0"/>
              <a:t>COITT: 82</a:t>
            </a:r>
          </a:p>
          <a:p>
            <a:r>
              <a:rPr lang="es-ES" dirty="0"/>
              <a:t>IEEE (2014): 5 (e)</a:t>
            </a:r>
          </a:p>
        </p:txBody>
      </p:sp>
      <p:sp>
        <p:nvSpPr>
          <p:cNvPr id="10" name="CuadroTexto 9">
            <a:extLst>
              <a:ext uri="{FF2B5EF4-FFF2-40B4-BE49-F238E27FC236}">
                <a16:creationId xmlns:a16="http://schemas.microsoft.com/office/drawing/2014/main" id="{66484B07-3883-4B53-A3F2-9654FB94F2E9}"/>
              </a:ext>
            </a:extLst>
          </p:cNvPr>
          <p:cNvSpPr txBox="1"/>
          <p:nvPr/>
        </p:nvSpPr>
        <p:spPr>
          <a:xfrm>
            <a:off x="483781" y="947057"/>
            <a:ext cx="11098618" cy="1815882"/>
          </a:xfrm>
          <a:prstGeom prst="rect">
            <a:avLst/>
          </a:prstGeom>
          <a:solidFill>
            <a:schemeClr val="bg1"/>
          </a:solidFill>
          <a:ln w="28575">
            <a:solidFill>
              <a:srgbClr val="92D050"/>
            </a:solidFill>
          </a:ln>
        </p:spPr>
        <p:txBody>
          <a:bodyPr wrap="square">
            <a:spAutoFit/>
          </a:bodyPr>
          <a:lstStyle/>
          <a:p>
            <a:pPr algn="just">
              <a:spcAft>
                <a:spcPts val="1000"/>
              </a:spcAft>
            </a:pPr>
            <a:r>
              <a:rPr lang="es-ES" sz="2800" b="1" i="1" dirty="0">
                <a:effectLst/>
                <a:latin typeface="Calibri" panose="020F0502020204030204" pitchFamily="34" charset="0"/>
                <a:ea typeface="Calibri" panose="020F0502020204030204" pitchFamily="34" charset="0"/>
                <a:cs typeface="Calibri" panose="020F0502020204030204" pitchFamily="34" charset="0"/>
              </a:rPr>
              <a:t>ACM (1.5): </a:t>
            </a:r>
            <a:r>
              <a:rPr lang="es-ES" altLang="es-ES" sz="2800" b="0" i="1" dirty="0">
                <a:latin typeface="Calibri" panose="020F0502020204030204" pitchFamily="34" charset="0"/>
                <a:ea typeface="Calibri" panose="020F0502020204030204" pitchFamily="34" charset="0"/>
                <a:cs typeface="Calibri" panose="020F0502020204030204" pitchFamily="34" charset="0"/>
              </a:rPr>
              <a:t>los profesionales deberían </a:t>
            </a:r>
            <a:r>
              <a:rPr lang="es-ES" altLang="es-ES" sz="2800" b="1" i="1" dirty="0">
                <a:latin typeface="Calibri" panose="020F0502020204030204" pitchFamily="34" charset="0"/>
                <a:ea typeface="Calibri" panose="020F0502020204030204" pitchFamily="34" charset="0"/>
                <a:cs typeface="Calibri" panose="020F0502020204030204" pitchFamily="34" charset="0"/>
              </a:rPr>
              <a:t>respetar la autoría</a:t>
            </a:r>
            <a:r>
              <a:rPr lang="es-ES" altLang="es-ES" sz="2800" i="1" dirty="0">
                <a:latin typeface="Calibri" panose="020F0502020204030204" pitchFamily="34" charset="0"/>
                <a:ea typeface="Calibri" panose="020F0502020204030204" pitchFamily="34" charset="0"/>
                <a:cs typeface="Calibri" panose="020F0502020204030204" pitchFamily="34" charset="0"/>
              </a:rPr>
              <a:t> de los creadores</a:t>
            </a:r>
            <a:r>
              <a:rPr lang="es-ES" altLang="es-ES" sz="2800" b="0" i="1" dirty="0">
                <a:latin typeface="Calibri" panose="020F0502020204030204" pitchFamily="34" charset="0"/>
                <a:ea typeface="Calibri" panose="020F0502020204030204" pitchFamily="34" charset="0"/>
                <a:cs typeface="Calibri" panose="020F0502020204030204" pitchFamily="34" charset="0"/>
              </a:rPr>
              <a:t> de ideas, inventos, trabajos y artefactos, los derechos de autor, las patentes, el secreto comercial, los acuerdos de licencias y otros métodos para </a:t>
            </a:r>
            <a:r>
              <a:rPr lang="es-ES" altLang="es-ES" sz="2800" b="1" i="1" dirty="0">
                <a:latin typeface="Calibri" panose="020F0502020204030204" pitchFamily="34" charset="0"/>
                <a:ea typeface="Calibri" panose="020F0502020204030204" pitchFamily="34" charset="0"/>
                <a:cs typeface="Calibri" panose="020F0502020204030204" pitchFamily="34" charset="0"/>
              </a:rPr>
              <a:t>proteger el trabajo de los autores</a:t>
            </a:r>
            <a:r>
              <a:rPr lang="es-ES" altLang="es-ES" sz="2800" b="0" i="1" dirty="0">
                <a:latin typeface="Calibri" panose="020F0502020204030204" pitchFamily="34" charset="0"/>
                <a:ea typeface="Calibri" panose="020F0502020204030204" pitchFamily="34" charset="0"/>
                <a:cs typeface="Calibri" panose="020F0502020204030204" pitchFamily="34" charset="0"/>
              </a:rPr>
              <a:t>. </a:t>
            </a:r>
          </a:p>
        </p:txBody>
      </p:sp>
      <p:pic>
        <p:nvPicPr>
          <p:cNvPr id="14" name="Imagen 13">
            <a:extLst>
              <a:ext uri="{FF2B5EF4-FFF2-40B4-BE49-F238E27FC236}">
                <a16:creationId xmlns:a16="http://schemas.microsoft.com/office/drawing/2014/main" id="{1352F3E3-62B1-4D2A-836A-1E480AD6B9DE}"/>
              </a:ext>
            </a:extLst>
          </p:cNvPr>
          <p:cNvPicPr>
            <a:picLocks noChangeAspect="1"/>
          </p:cNvPicPr>
          <p:nvPr/>
        </p:nvPicPr>
        <p:blipFill rotWithShape="1">
          <a:blip r:embed="rId3"/>
          <a:srcRect l="25312" t="31943" r="26172" b="13268"/>
          <a:stretch/>
        </p:blipFill>
        <p:spPr>
          <a:xfrm>
            <a:off x="3569229" y="2953460"/>
            <a:ext cx="5915025" cy="3757376"/>
          </a:xfrm>
          <a:prstGeom prst="rect">
            <a:avLst/>
          </a:prstGeom>
        </p:spPr>
      </p:pic>
      <p:sp>
        <p:nvSpPr>
          <p:cNvPr id="15" name="CuadroTexto 14">
            <a:extLst>
              <a:ext uri="{FF2B5EF4-FFF2-40B4-BE49-F238E27FC236}">
                <a16:creationId xmlns:a16="http://schemas.microsoft.com/office/drawing/2014/main" id="{021021EA-3C96-4ED2-98CC-7C87F528F825}"/>
              </a:ext>
            </a:extLst>
          </p:cNvPr>
          <p:cNvSpPr txBox="1"/>
          <p:nvPr/>
        </p:nvSpPr>
        <p:spPr>
          <a:xfrm>
            <a:off x="483781" y="4832148"/>
            <a:ext cx="3085448" cy="553998"/>
          </a:xfrm>
          <a:prstGeom prst="rect">
            <a:avLst/>
          </a:prstGeom>
          <a:noFill/>
        </p:spPr>
        <p:txBody>
          <a:bodyPr wrap="square">
            <a:spAutoFit/>
          </a:bodyPr>
          <a:lstStyle/>
          <a:p>
            <a:r>
              <a:rPr lang="es-ES" sz="1000" dirty="0">
                <a:hlinkClick r:id="rId4"/>
              </a:rPr>
              <a:t>https://elceo.com/tecnologia/apple-y-broadcom-son-multadas-con-1100-mdd-por-infringir-derechos-de-propiedad-intelectual-de-caltech/</a:t>
            </a:r>
            <a:r>
              <a:rPr lang="es-ES" sz="1000" dirty="0"/>
              <a:t> </a:t>
            </a:r>
          </a:p>
        </p:txBody>
      </p:sp>
    </p:spTree>
    <p:extLst>
      <p:ext uri="{BB962C8B-B14F-4D97-AF65-F5344CB8AC3E}">
        <p14:creationId xmlns:p14="http://schemas.microsoft.com/office/powerpoint/2010/main" val="271955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5 Marcador de número de diapositiva"/>
          <p:cNvSpPr txBox="1">
            <a:spLocks noGrp="1"/>
          </p:cNvSpPr>
          <p:nvPr/>
        </p:nvSpPr>
        <p:spPr bwMode="auto">
          <a:xfrm>
            <a:off x="5900284" y="6349093"/>
            <a:ext cx="670983" cy="457200"/>
          </a:xfrm>
          <a:prstGeom prst="rect">
            <a:avLst/>
          </a:prstGeom>
          <a:noFill/>
          <a:ln w="9525">
            <a:noFill/>
            <a:miter lim="800000"/>
            <a:headEnd/>
            <a:tailEnd/>
          </a:ln>
        </p:spPr>
        <p:txBody>
          <a:bodyPr wrap="none"/>
          <a:lstStyle/>
          <a:p>
            <a:fld id="{C08E047B-3833-446E-9A9C-DF7727C64C9A}" type="slidenum">
              <a:rPr lang="es-ES" sz="1400"/>
              <a:pPr/>
              <a:t>28</a:t>
            </a:fld>
            <a:endParaRPr lang="es-ES" sz="1400" dirty="0"/>
          </a:p>
        </p:txBody>
      </p:sp>
      <p:sp>
        <p:nvSpPr>
          <p:cNvPr id="7" name="Rectangle 7"/>
          <p:cNvSpPr txBox="1">
            <a:spLocks noChangeArrowheads="1"/>
          </p:cNvSpPr>
          <p:nvPr/>
        </p:nvSpPr>
        <p:spPr bwMode="auto">
          <a:xfrm>
            <a:off x="266218" y="938213"/>
            <a:ext cx="9356753" cy="1400838"/>
          </a:xfrm>
          <a:prstGeom prst="rect">
            <a:avLst/>
          </a:prstGeom>
          <a:noFill/>
          <a:ln w="9525">
            <a:noFill/>
            <a:miter lim="800000"/>
            <a:headEnd/>
            <a:tailEnd/>
          </a:ln>
          <a:effectLst/>
        </p:spPr>
        <p:txBody>
          <a:bodyPr/>
          <a:lstStyle/>
          <a:p>
            <a:pPr marL="441325" indent="-441325" eaLnBrk="0" hangingPunct="0">
              <a:spcBef>
                <a:spcPct val="20000"/>
              </a:spcBef>
              <a:buClr>
                <a:srgbClr val="000099"/>
              </a:buClr>
              <a:defRPr/>
            </a:pPr>
            <a:endParaRPr lang="es-ES" sz="2800" b="1" dirty="0">
              <a:solidFill>
                <a:srgbClr val="CC0066"/>
              </a:solidFill>
              <a:latin typeface="Lato" panose="020F0502020204030203"/>
              <a:cs typeface="Arial" pitchFamily="34" charset="0"/>
            </a:endParaRPr>
          </a:p>
          <a:p>
            <a:pPr indent="4763">
              <a:spcBef>
                <a:spcPct val="20000"/>
              </a:spcBef>
              <a:buClr>
                <a:srgbClr val="000099"/>
              </a:buClr>
              <a:defRPr/>
            </a:pPr>
            <a:r>
              <a:rPr lang="es-ES" altLang="es-ES" sz="2800" dirty="0">
                <a:cs typeface="Arial" panose="020B0604020202020204" pitchFamily="34" charset="0"/>
              </a:rPr>
              <a:t>Derecho fundamental a controlar el uso qué se hace de nuestros datos personales para evitar usos que nos perjudiquen</a:t>
            </a:r>
          </a:p>
        </p:txBody>
      </p:sp>
      <p:sp>
        <p:nvSpPr>
          <p:cNvPr id="8" name="7 Rectángulo redondeado"/>
          <p:cNvSpPr/>
          <p:nvPr/>
        </p:nvSpPr>
        <p:spPr>
          <a:xfrm>
            <a:off x="9969499" y="1217822"/>
            <a:ext cx="1917701" cy="11212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t>Referencias:</a:t>
            </a:r>
          </a:p>
          <a:p>
            <a:r>
              <a:rPr lang="es-ES" dirty="0"/>
              <a:t>ACM: 1.1, </a:t>
            </a:r>
            <a:r>
              <a:rPr lang="es-ES" b="1" dirty="0"/>
              <a:t>1.6</a:t>
            </a:r>
            <a:r>
              <a:rPr lang="es-ES" dirty="0"/>
              <a:t>, 2.8</a:t>
            </a:r>
          </a:p>
          <a:p>
            <a:r>
              <a:rPr lang="es-ES" dirty="0"/>
              <a:t>IEEE (2014): 1</a:t>
            </a:r>
          </a:p>
        </p:txBody>
      </p:sp>
      <p:sp>
        <p:nvSpPr>
          <p:cNvPr id="3" name="Marcador de pie de página 2"/>
          <p:cNvSpPr>
            <a:spLocks noGrp="1"/>
          </p:cNvSpPr>
          <p:nvPr>
            <p:ph type="ftr" sz="quarter" idx="11"/>
          </p:nvPr>
        </p:nvSpPr>
        <p:spPr>
          <a:xfrm>
            <a:off x="2098207" y="6080126"/>
            <a:ext cx="3711981" cy="365125"/>
          </a:xfrm>
        </p:spPr>
        <p:txBody>
          <a:bodyPr/>
          <a:lstStyle/>
          <a:p>
            <a:r>
              <a:rPr lang="es-ES" dirty="0"/>
              <a:t>CTS. Tema 3. Ética, TIC y Derechos Humanos</a:t>
            </a:r>
          </a:p>
        </p:txBody>
      </p:sp>
      <p:sp>
        <p:nvSpPr>
          <p:cNvPr id="4" name="Marcador de número de diapositiva 3"/>
          <p:cNvSpPr>
            <a:spLocks noGrp="1"/>
          </p:cNvSpPr>
          <p:nvPr>
            <p:ph type="sldNum" sz="quarter" idx="12"/>
          </p:nvPr>
        </p:nvSpPr>
        <p:spPr>
          <a:xfrm>
            <a:off x="8681987" y="5818450"/>
            <a:ext cx="519765" cy="365125"/>
          </a:xfrm>
        </p:spPr>
        <p:txBody>
          <a:bodyPr/>
          <a:lstStyle/>
          <a:p>
            <a:endParaRPr lang="es-ES"/>
          </a:p>
          <a:p>
            <a:endParaRPr lang="es-ES" dirty="0"/>
          </a:p>
        </p:txBody>
      </p:sp>
      <p:sp>
        <p:nvSpPr>
          <p:cNvPr id="11" name="Rectangle 6">
            <a:extLst>
              <a:ext uri="{FF2B5EF4-FFF2-40B4-BE49-F238E27FC236}">
                <a16:creationId xmlns:a16="http://schemas.microsoft.com/office/drawing/2014/main" id="{37931EFF-B21C-451C-8B12-600BCFDC415A}"/>
              </a:ext>
            </a:extLst>
          </p:cNvPr>
          <p:cNvSpPr>
            <a:spLocks noGrp="1" noChangeArrowheads="1"/>
          </p:cNvSpPr>
          <p:nvPr>
            <p:ph type="title"/>
          </p:nvPr>
        </p:nvSpPr>
        <p:spPr>
          <a:xfrm>
            <a:off x="411480" y="-114300"/>
            <a:ext cx="11475721" cy="1061357"/>
          </a:xfrm>
        </p:spPr>
        <p:txBody>
          <a:bodyPr>
            <a:normAutofit/>
          </a:bodyPr>
          <a:lstStyle/>
          <a:p>
            <a:r>
              <a:rPr lang="es-ES_tradnl" b="1" dirty="0"/>
              <a:t>2.2 Problemas éticos relevantes en ingeniería: privacidad</a:t>
            </a:r>
          </a:p>
        </p:txBody>
      </p:sp>
      <p:pic>
        <p:nvPicPr>
          <p:cNvPr id="13" name="Picture 9">
            <a:extLst>
              <a:ext uri="{FF2B5EF4-FFF2-40B4-BE49-F238E27FC236}">
                <a16:creationId xmlns:a16="http://schemas.microsoft.com/office/drawing/2014/main" id="{7E82D342-CF33-4763-991B-2F0EF4835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2813" t="33968" r="34373" b="45914"/>
          <a:stretch>
            <a:fillRect/>
          </a:stretch>
        </p:blipFill>
        <p:spPr bwMode="auto">
          <a:xfrm>
            <a:off x="998612" y="3227923"/>
            <a:ext cx="6723531" cy="2319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1 Rectángulo">
            <a:extLst>
              <a:ext uri="{FF2B5EF4-FFF2-40B4-BE49-F238E27FC236}">
                <a16:creationId xmlns:a16="http://schemas.microsoft.com/office/drawing/2014/main" id="{D4CCE801-4278-4D31-821D-6AB7849F3804}"/>
              </a:ext>
            </a:extLst>
          </p:cNvPr>
          <p:cNvSpPr>
            <a:spLocks noChangeArrowheads="1"/>
          </p:cNvSpPr>
          <p:nvPr/>
        </p:nvSpPr>
        <p:spPr bwMode="auto">
          <a:xfrm>
            <a:off x="7722142" y="4968875"/>
            <a:ext cx="416505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0099"/>
              </a:buClr>
              <a:buFont typeface="Wingdings" panose="05000000000000000000" pitchFamily="2" charset="2"/>
              <a:buChar char="ü"/>
              <a:defRPr sz="2800" b="1">
                <a:solidFill>
                  <a:schemeClr val="tx2"/>
                </a:solidFill>
                <a:latin typeface="Arial" panose="020B0604020202020204" pitchFamily="34" charset="0"/>
                <a:ea typeface="MS PGothic" panose="020B0600070205080204" pitchFamily="34" charset="-128"/>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ea typeface="MS PGothic" panose="020B0600070205080204" pitchFamily="34" charset="-128"/>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FontTx/>
              <a:buNone/>
            </a:pPr>
            <a:r>
              <a:rPr lang="es-ES" altLang="es-ES" sz="1200" b="0" dirty="0">
                <a:solidFill>
                  <a:schemeClr val="tx1"/>
                </a:solidFill>
                <a:cs typeface="Arial" panose="020B0604020202020204" pitchFamily="34" charset="0"/>
                <a:hlinkClick r:id="rId4"/>
              </a:rPr>
              <a:t>https://elpais.com/tecnologia/2020-03-30/muchas-aplicaciones-recopilan-y-venden-salvajemente-nuestros-datos-aprovechando-el-coronavirus.html#?sma=newsletter_retina20200402</a:t>
            </a:r>
            <a:r>
              <a:rPr lang="es-ES" altLang="es-ES" sz="1200" b="0" dirty="0">
                <a:solidFill>
                  <a:schemeClr val="tx1"/>
                </a:solidFill>
                <a:cs typeface="Arial" panose="020B0604020202020204" pitchFamily="34" charset="0"/>
              </a:rPr>
              <a:t> </a:t>
            </a:r>
          </a:p>
        </p:txBody>
      </p:sp>
      <p:pic>
        <p:nvPicPr>
          <p:cNvPr id="12" name="Picture 9">
            <a:extLst>
              <a:ext uri="{FF2B5EF4-FFF2-40B4-BE49-F238E27FC236}">
                <a16:creationId xmlns:a16="http://schemas.microsoft.com/office/drawing/2014/main" id="{3CA6C42F-1453-47C6-A65B-26C550CA70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061" t="55389" r="45100" b="15714"/>
          <a:stretch>
            <a:fillRect/>
          </a:stretch>
        </p:blipFill>
        <p:spPr bwMode="auto">
          <a:xfrm>
            <a:off x="4543937" y="4083050"/>
            <a:ext cx="2379663"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272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additive="base">
                                        <p:cTn id="7" dur="500" fill="hold"/>
                                        <p:tgtEl>
                                          <p:spTgt spid="12291"/>
                                        </p:tgtEl>
                                        <p:attrNameLst>
                                          <p:attrName>ppt_x</p:attrName>
                                        </p:attrNameLst>
                                      </p:cBhvr>
                                      <p:tavLst>
                                        <p:tav tm="0">
                                          <p:val>
                                            <p:strVal val="#ppt_x"/>
                                          </p:val>
                                        </p:tav>
                                        <p:tav tm="100000">
                                          <p:val>
                                            <p:strVal val="#ppt_x"/>
                                          </p:val>
                                        </p:tav>
                                      </p:tavLst>
                                    </p:anim>
                                    <p:anim calcmode="lin" valueType="num">
                                      <p:cBhvr additive="base">
                                        <p:cTn id="8" dur="500" fill="hold"/>
                                        <p:tgtEl>
                                          <p:spTgt spid="1229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nodePh="1">
                                  <p:stCondLst>
                                    <p:cond delay="0"/>
                                  </p:stCondLst>
                                  <p:endCondLst>
                                    <p:cond evt="begin" delay="0">
                                      <p:tn val="13"/>
                                    </p:cond>
                                  </p:end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3" grpId="0"/>
      <p:bldP spid="4"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2.2 Problemas éticos: falta de transparencia</a:t>
            </a:r>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29</a:t>
            </a:fld>
            <a:endParaRPr lang="es-ES" dirty="0"/>
          </a:p>
        </p:txBody>
      </p:sp>
      <p:pic>
        <p:nvPicPr>
          <p:cNvPr id="6" name="Marcador de contenido 5"/>
          <p:cNvPicPr>
            <a:picLocks noGrp="1" noChangeAspect="1"/>
          </p:cNvPicPr>
          <p:nvPr>
            <p:ph idx="1"/>
          </p:nvPr>
        </p:nvPicPr>
        <p:blipFill>
          <a:blip r:embed="rId3"/>
          <a:stretch>
            <a:fillRect/>
          </a:stretch>
        </p:blipFill>
        <p:spPr>
          <a:xfrm>
            <a:off x="3246120" y="1950968"/>
            <a:ext cx="8025262" cy="4433957"/>
          </a:xfrm>
          <a:prstGeom prst="rect">
            <a:avLst/>
          </a:prstGeom>
        </p:spPr>
      </p:pic>
      <p:sp>
        <p:nvSpPr>
          <p:cNvPr id="7" name="Rectángulo 6"/>
          <p:cNvSpPr/>
          <p:nvPr/>
        </p:nvSpPr>
        <p:spPr>
          <a:xfrm>
            <a:off x="1840230" y="982980"/>
            <a:ext cx="6092190" cy="523220"/>
          </a:xfrm>
          <a:prstGeom prst="rect">
            <a:avLst/>
          </a:prstGeom>
        </p:spPr>
        <p:txBody>
          <a:bodyPr wrap="square">
            <a:spAutoFit/>
          </a:bodyPr>
          <a:lstStyle/>
          <a:p>
            <a:pPr algn="ctr" eaLnBrk="0" hangingPunct="0">
              <a:spcBef>
                <a:spcPct val="20000"/>
              </a:spcBef>
              <a:buClr>
                <a:srgbClr val="000099"/>
              </a:buClr>
              <a:defRPr/>
            </a:pPr>
            <a:r>
              <a:rPr lang="es-ES" sz="2800" b="1" dirty="0">
                <a:solidFill>
                  <a:srgbClr val="CC0066"/>
                </a:solidFill>
                <a:latin typeface="Lato" panose="020F0502020204030203"/>
                <a:cs typeface="Arial" pitchFamily="34" charset="0"/>
              </a:rPr>
              <a:t>Opacidad de los algoritmos</a:t>
            </a:r>
          </a:p>
        </p:txBody>
      </p:sp>
    </p:spTree>
    <p:extLst>
      <p:ext uri="{BB962C8B-B14F-4D97-AF65-F5344CB8AC3E}">
        <p14:creationId xmlns:p14="http://schemas.microsoft.com/office/powerpoint/2010/main" val="1847026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1299211" y="1"/>
            <a:ext cx="8953499" cy="546100"/>
          </a:xfrm>
          <a:prstGeom prst="rect">
            <a:avLst/>
          </a:prstGeom>
          <a:solidFill>
            <a:srgbClr val="0060DF"/>
          </a:solidFill>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b="1" dirty="0"/>
              <a:t> </a:t>
            </a:r>
            <a:r>
              <a:rPr lang="es-ES" b="1" dirty="0">
                <a:solidFill>
                  <a:schemeClr val="bg1"/>
                </a:solidFill>
              </a:rPr>
              <a:t>Análisis de dilemas éticos profesionales</a:t>
            </a:r>
          </a:p>
        </p:txBody>
      </p:sp>
      <p:sp>
        <p:nvSpPr>
          <p:cNvPr id="5" name="4 Rectángulo"/>
          <p:cNvSpPr/>
          <p:nvPr/>
        </p:nvSpPr>
        <p:spPr>
          <a:xfrm>
            <a:off x="522514" y="1016945"/>
            <a:ext cx="10983686" cy="5324535"/>
          </a:xfrm>
          <a:prstGeom prst="rect">
            <a:avLst/>
          </a:prstGeom>
        </p:spPr>
        <p:txBody>
          <a:bodyPr wrap="square">
            <a:spAutoFit/>
          </a:bodyPr>
          <a:lstStyle/>
          <a:p>
            <a:pPr>
              <a:spcBef>
                <a:spcPct val="0"/>
              </a:spcBef>
            </a:pPr>
            <a:r>
              <a:rPr lang="es-ES" altLang="es-ES" sz="2400" dirty="0">
                <a:latin typeface="Lato"/>
              </a:rPr>
              <a:t> </a:t>
            </a:r>
            <a:r>
              <a:rPr lang="es-ES" altLang="es-ES" sz="2800" dirty="0">
                <a:latin typeface="Lato"/>
              </a:rPr>
              <a:t>Leer y comprender el caso</a:t>
            </a:r>
          </a:p>
          <a:p>
            <a:pPr marL="342900" indent="-342900">
              <a:lnSpc>
                <a:spcPct val="150000"/>
              </a:lnSpc>
              <a:spcBef>
                <a:spcPct val="0"/>
              </a:spcBef>
              <a:buFont typeface="Arial" panose="020B0604020202020204" pitchFamily="34" charset="0"/>
              <a:buChar char="•"/>
            </a:pPr>
            <a:r>
              <a:rPr lang="es-ES" altLang="es-ES" sz="2800" b="1" dirty="0">
                <a:solidFill>
                  <a:srgbClr val="CC0066"/>
                </a:solidFill>
                <a:latin typeface="Lato"/>
              </a:rPr>
              <a:t>Identificar problemas éticos </a:t>
            </a:r>
            <a:r>
              <a:rPr lang="es-ES" altLang="es-ES" sz="2800" dirty="0">
                <a:latin typeface="Lato"/>
              </a:rPr>
              <a:t>(Diapositivas, códigos)</a:t>
            </a:r>
          </a:p>
          <a:p>
            <a:pPr marL="342900" indent="-342900">
              <a:lnSpc>
                <a:spcPct val="150000"/>
              </a:lnSpc>
              <a:spcBef>
                <a:spcPct val="0"/>
              </a:spcBef>
              <a:buFont typeface="Arial" panose="020B0604020202020204" pitchFamily="34" charset="0"/>
              <a:buChar char="•"/>
            </a:pPr>
            <a:r>
              <a:rPr lang="es-ES" altLang="es-ES" sz="2800" b="1" dirty="0">
                <a:solidFill>
                  <a:srgbClr val="CC0066"/>
                </a:solidFill>
                <a:latin typeface="Lato"/>
              </a:rPr>
              <a:t>Analizar el caso</a:t>
            </a:r>
          </a:p>
          <a:p>
            <a:pPr marL="800100" lvl="1" indent="-342900">
              <a:lnSpc>
                <a:spcPct val="150000"/>
              </a:lnSpc>
              <a:spcBef>
                <a:spcPct val="0"/>
              </a:spcBef>
              <a:buFont typeface="Arial" panose="020B0604020202020204" pitchFamily="34" charset="0"/>
              <a:buChar char="•"/>
            </a:pPr>
            <a:r>
              <a:rPr lang="es-ES" altLang="es-ES" sz="2800" dirty="0">
                <a:latin typeface="Lato"/>
              </a:rPr>
              <a:t>Grupos afectados</a:t>
            </a:r>
          </a:p>
          <a:p>
            <a:pPr marL="800100" lvl="1" indent="-342900">
              <a:lnSpc>
                <a:spcPct val="150000"/>
              </a:lnSpc>
              <a:spcBef>
                <a:spcPct val="0"/>
              </a:spcBef>
              <a:buFont typeface="Arial" panose="020B0604020202020204" pitchFamily="34" charset="0"/>
              <a:buChar char="•"/>
            </a:pPr>
            <a:r>
              <a:rPr lang="es-ES" altLang="es-ES" sz="2800" dirty="0">
                <a:latin typeface="Lato"/>
              </a:rPr>
              <a:t>Recomendaciones códigos y principios éticos</a:t>
            </a:r>
          </a:p>
          <a:p>
            <a:pPr marL="800100" lvl="1" indent="-342900">
              <a:lnSpc>
                <a:spcPct val="150000"/>
              </a:lnSpc>
              <a:spcBef>
                <a:spcPct val="0"/>
              </a:spcBef>
              <a:buFont typeface="Arial" panose="020B0604020202020204" pitchFamily="34" charset="0"/>
              <a:buChar char="•"/>
            </a:pPr>
            <a:r>
              <a:rPr lang="es-ES" altLang="es-ES" sz="2800" dirty="0">
                <a:latin typeface="Lato"/>
              </a:rPr>
              <a:t>Alternativas y consecuencias</a:t>
            </a:r>
          </a:p>
          <a:p>
            <a:pPr marL="342900" indent="-342900">
              <a:lnSpc>
                <a:spcPct val="150000"/>
              </a:lnSpc>
              <a:spcBef>
                <a:spcPct val="0"/>
              </a:spcBef>
              <a:buFont typeface="Arial" panose="020B0604020202020204" pitchFamily="34" charset="0"/>
              <a:buChar char="•"/>
            </a:pPr>
            <a:r>
              <a:rPr lang="es-ES" altLang="es-ES" sz="2800" dirty="0">
                <a:solidFill>
                  <a:srgbClr val="CC0066"/>
                </a:solidFill>
                <a:latin typeface="Lato"/>
              </a:rPr>
              <a:t>Tomar una decisión </a:t>
            </a:r>
            <a:r>
              <a:rPr lang="es-ES" altLang="es-ES" sz="2800" b="1" dirty="0">
                <a:solidFill>
                  <a:srgbClr val="CC0066"/>
                </a:solidFill>
                <a:latin typeface="Lato"/>
              </a:rPr>
              <a:t>argumentada</a:t>
            </a:r>
            <a:r>
              <a:rPr lang="es-ES" altLang="es-ES" sz="2800" dirty="0">
                <a:latin typeface="Lato"/>
              </a:rPr>
              <a:t> de “buen profesional”</a:t>
            </a:r>
          </a:p>
          <a:p>
            <a:pPr marL="342900" indent="-342900">
              <a:lnSpc>
                <a:spcPct val="150000"/>
              </a:lnSpc>
              <a:spcBef>
                <a:spcPct val="0"/>
              </a:spcBef>
              <a:buFont typeface="Arial" panose="020B0604020202020204" pitchFamily="34" charset="0"/>
              <a:buChar char="•"/>
            </a:pPr>
            <a:r>
              <a:rPr lang="es-ES" altLang="es-ES" sz="2800" dirty="0">
                <a:solidFill>
                  <a:srgbClr val="CC0066"/>
                </a:solidFill>
                <a:latin typeface="Lato"/>
              </a:rPr>
              <a:t>Tomar una decisión </a:t>
            </a:r>
            <a:r>
              <a:rPr lang="es-ES" altLang="es-ES" sz="2800" b="1" dirty="0">
                <a:solidFill>
                  <a:srgbClr val="CC0066"/>
                </a:solidFill>
                <a:latin typeface="Lato"/>
              </a:rPr>
              <a:t>argumentada</a:t>
            </a:r>
            <a:r>
              <a:rPr lang="es-ES" altLang="es-ES" sz="2800" dirty="0">
                <a:latin typeface="Lato"/>
              </a:rPr>
              <a:t> de “empresa responsable”</a:t>
            </a:r>
          </a:p>
          <a:p>
            <a:pPr>
              <a:spcBef>
                <a:spcPct val="0"/>
              </a:spcBef>
            </a:pPr>
            <a:endParaRPr lang="es-ES" altLang="es-ES" dirty="0"/>
          </a:p>
        </p:txBody>
      </p:sp>
      <p:sp>
        <p:nvSpPr>
          <p:cNvPr id="4" name="Marcador de pie de página 3"/>
          <p:cNvSpPr>
            <a:spLocks noGrp="1"/>
          </p:cNvSpPr>
          <p:nvPr>
            <p:ph type="ftr" sz="quarter" idx="11"/>
          </p:nvPr>
        </p:nvSpPr>
        <p:spPr>
          <a:xfrm>
            <a:off x="1115484" y="6327000"/>
            <a:ext cx="6297612" cy="365125"/>
          </a:xfrm>
        </p:spPr>
        <p:txBody>
          <a:bodyPr/>
          <a:lstStyle/>
          <a:p>
            <a:endParaRPr lang="es-ES" dirty="0"/>
          </a:p>
        </p:txBody>
      </p:sp>
      <p:sp>
        <p:nvSpPr>
          <p:cNvPr id="6" name="Marcador de número de diapositiva 5"/>
          <p:cNvSpPr>
            <a:spLocks noGrp="1"/>
          </p:cNvSpPr>
          <p:nvPr>
            <p:ph type="sldNum" sz="quarter" idx="12"/>
          </p:nvPr>
        </p:nvSpPr>
        <p:spPr/>
        <p:txBody>
          <a:bodyPr/>
          <a:lstStyle/>
          <a:p>
            <a:fld id="{6F1DAFA7-B6AD-4F2F-A198-AD4BE32E3C72}" type="slidenum">
              <a:rPr lang="es-ES" smtClean="0"/>
              <a:pPr/>
              <a:t>30</a:t>
            </a:fld>
            <a:endParaRPr lang="es-ES" dirty="0"/>
          </a:p>
        </p:txBody>
      </p:sp>
    </p:spTree>
    <p:extLst>
      <p:ext uri="{BB962C8B-B14F-4D97-AF65-F5344CB8AC3E}">
        <p14:creationId xmlns:p14="http://schemas.microsoft.com/office/powerpoint/2010/main" val="2873803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Lecturas obligatorias y documental recomendado</a:t>
            </a:r>
          </a:p>
        </p:txBody>
      </p:sp>
      <p:sp>
        <p:nvSpPr>
          <p:cNvPr id="3" name="Marcador de contenido 2"/>
          <p:cNvSpPr>
            <a:spLocks noGrp="1"/>
          </p:cNvSpPr>
          <p:nvPr>
            <p:ph idx="1"/>
          </p:nvPr>
        </p:nvSpPr>
        <p:spPr/>
        <p:txBody>
          <a:bodyPr/>
          <a:lstStyle/>
          <a:p>
            <a:r>
              <a:rPr lang="es-ES" b="1" dirty="0"/>
              <a:t>Lectura</a:t>
            </a:r>
          </a:p>
          <a:p>
            <a:endParaRPr lang="es-ES" dirty="0">
              <a:hlinkClick r:id="rId2"/>
            </a:endParaRPr>
          </a:p>
          <a:p>
            <a:pPr lvl="1"/>
            <a:r>
              <a:rPr lang="es-ES" b="1" dirty="0"/>
              <a:t>Ética algorítmica: Implicaciones éticas de  una sociedad cada vez más gobernada por algoritmos </a:t>
            </a:r>
            <a:endParaRPr lang="es-ES" dirty="0"/>
          </a:p>
          <a:p>
            <a:pPr marL="457200" lvl="1" indent="0">
              <a:buNone/>
            </a:pPr>
            <a:r>
              <a:rPr lang="es-ES" dirty="0">
                <a:hlinkClick r:id="rId3"/>
              </a:rPr>
              <a:t>https://dialnet.unirioja.es/servlet/articulo?codigo=6066839</a:t>
            </a:r>
            <a:endParaRPr lang="es-ES" dirty="0"/>
          </a:p>
          <a:p>
            <a:pPr lvl="1"/>
            <a:endParaRPr lang="es-ES" dirty="0"/>
          </a:p>
          <a:p>
            <a:r>
              <a:rPr lang="es-ES" dirty="0"/>
              <a:t>Documental “</a:t>
            </a:r>
            <a:r>
              <a:rPr lang="es-ES" dirty="0" err="1"/>
              <a:t>Oppenheimer</a:t>
            </a:r>
            <a:r>
              <a:rPr lang="es-ES" dirty="0"/>
              <a:t>”: </a:t>
            </a:r>
          </a:p>
          <a:p>
            <a:pPr marL="457200" lvl="1" indent="0">
              <a:buNone/>
            </a:pPr>
            <a:r>
              <a:rPr lang="es-ES" dirty="0">
                <a:hlinkClick r:id="rId4"/>
              </a:rPr>
              <a:t>https://www.filmaffinity.com/es/evideos.php?movie_id=617470</a:t>
            </a:r>
            <a:endParaRPr lang="es-ES" dirty="0"/>
          </a:p>
          <a:p>
            <a:pPr lvl="1"/>
            <a:endParaRPr lang="es-ES" dirty="0"/>
          </a:p>
          <a:p>
            <a:pPr marL="457200" lvl="1" indent="0">
              <a:buNone/>
            </a:pPr>
            <a:endParaRPr lang="es-ES" dirty="0"/>
          </a:p>
          <a:p>
            <a:pPr marL="0" indent="0">
              <a:buNone/>
            </a:pPr>
            <a:endParaRPr lang="es-ES" dirty="0"/>
          </a:p>
          <a:p>
            <a:endParaRPr lang="es-ES" dirty="0"/>
          </a:p>
          <a:p>
            <a:endParaRPr lang="es-ES" dirty="0"/>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31</a:t>
            </a:fld>
            <a:endParaRPr lang="es-ES" dirty="0"/>
          </a:p>
        </p:txBody>
      </p:sp>
      <p:pic>
        <p:nvPicPr>
          <p:cNvPr id="8" name="Imagen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64137" y="2200217"/>
            <a:ext cx="2857500" cy="4286250"/>
          </a:xfrm>
          <a:prstGeom prst="rect">
            <a:avLst/>
          </a:prstGeom>
        </p:spPr>
      </p:pic>
    </p:spTree>
    <p:extLst>
      <p:ext uri="{BB962C8B-B14F-4D97-AF65-F5344CB8AC3E}">
        <p14:creationId xmlns:p14="http://schemas.microsoft.com/office/powerpoint/2010/main" val="2230794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Reflexión del </a:t>
            </a:r>
            <a:r>
              <a:rPr lang="es-ES" dirty="0" err="1"/>
              <a:t>prof.</a:t>
            </a:r>
            <a:r>
              <a:rPr lang="es-ES" dirty="0"/>
              <a:t> Sergio </a:t>
            </a:r>
            <a:r>
              <a:rPr lang="es-ES" dirty="0" err="1"/>
              <a:t>D´Antonio</a:t>
            </a:r>
            <a:r>
              <a:rPr lang="es-ES" dirty="0"/>
              <a:t> </a:t>
            </a:r>
            <a:r>
              <a:rPr lang="es-ES" dirty="0" err="1"/>
              <a:t>Maceiras</a:t>
            </a:r>
            <a:endParaRPr lang="es-ES" dirty="0"/>
          </a:p>
        </p:txBody>
      </p:sp>
      <p:sp>
        <p:nvSpPr>
          <p:cNvPr id="3" name="Marcador de contenido 2"/>
          <p:cNvSpPr>
            <a:spLocks noGrp="1"/>
          </p:cNvSpPr>
          <p:nvPr>
            <p:ph idx="1"/>
          </p:nvPr>
        </p:nvSpPr>
        <p:spPr/>
        <p:txBody>
          <a:bodyPr>
            <a:normAutofit fontScale="92500" lnSpcReduction="10000"/>
          </a:bodyPr>
          <a:lstStyle/>
          <a:p>
            <a:r>
              <a:rPr lang="es-ES" dirty="0"/>
              <a:t>Muchos creen que esta asignatura no sirve…</a:t>
            </a:r>
          </a:p>
          <a:p>
            <a:r>
              <a:rPr lang="es-ES" dirty="0"/>
              <a:t>A partir de los años 60, ¿cuál es la principal disciplina que impulsa que el conocimiento debe ser abierto? la Informática</a:t>
            </a:r>
          </a:p>
          <a:p>
            <a:r>
              <a:rPr lang="es-ES" dirty="0">
                <a:solidFill>
                  <a:schemeClr val="accent2">
                    <a:lumMod val="75000"/>
                  </a:schemeClr>
                </a:solidFill>
              </a:rPr>
              <a:t>Mucho de lo que se consiguió a partir de los años 60 a favor de la apertura del conocimiento científico </a:t>
            </a:r>
            <a:r>
              <a:rPr lang="es-ES" dirty="0"/>
              <a:t>(</a:t>
            </a:r>
            <a:r>
              <a:rPr lang="es-ES" b="1" dirty="0"/>
              <a:t>Tim </a:t>
            </a:r>
            <a:r>
              <a:rPr lang="es-ES" b="1" dirty="0" err="1"/>
              <a:t>Berners</a:t>
            </a:r>
            <a:r>
              <a:rPr lang="es-ES" b="1" dirty="0"/>
              <a:t> Lee </a:t>
            </a:r>
            <a:r>
              <a:rPr lang="es-ES" dirty="0"/>
              <a:t>estableció la primera comunicación entre un cliente y un servidor usando el protocolo </a:t>
            </a:r>
            <a:r>
              <a:rPr lang="es-ES" dirty="0">
                <a:hlinkClick r:id="rId2" tooltip="HTTP"/>
              </a:rPr>
              <a:t>HTTP</a:t>
            </a:r>
            <a:r>
              <a:rPr lang="es-ES" dirty="0"/>
              <a:t> en diciembre de 1990 y se desvivió porque la web llegase a todo el mundo; </a:t>
            </a:r>
            <a:r>
              <a:rPr lang="es-ES" b="1" dirty="0" err="1"/>
              <a:t>Linus</a:t>
            </a:r>
            <a:r>
              <a:rPr lang="es-ES" b="1" dirty="0"/>
              <a:t> </a:t>
            </a:r>
            <a:r>
              <a:rPr lang="es-ES" b="1" dirty="0" err="1"/>
              <a:t>Torvald</a:t>
            </a:r>
            <a:r>
              <a:rPr lang="es-ES" dirty="0"/>
              <a:t>, el padre de Linux; </a:t>
            </a:r>
            <a:r>
              <a:rPr lang="es-ES" b="1" dirty="0"/>
              <a:t>R. </a:t>
            </a:r>
            <a:r>
              <a:rPr lang="es-ES" b="1" dirty="0" err="1"/>
              <a:t>Stallman</a:t>
            </a:r>
            <a:r>
              <a:rPr lang="es-ES" dirty="0"/>
              <a:t> creó la FSF para que el software se distribuyese con libertad;  </a:t>
            </a:r>
            <a:r>
              <a:rPr lang="es-ES" b="1" dirty="0" err="1"/>
              <a:t>Aaron</a:t>
            </a:r>
            <a:r>
              <a:rPr lang="es-ES" dirty="0"/>
              <a:t> </a:t>
            </a:r>
            <a:r>
              <a:rPr lang="es-ES" b="1" dirty="0"/>
              <a:t> </a:t>
            </a:r>
            <a:r>
              <a:rPr lang="es-ES" b="1" dirty="0" err="1"/>
              <a:t>Swartz</a:t>
            </a:r>
            <a:r>
              <a:rPr lang="es-ES" dirty="0"/>
              <a:t> diseñó un protocolo con 14 años y recibió atención de los medios después de la recolección de artículos de revistas académicas </a:t>
            </a:r>
            <a:r>
              <a:rPr lang="es-ES" dirty="0">
                <a:hlinkClick r:id="rId3" tooltip="JSTOR"/>
              </a:rPr>
              <a:t>JSTOR</a:t>
            </a:r>
            <a:r>
              <a:rPr lang="es-ES" dirty="0"/>
              <a:t>)  </a:t>
            </a:r>
            <a:r>
              <a:rPr lang="es-ES" dirty="0">
                <a:solidFill>
                  <a:schemeClr val="accent2">
                    <a:lumMod val="75000"/>
                  </a:schemeClr>
                </a:solidFill>
              </a:rPr>
              <a:t>ha sido desde vuestra profesión</a:t>
            </a:r>
            <a:r>
              <a:rPr lang="es-ES" dirty="0"/>
              <a:t>. Ah…no hay ejemplos femeninos pero habría que buscarlos. La primera programadora fue una mujer. </a:t>
            </a:r>
          </a:p>
          <a:p>
            <a:pPr marL="0" indent="0">
              <a:buNone/>
            </a:pPr>
            <a:endParaRPr lang="es-ES" dirty="0"/>
          </a:p>
          <a:p>
            <a:r>
              <a:rPr lang="es-ES" dirty="0"/>
              <a:t>Gente de vuestra profesión ha inspirado al resto de las disciplinas. Gente que no se quedó en la técnica…vuestra profesión es esto también.</a:t>
            </a:r>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32</a:t>
            </a:fld>
            <a:endParaRPr lang="es-ES" dirty="0"/>
          </a:p>
        </p:txBody>
      </p:sp>
    </p:spTree>
    <p:extLst>
      <p:ext uri="{BB962C8B-B14F-4D97-AF65-F5344CB8AC3E}">
        <p14:creationId xmlns:p14="http://schemas.microsoft.com/office/powerpoint/2010/main" val="2336899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5201" y="290613"/>
            <a:ext cx="8596668" cy="1041400"/>
          </a:xfrm>
        </p:spPr>
        <p:txBody>
          <a:bodyPr/>
          <a:lstStyle/>
          <a:p>
            <a:r>
              <a:rPr lang="es-ES" b="1" dirty="0"/>
              <a:t>Ética y TIC </a:t>
            </a:r>
          </a:p>
        </p:txBody>
      </p:sp>
      <p:sp>
        <p:nvSpPr>
          <p:cNvPr id="10" name="4 Rectángulo redondeado">
            <a:extLst>
              <a:ext uri="{FF2B5EF4-FFF2-40B4-BE49-F238E27FC236}">
                <a16:creationId xmlns:a16="http://schemas.microsoft.com/office/drawing/2014/main" id="{53962930-2A8A-4B85-BC32-D74A24A3D275}"/>
              </a:ext>
            </a:extLst>
          </p:cNvPr>
          <p:cNvSpPr/>
          <p:nvPr/>
        </p:nvSpPr>
        <p:spPr>
          <a:xfrm>
            <a:off x="2927027" y="437199"/>
            <a:ext cx="6467458" cy="9710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20000"/>
              </a:spcBef>
              <a:spcAft>
                <a:spcPct val="0"/>
              </a:spcAft>
              <a:buClr>
                <a:srgbClr val="000099"/>
              </a:buClr>
            </a:pPr>
            <a:r>
              <a:rPr lang="es-ES" altLang="es-ES" sz="2800" b="1" i="1" dirty="0">
                <a:solidFill>
                  <a:schemeClr val="bg1"/>
                </a:solidFill>
                <a:latin typeface="Lato" panose="020F0502020204030203"/>
                <a:ea typeface="ＭＳ Ｐゴシック" pitchFamily="34" charset="-128"/>
                <a:cs typeface="Arial" pitchFamily="34" charset="0"/>
              </a:rPr>
              <a:t>ENFOQUE: RESPONSABILIDAD PROFESIONAL</a:t>
            </a:r>
          </a:p>
        </p:txBody>
      </p:sp>
      <p:sp>
        <p:nvSpPr>
          <p:cNvPr id="13" name="Marcador de pie de página 5">
            <a:extLst>
              <a:ext uri="{FF2B5EF4-FFF2-40B4-BE49-F238E27FC236}">
                <a16:creationId xmlns:a16="http://schemas.microsoft.com/office/drawing/2014/main" id="{0822D182-37F4-45AE-A4F5-9CE75A80BD1A}"/>
              </a:ext>
            </a:extLst>
          </p:cNvPr>
          <p:cNvSpPr txBox="1">
            <a:spLocks/>
          </p:cNvSpPr>
          <p:nvPr/>
        </p:nvSpPr>
        <p:spPr>
          <a:xfrm>
            <a:off x="3119677" y="6326712"/>
            <a:ext cx="3711981" cy="365125"/>
          </a:xfrm>
          <a:prstGeom prst="rect">
            <a:avLst/>
          </a:prstGeom>
        </p:spPr>
        <p:txBody>
          <a:bodyPr vert="horz" lIns="91440" tIns="45720" rIns="91440" bIns="45720" rtlCol="0" anchor="ctr"/>
          <a:lstStyle>
            <a:defPPr>
              <a:defRPr lang="es-ES"/>
            </a:defPPr>
            <a:lvl1pPr marL="0" algn="r" defTabSz="914400" rtl="0" eaLnBrk="1" latinLnBrk="0" hangingPunct="1">
              <a:defRPr sz="1400" kern="1200">
                <a:solidFill>
                  <a:schemeClr val="tx1">
                    <a:tint val="75000"/>
                  </a:schemeClr>
                </a:solidFill>
                <a:latin typeface="Lato" panose="020F050202020403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dirty="0"/>
              <a:t> </a:t>
            </a:r>
          </a:p>
        </p:txBody>
      </p:sp>
      <p:sp>
        <p:nvSpPr>
          <p:cNvPr id="14" name="Marcador de número de diapositiva 7">
            <a:extLst>
              <a:ext uri="{FF2B5EF4-FFF2-40B4-BE49-F238E27FC236}">
                <a16:creationId xmlns:a16="http://schemas.microsoft.com/office/drawing/2014/main" id="{6EDFED9A-90E6-4C65-AFCB-65FF1F6B9C9A}"/>
              </a:ext>
            </a:extLst>
          </p:cNvPr>
          <p:cNvSpPr txBox="1">
            <a:spLocks/>
          </p:cNvSpPr>
          <p:nvPr/>
        </p:nvSpPr>
        <p:spPr>
          <a:xfrm>
            <a:off x="8834387" y="6275650"/>
            <a:ext cx="519765"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rgbClr val="898989"/>
                </a:solidFill>
                <a:latin typeface="Lato" panose="020F050202020403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a:p>
            <a:endParaRPr lang="es-ES" dirty="0"/>
          </a:p>
        </p:txBody>
      </p:sp>
      <p:sp>
        <p:nvSpPr>
          <p:cNvPr id="17" name="8 Rectángulo redondeado">
            <a:extLst>
              <a:ext uri="{FF2B5EF4-FFF2-40B4-BE49-F238E27FC236}">
                <a16:creationId xmlns:a16="http://schemas.microsoft.com/office/drawing/2014/main" id="{24992BD2-E1FA-4EA2-BCF8-B781C69CCBD6}"/>
              </a:ext>
            </a:extLst>
          </p:cNvPr>
          <p:cNvSpPr/>
          <p:nvPr/>
        </p:nvSpPr>
        <p:spPr>
          <a:xfrm>
            <a:off x="272400" y="3659237"/>
            <a:ext cx="5309251" cy="2666350"/>
          </a:xfrm>
          <a:prstGeom prst="roundRect">
            <a:avLst/>
          </a:prstGeom>
          <a:solidFill>
            <a:schemeClr val="bg1"/>
          </a:solid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20000"/>
              </a:spcBef>
              <a:spcAft>
                <a:spcPct val="0"/>
              </a:spcAft>
              <a:buClr>
                <a:srgbClr val="92D050"/>
              </a:buClr>
            </a:pPr>
            <a:r>
              <a:rPr lang="es-ES" altLang="es-ES" sz="2800" b="1" dirty="0">
                <a:solidFill>
                  <a:schemeClr val="tx1"/>
                </a:solidFill>
                <a:latin typeface="Lato" panose="020F0502020204030203"/>
                <a:ea typeface="ＭＳ Ｐゴシック" pitchFamily="34" charset="-128"/>
                <a:cs typeface="Arial" pitchFamily="34" charset="0"/>
              </a:rPr>
              <a:t>PERSONAS</a:t>
            </a:r>
          </a:p>
          <a:p>
            <a:pPr marL="171450" lvl="0" indent="-171450" algn="ctr" eaLnBrk="0" fontAlgn="base" hangingPunct="0">
              <a:spcBef>
                <a:spcPct val="20000"/>
              </a:spcBef>
              <a:spcAft>
                <a:spcPct val="0"/>
              </a:spcAft>
              <a:buClr>
                <a:srgbClr val="92D050"/>
              </a:buClr>
              <a:buFont typeface="Wingdings" panose="05000000000000000000" pitchFamily="2" charset="2"/>
              <a:buChar char="ü"/>
            </a:pPr>
            <a:endParaRPr lang="es-ES" altLang="es-ES" sz="1000" b="1" dirty="0">
              <a:solidFill>
                <a:schemeClr val="tx1"/>
              </a:solidFill>
              <a:latin typeface="Lato" panose="020F0502020204030203"/>
              <a:ea typeface="ＭＳ Ｐゴシック" pitchFamily="34" charset="-128"/>
              <a:cs typeface="Arial" pitchFamily="34" charset="0"/>
            </a:endParaRP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Principios ética profesional</a:t>
            </a: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Principales problemas</a:t>
            </a:r>
          </a:p>
          <a:p>
            <a:pPr marL="34290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Códigos deontológicos</a:t>
            </a:r>
          </a:p>
        </p:txBody>
      </p:sp>
      <p:pic>
        <p:nvPicPr>
          <p:cNvPr id="1026" name="Picture 2" descr="Ingenieros informáticos, los profesionales más demandados del sector TIC en  Colombia | UNIR">
            <a:extLst>
              <a:ext uri="{FF2B5EF4-FFF2-40B4-BE49-F238E27FC236}">
                <a16:creationId xmlns:a16="http://schemas.microsoft.com/office/drawing/2014/main" id="{CB6EA482-9EAB-4569-B5B2-F04206596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2089" y="1730025"/>
            <a:ext cx="2809875" cy="1628775"/>
          </a:xfrm>
          <a:prstGeom prst="rect">
            <a:avLst/>
          </a:prstGeom>
          <a:noFill/>
          <a:extLst>
            <a:ext uri="{909E8E84-426E-40DD-AFC4-6F175D3DCCD1}">
              <a14:hiddenFill xmlns:a14="http://schemas.microsoft.com/office/drawing/2010/main">
                <a:solidFill>
                  <a:srgbClr val="FFFFFF"/>
                </a:solidFill>
              </a14:hiddenFill>
            </a:ext>
          </a:extLst>
        </p:spPr>
      </p:pic>
      <p:sp>
        <p:nvSpPr>
          <p:cNvPr id="18" name="8 Rectángulo redondeado">
            <a:extLst>
              <a:ext uri="{FF2B5EF4-FFF2-40B4-BE49-F238E27FC236}">
                <a16:creationId xmlns:a16="http://schemas.microsoft.com/office/drawing/2014/main" id="{96D924F8-6D2B-40AC-9110-4FDA0E3DE12A}"/>
              </a:ext>
            </a:extLst>
          </p:cNvPr>
          <p:cNvSpPr/>
          <p:nvPr/>
        </p:nvSpPr>
        <p:spPr>
          <a:xfrm>
            <a:off x="5968871" y="3314821"/>
            <a:ext cx="5731032" cy="3195995"/>
          </a:xfrm>
          <a:prstGeom prst="roundRect">
            <a:avLst/>
          </a:prstGeom>
          <a:solidFill>
            <a:schemeClr val="bg1"/>
          </a:solid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20000"/>
              </a:spcBef>
              <a:spcAft>
                <a:spcPct val="0"/>
              </a:spcAft>
              <a:buClr>
                <a:srgbClr val="92D050"/>
              </a:buClr>
            </a:pPr>
            <a:r>
              <a:rPr lang="es-ES" altLang="es-ES" sz="2800" b="1" dirty="0">
                <a:solidFill>
                  <a:schemeClr val="tx1"/>
                </a:solidFill>
                <a:latin typeface="Lato" panose="020F0502020204030203"/>
                <a:ea typeface="ＭＳ Ｐゴシック" pitchFamily="34" charset="-128"/>
                <a:cs typeface="Arial" pitchFamily="34" charset="0"/>
              </a:rPr>
              <a:t>ORGANIZACIONES y EMPRESAS</a:t>
            </a:r>
          </a:p>
          <a:p>
            <a:pPr marL="171450" lvl="0" indent="-171450" algn="ctr" eaLnBrk="0" fontAlgn="base" hangingPunct="0">
              <a:spcBef>
                <a:spcPct val="20000"/>
              </a:spcBef>
              <a:spcAft>
                <a:spcPct val="0"/>
              </a:spcAft>
              <a:buClr>
                <a:srgbClr val="92D050"/>
              </a:buClr>
              <a:buFont typeface="Wingdings" panose="05000000000000000000" pitchFamily="2" charset="2"/>
              <a:buChar char="ü"/>
            </a:pPr>
            <a:endParaRPr lang="es-ES" altLang="es-ES" sz="1000" b="1" dirty="0">
              <a:solidFill>
                <a:schemeClr val="tx1"/>
              </a:solidFill>
              <a:latin typeface="Lato" panose="020F0502020204030203"/>
              <a:ea typeface="ＭＳ Ｐゴシック" pitchFamily="34" charset="-128"/>
              <a:cs typeface="Arial" pitchFamily="34" charset="0"/>
            </a:endParaRP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Principios de Responsabilidad Social Corporativa (RSC)</a:t>
            </a: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Empresa y debida diligencia</a:t>
            </a:r>
          </a:p>
          <a:p>
            <a:pPr marL="342900" lvl="0" indent="-342900" eaLnBrk="0" fontAlgn="base" hangingPunct="0">
              <a:spcBef>
                <a:spcPct val="20000"/>
              </a:spcBef>
              <a:spcAft>
                <a:spcPct val="0"/>
              </a:spcAft>
              <a:buClr>
                <a:schemeClr val="tx1"/>
              </a:buClr>
              <a:buFont typeface="Wingdings" panose="05000000000000000000" pitchFamily="2" charset="2"/>
              <a:buChar char="ü"/>
            </a:pPr>
            <a:r>
              <a:rPr lang="es-ES" altLang="es-ES" sz="2800" dirty="0">
                <a:solidFill>
                  <a:schemeClr val="tx1"/>
                </a:solidFill>
                <a:latin typeface="Lato" panose="020F0502020204030203"/>
                <a:ea typeface="ＭＳ Ｐゴシック" pitchFamily="34" charset="-128"/>
                <a:cs typeface="Arial" pitchFamily="34" charset="0"/>
              </a:rPr>
              <a:t>Empresa y derechos humanos</a:t>
            </a:r>
          </a:p>
        </p:txBody>
      </p:sp>
      <p:pic>
        <p:nvPicPr>
          <p:cNvPr id="22" name="Picture 4" descr="Intel, Nervana Systems">
            <a:extLst>
              <a:ext uri="{FF2B5EF4-FFF2-40B4-BE49-F238E27FC236}">
                <a16:creationId xmlns:a16="http://schemas.microsoft.com/office/drawing/2014/main" id="{1F33BD14-A771-4AE9-BFB1-8C45D21B76F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69144" y="2117216"/>
            <a:ext cx="704890" cy="70489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a:extLst>
              <a:ext uri="{FF2B5EF4-FFF2-40B4-BE49-F238E27FC236}">
                <a16:creationId xmlns:a16="http://schemas.microsoft.com/office/drawing/2014/main" id="{CC7CB1C5-9F75-49EE-9F16-4E40CAF66746}"/>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9822" t="32767" r="38214" b="54762"/>
          <a:stretch/>
        </p:blipFill>
        <p:spPr bwMode="auto">
          <a:xfrm>
            <a:off x="7941143" y="2609805"/>
            <a:ext cx="1481688" cy="4732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15" descr="http://www.samsung.com/common/img/logo.png">
            <a:extLst>
              <a:ext uri="{FF2B5EF4-FFF2-40B4-BE49-F238E27FC236}">
                <a16:creationId xmlns:a16="http://schemas.microsoft.com/office/drawing/2014/main" id="{ED0369CA-9B48-4880-BD3E-21D2771EDC10}"/>
              </a:ext>
            </a:extLst>
          </p:cNvPr>
          <p:cNvPicPr>
            <a:picLocks noChangeAspect="1" noChangeArrowheads="1"/>
          </p:cNvPicPr>
          <p:nvPr/>
        </p:nvPicPr>
        <p:blipFill>
          <a:blip r:embed="rId6" cstate="print"/>
          <a:srcRect/>
          <a:stretch>
            <a:fillRect/>
          </a:stretch>
        </p:blipFill>
        <p:spPr bwMode="auto">
          <a:xfrm>
            <a:off x="7037185" y="2544413"/>
            <a:ext cx="1367477" cy="338644"/>
          </a:xfrm>
          <a:prstGeom prst="rect">
            <a:avLst/>
          </a:prstGeom>
          <a:noFill/>
          <a:ln w="9525">
            <a:noFill/>
            <a:miter lim="800000"/>
            <a:headEnd/>
            <a:tailEnd/>
          </a:ln>
        </p:spPr>
      </p:pic>
      <p:pic>
        <p:nvPicPr>
          <p:cNvPr id="27" name="Imagen 26" descr="Imagen que contiene Interfaz de usuario gráfica&#10;&#10;Descripción generada automáticamente">
            <a:extLst>
              <a:ext uri="{FF2B5EF4-FFF2-40B4-BE49-F238E27FC236}">
                <a16:creationId xmlns:a16="http://schemas.microsoft.com/office/drawing/2014/main" id="{1D48DA80-B12F-4077-9AB5-382D39F73A27}"/>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5075" t="65000" r="56642" b="23194"/>
          <a:stretch/>
        </p:blipFill>
        <p:spPr>
          <a:xfrm>
            <a:off x="9092747" y="2031012"/>
            <a:ext cx="700957" cy="562088"/>
          </a:xfrm>
          <a:prstGeom prst="rect">
            <a:avLst/>
          </a:prstGeom>
        </p:spPr>
      </p:pic>
      <p:pic>
        <p:nvPicPr>
          <p:cNvPr id="28" name="Picture 21" descr="Vodafone">
            <a:extLst>
              <a:ext uri="{FF2B5EF4-FFF2-40B4-BE49-F238E27FC236}">
                <a16:creationId xmlns:a16="http://schemas.microsoft.com/office/drawing/2014/main" id="{53867F3F-F6A5-4C6A-A6C8-63E04A226B1A}"/>
              </a:ext>
            </a:extLst>
          </p:cNvPr>
          <p:cNvPicPr>
            <a:picLocks noChangeAspect="1" noChangeArrowheads="1"/>
          </p:cNvPicPr>
          <p:nvPr/>
        </p:nvPicPr>
        <p:blipFill>
          <a:blip r:embed="rId8" cstate="print"/>
          <a:srcRect/>
          <a:stretch>
            <a:fillRect/>
          </a:stretch>
        </p:blipFill>
        <p:spPr bwMode="auto">
          <a:xfrm>
            <a:off x="8450338" y="2031011"/>
            <a:ext cx="529024" cy="396768"/>
          </a:xfrm>
          <a:prstGeom prst="rect">
            <a:avLst/>
          </a:prstGeom>
          <a:noFill/>
          <a:ln w="9525">
            <a:noFill/>
            <a:miter lim="800000"/>
            <a:headEnd/>
            <a:tailEnd/>
          </a:ln>
        </p:spPr>
      </p:pic>
      <p:pic>
        <p:nvPicPr>
          <p:cNvPr id="29" name="Picture 12" descr="http://upload.wikimedia.org/wikipedia/commons/thumb/8/80/HP_D_B_RGB_72_MX%2Bspace.png/200px-HP_D_B_RGB_72_MX%2Bspace.png">
            <a:extLst>
              <a:ext uri="{FF2B5EF4-FFF2-40B4-BE49-F238E27FC236}">
                <a16:creationId xmlns:a16="http://schemas.microsoft.com/office/drawing/2014/main" id="{10AAF5BD-2452-4967-B5C9-FDF93BD26ADD}"/>
              </a:ext>
            </a:extLst>
          </p:cNvPr>
          <p:cNvPicPr>
            <a:picLocks noChangeAspect="1" noChangeArrowheads="1"/>
          </p:cNvPicPr>
          <p:nvPr/>
        </p:nvPicPr>
        <p:blipFill>
          <a:blip r:embed="rId9" cstate="print"/>
          <a:srcRect/>
          <a:stretch>
            <a:fillRect/>
          </a:stretch>
        </p:blipFill>
        <p:spPr bwMode="auto">
          <a:xfrm>
            <a:off x="7384458" y="1838923"/>
            <a:ext cx="944896" cy="668995"/>
          </a:xfrm>
          <a:prstGeom prst="rect">
            <a:avLst/>
          </a:prstGeom>
          <a:noFill/>
          <a:ln w="9525">
            <a:noFill/>
            <a:miter lim="800000"/>
            <a:headEnd/>
            <a:tailEnd/>
          </a:ln>
        </p:spPr>
      </p:pic>
      <p:sp>
        <p:nvSpPr>
          <p:cNvPr id="5" name="Marcador de número de diapositiva 4"/>
          <p:cNvSpPr>
            <a:spLocks noGrp="1"/>
          </p:cNvSpPr>
          <p:nvPr>
            <p:ph type="sldNum" sz="quarter" idx="12"/>
          </p:nvPr>
        </p:nvSpPr>
        <p:spPr>
          <a:xfrm>
            <a:off x="8681987" y="5713675"/>
            <a:ext cx="519765" cy="365125"/>
          </a:xfrm>
        </p:spPr>
        <p:txBody>
          <a:bodyPr/>
          <a:lstStyle/>
          <a:p>
            <a:fld id="{B7F7DEE0-106B-4677-B64E-E4FBDB157F4D}" type="slidenum">
              <a:rPr lang="es-ES" smtClean="0"/>
              <a:pPr/>
              <a:t>33</a:t>
            </a:fld>
            <a:endParaRPr lang="es-ES" dirty="0"/>
          </a:p>
        </p:txBody>
      </p:sp>
    </p:spTree>
    <p:extLst>
      <p:ext uri="{BB962C8B-B14F-4D97-AF65-F5344CB8AC3E}">
        <p14:creationId xmlns:p14="http://schemas.microsoft.com/office/powerpoint/2010/main" val="342574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additive="base">
                                        <p:cTn id="15" dur="500" fill="hold"/>
                                        <p:tgtEl>
                                          <p:spTgt spid="1026"/>
                                        </p:tgtEl>
                                        <p:attrNameLst>
                                          <p:attrName>ppt_x</p:attrName>
                                        </p:attrNameLst>
                                      </p:cBhvr>
                                      <p:tavLst>
                                        <p:tav tm="0">
                                          <p:val>
                                            <p:strVal val="#ppt_x"/>
                                          </p:val>
                                        </p:tav>
                                        <p:tav tm="100000">
                                          <p:val>
                                            <p:strVal val="#ppt_x"/>
                                          </p:val>
                                        </p:tav>
                                      </p:tavLst>
                                    </p:anim>
                                    <p:anim calcmode="lin" valueType="num">
                                      <p:cBhvr additive="base">
                                        <p:cTn id="16"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fill="hold"/>
                                        <p:tgtEl>
                                          <p:spTgt spid="25"/>
                                        </p:tgtEl>
                                        <p:attrNameLst>
                                          <p:attrName>ppt_x</p:attrName>
                                        </p:attrNameLst>
                                      </p:cBhvr>
                                      <p:tavLst>
                                        <p:tav tm="0">
                                          <p:val>
                                            <p:strVal val="#ppt_x"/>
                                          </p:val>
                                        </p:tav>
                                        <p:tav tm="100000">
                                          <p:val>
                                            <p:strVal val="#ppt_x"/>
                                          </p:val>
                                        </p:tav>
                                      </p:tavLst>
                                    </p:anim>
                                    <p:anim calcmode="lin" valueType="num">
                                      <p:cBhvr additive="base">
                                        <p:cTn id="30" dur="500" fill="hold"/>
                                        <p:tgtEl>
                                          <p:spTgt spid="2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ppt_x"/>
                                          </p:val>
                                        </p:tav>
                                        <p:tav tm="100000">
                                          <p:val>
                                            <p:strVal val="#ppt_x"/>
                                          </p:val>
                                        </p:tav>
                                      </p:tavLst>
                                    </p:anim>
                                    <p:anim calcmode="lin" valueType="num">
                                      <p:cBhvr additive="base">
                                        <p:cTn id="34" dur="500" fill="hold"/>
                                        <p:tgtEl>
                                          <p:spTgt spid="2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ppt_x"/>
                                          </p:val>
                                        </p:tav>
                                        <p:tav tm="100000">
                                          <p:val>
                                            <p:strVal val="#ppt_x"/>
                                          </p:val>
                                        </p:tav>
                                      </p:tavLst>
                                    </p:anim>
                                    <p:anim calcmode="lin" valueType="num">
                                      <p:cBhvr additive="base">
                                        <p:cTn id="38" dur="500" fill="hold"/>
                                        <p:tgtEl>
                                          <p:spTgt spid="27"/>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 calcmode="lin" valueType="num">
                                      <p:cBhvr additive="base">
                                        <p:cTn id="41" dur="500" fill="hold"/>
                                        <p:tgtEl>
                                          <p:spTgt spid="28"/>
                                        </p:tgtEl>
                                        <p:attrNameLst>
                                          <p:attrName>ppt_x</p:attrName>
                                        </p:attrNameLst>
                                      </p:cBhvr>
                                      <p:tavLst>
                                        <p:tav tm="0">
                                          <p:val>
                                            <p:strVal val="#ppt_x"/>
                                          </p:val>
                                        </p:tav>
                                        <p:tav tm="100000">
                                          <p:val>
                                            <p:strVal val="#ppt_x"/>
                                          </p:val>
                                        </p:tav>
                                      </p:tavLst>
                                    </p:anim>
                                    <p:anim calcmode="lin" valueType="num">
                                      <p:cBhvr additive="base">
                                        <p:cTn id="42" dur="500" fill="hold"/>
                                        <p:tgtEl>
                                          <p:spTgt spid="2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additive="base">
                                        <p:cTn id="45" dur="500" fill="hold"/>
                                        <p:tgtEl>
                                          <p:spTgt spid="29"/>
                                        </p:tgtEl>
                                        <p:attrNameLst>
                                          <p:attrName>ppt_x</p:attrName>
                                        </p:attrNameLst>
                                      </p:cBhvr>
                                      <p:tavLst>
                                        <p:tav tm="0">
                                          <p:val>
                                            <p:strVal val="#ppt_x"/>
                                          </p:val>
                                        </p:tav>
                                        <p:tav tm="100000">
                                          <p:val>
                                            <p:strVal val="#ppt_x"/>
                                          </p:val>
                                        </p:tav>
                                      </p:tavLst>
                                    </p:anim>
                                    <p:anim calcmode="lin" valueType="num">
                                      <p:cBhvr additive="base">
                                        <p:cTn id="4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par>
                                <p:cTn id="51" presetID="1" presetClass="entr" presetSubtype="0" fill="hold" grpId="0" nodeType="withEffect" nodePh="1">
                                  <p:stCondLst>
                                    <p:cond delay="0"/>
                                  </p:stCondLst>
                                  <p:endCondLst>
                                    <p:cond evt="begin" delay="0">
                                      <p:tn val="51"/>
                                    </p:cond>
                                  </p:end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7" grpId="0" animBg="1"/>
      <p:bldP spid="18" grpId="0" animBg="1"/>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Grp="1" noChangeArrowheads="1"/>
          </p:cNvSpPr>
          <p:nvPr>
            <p:ph type="ftr" sz="quarter"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fld id="{97E07001-B844-4C65-B13C-6C6FBEF2A025}" type="slidenum">
              <a:rPr lang="es-ES" altLang="es-ES" sz="1600">
                <a:solidFill>
                  <a:schemeClr val="bg1"/>
                </a:solidFill>
              </a:rPr>
              <a:pPr>
                <a:spcBef>
                  <a:spcPct val="0"/>
                </a:spcBef>
                <a:buClrTx/>
                <a:buFontTx/>
                <a:buNone/>
              </a:pPr>
              <a:t>34</a:t>
            </a:fld>
            <a:endParaRPr lang="es-ES" altLang="es-ES" sz="1600">
              <a:solidFill>
                <a:schemeClr val="bg1"/>
              </a:solidFill>
            </a:endParaRPr>
          </a:p>
          <a:p>
            <a:pPr>
              <a:spcBef>
                <a:spcPct val="0"/>
              </a:spcBef>
              <a:buClrTx/>
              <a:buFontTx/>
              <a:buNone/>
            </a:pPr>
            <a:endParaRPr lang="es-ES" altLang="es-ES" sz="1000">
              <a:solidFill>
                <a:schemeClr val="tx1"/>
              </a:solidFill>
            </a:endParaRPr>
          </a:p>
        </p:txBody>
      </p:sp>
      <p:sp>
        <p:nvSpPr>
          <p:cNvPr id="9219" name="Rectangle 2"/>
          <p:cNvSpPr>
            <a:spLocks noGrp="1" noChangeArrowheads="1"/>
          </p:cNvSpPr>
          <p:nvPr>
            <p:ph type="body" idx="4294967295"/>
          </p:nvPr>
        </p:nvSpPr>
        <p:spPr>
          <a:xfrm>
            <a:off x="927602" y="885276"/>
            <a:ext cx="9932464" cy="3024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a:lnSpc>
                <a:spcPct val="95000"/>
              </a:lnSpc>
              <a:spcBef>
                <a:spcPct val="25000"/>
              </a:spcBef>
            </a:pPr>
            <a:r>
              <a:rPr lang="es-ES_tradnl" altLang="es-ES" dirty="0"/>
              <a:t>Aumenta el poder de las grandes empresas vs poder del estado</a:t>
            </a:r>
          </a:p>
          <a:p>
            <a:pPr>
              <a:lnSpc>
                <a:spcPct val="95000"/>
              </a:lnSpc>
              <a:spcBef>
                <a:spcPct val="25000"/>
              </a:spcBef>
            </a:pPr>
            <a:r>
              <a:rPr lang="es-ES_tradnl" altLang="es-ES" dirty="0"/>
              <a:t>Privatización de servicios básicos</a:t>
            </a:r>
          </a:p>
          <a:p>
            <a:pPr>
              <a:lnSpc>
                <a:spcPct val="95000"/>
              </a:lnSpc>
              <a:spcBef>
                <a:spcPct val="25000"/>
              </a:spcBef>
            </a:pPr>
            <a:r>
              <a:rPr lang="es-ES_tradnl" altLang="es-ES" dirty="0"/>
              <a:t>Deslocalización</a:t>
            </a:r>
          </a:p>
          <a:p>
            <a:pPr>
              <a:lnSpc>
                <a:spcPct val="95000"/>
              </a:lnSpc>
              <a:spcBef>
                <a:spcPct val="25000"/>
              </a:spcBef>
            </a:pPr>
            <a:r>
              <a:rPr lang="es-ES_tradnl" altLang="es-ES" dirty="0"/>
              <a:t>Debilidad legislativa de algunos estados, desregulación, vacíos en el derecho internacional (cumplir la ley no es suficiente)</a:t>
            </a:r>
          </a:p>
          <a:p>
            <a:pPr>
              <a:lnSpc>
                <a:spcPct val="95000"/>
              </a:lnSpc>
              <a:spcBef>
                <a:spcPct val="25000"/>
              </a:spcBef>
            </a:pPr>
            <a:r>
              <a:rPr lang="es-ES_tradnl" altLang="es-ES" dirty="0"/>
              <a:t>La sociedad exige un comportamiento responsable</a:t>
            </a:r>
          </a:p>
          <a:p>
            <a:pPr lvl="1">
              <a:lnSpc>
                <a:spcPct val="95000"/>
              </a:lnSpc>
              <a:spcBef>
                <a:spcPct val="25000"/>
              </a:spcBef>
              <a:buClr>
                <a:srgbClr val="FA9F00"/>
              </a:buClr>
              <a:buFont typeface="Wingdings" panose="05000000000000000000" pitchFamily="2" charset="2"/>
              <a:buChar char="§"/>
            </a:pPr>
            <a:endParaRPr lang="es-ES_tradnl" altLang="es-ES" sz="1600" dirty="0">
              <a:latin typeface="BlurMedium"/>
            </a:endParaRPr>
          </a:p>
        </p:txBody>
      </p:sp>
      <p:sp>
        <p:nvSpPr>
          <p:cNvPr id="25604" name="Rectangle 3"/>
          <p:cNvSpPr>
            <a:spLocks noGrp="1" noChangeArrowheads="1"/>
          </p:cNvSpPr>
          <p:nvPr>
            <p:ph type="title" idx="4294967295"/>
          </p:nvPr>
        </p:nvSpPr>
        <p:spPr/>
        <p:txBody>
          <a:bodyPr/>
          <a:lstStyle/>
          <a:p>
            <a:r>
              <a:rPr lang="es-ES" altLang="es-ES" b="1" dirty="0"/>
              <a:t>¿Por qué es importante la ética empresarial?</a:t>
            </a:r>
          </a:p>
        </p:txBody>
      </p:sp>
      <p:sp>
        <p:nvSpPr>
          <p:cNvPr id="9221" name="Text Box 4"/>
          <p:cNvSpPr txBox="1">
            <a:spLocks noChangeArrowheads="1"/>
          </p:cNvSpPr>
          <p:nvPr/>
        </p:nvSpPr>
        <p:spPr bwMode="auto">
          <a:xfrm>
            <a:off x="609030" y="4675137"/>
            <a:ext cx="11340800" cy="1274195"/>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lnSpc>
                <a:spcPct val="200000"/>
              </a:lnSpc>
              <a:spcBef>
                <a:spcPct val="25000"/>
              </a:spcBef>
            </a:pPr>
            <a:r>
              <a:rPr lang="es-ES" altLang="es-ES" sz="2400" dirty="0"/>
              <a:t>La responsabilidad ha de ser acorde con el potencial </a:t>
            </a:r>
            <a:r>
              <a:rPr lang="es-ES" altLang="es-ES" sz="2400" b="1" dirty="0">
                <a:solidFill>
                  <a:srgbClr val="CC0066"/>
                </a:solidFill>
              </a:rPr>
              <a:t>impacto de las acciones</a:t>
            </a:r>
          </a:p>
          <a:p>
            <a:pPr>
              <a:lnSpc>
                <a:spcPct val="95000"/>
              </a:lnSpc>
              <a:spcBef>
                <a:spcPct val="25000"/>
              </a:spcBef>
            </a:pPr>
            <a:r>
              <a:rPr lang="es-ES" altLang="es-ES" sz="2400" dirty="0"/>
              <a:t>El dominio de </a:t>
            </a:r>
            <a:r>
              <a:rPr lang="es-ES" altLang="es-ES" sz="2400" b="1" dirty="0">
                <a:solidFill>
                  <a:srgbClr val="CC0066"/>
                </a:solidFill>
              </a:rPr>
              <a:t>conocimientos especializados</a:t>
            </a:r>
            <a:r>
              <a:rPr lang="es-ES" altLang="es-ES" sz="2400" dirty="0">
                <a:solidFill>
                  <a:srgbClr val="CC0066"/>
                </a:solidFill>
              </a:rPr>
              <a:t> </a:t>
            </a:r>
            <a:r>
              <a:rPr lang="es-ES" altLang="es-ES" sz="2400" dirty="0"/>
              <a:t>es una fuente de responsabilidad</a:t>
            </a:r>
          </a:p>
        </p:txBody>
      </p:sp>
    </p:spTree>
    <p:extLst>
      <p:ext uri="{BB962C8B-B14F-4D97-AF65-F5344CB8AC3E}">
        <p14:creationId xmlns:p14="http://schemas.microsoft.com/office/powerpoint/2010/main" val="21322307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9">
                                            <p:txEl>
                                              <p:pRg st="1" end="1"/>
                                            </p:txEl>
                                          </p:spTgt>
                                        </p:tgtEl>
                                        <p:attrNameLst>
                                          <p:attrName>style.visibility</p:attrName>
                                        </p:attrNameLst>
                                      </p:cBhvr>
                                      <p:to>
                                        <p:strVal val="visible"/>
                                      </p:to>
                                    </p:set>
                                    <p:anim calcmode="lin" valueType="num">
                                      <p:cBhvr additive="base">
                                        <p:cTn id="13"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19">
                                            <p:txEl>
                                              <p:pRg st="2" end="2"/>
                                            </p:txEl>
                                          </p:spTgt>
                                        </p:tgtEl>
                                        <p:attrNameLst>
                                          <p:attrName>style.visibility</p:attrName>
                                        </p:attrNameLst>
                                      </p:cBhvr>
                                      <p:to>
                                        <p:strVal val="visible"/>
                                      </p:to>
                                    </p:set>
                                    <p:anim calcmode="lin" valueType="num">
                                      <p:cBhvr additive="base">
                                        <p:cTn id="19"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anim calcmode="lin" valueType="num">
                                      <p:cBhvr additive="base">
                                        <p:cTn id="25" dur="500" fill="hold"/>
                                        <p:tgtEl>
                                          <p:spTgt spid="92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219">
                                            <p:txEl>
                                              <p:pRg st="4" end="4"/>
                                            </p:txEl>
                                          </p:spTgt>
                                        </p:tgtEl>
                                        <p:attrNameLst>
                                          <p:attrName>style.visibility</p:attrName>
                                        </p:attrNameLst>
                                      </p:cBhvr>
                                      <p:to>
                                        <p:strVal val="visible"/>
                                      </p:to>
                                    </p:set>
                                    <p:anim calcmode="lin" valueType="num">
                                      <p:cBhvr additive="base">
                                        <p:cTn id="31"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9221"/>
                                        </p:tgtEl>
                                        <p:attrNameLst>
                                          <p:attrName>style.visibility</p:attrName>
                                        </p:attrNameLst>
                                      </p:cBhvr>
                                      <p:to>
                                        <p:strVal val="visible"/>
                                      </p:to>
                                    </p:set>
                                    <p:animEffect transition="in" filter="fade">
                                      <p:cBhvr>
                                        <p:cTn id="37" dur="1000"/>
                                        <p:tgtEl>
                                          <p:spTgt spid="9221"/>
                                        </p:tgtEl>
                                      </p:cBhvr>
                                    </p:animEffect>
                                    <p:anim calcmode="lin" valueType="num">
                                      <p:cBhvr>
                                        <p:cTn id="38" dur="1000" fill="hold"/>
                                        <p:tgtEl>
                                          <p:spTgt spid="9221"/>
                                        </p:tgtEl>
                                        <p:attrNameLst>
                                          <p:attrName>ppt_x</p:attrName>
                                        </p:attrNameLst>
                                      </p:cBhvr>
                                      <p:tavLst>
                                        <p:tav tm="0">
                                          <p:val>
                                            <p:strVal val="#ppt_x"/>
                                          </p:val>
                                        </p:tav>
                                        <p:tav tm="100000">
                                          <p:val>
                                            <p:strVal val="#ppt_x"/>
                                          </p:val>
                                        </p:tav>
                                      </p:tavLst>
                                    </p:anim>
                                    <p:anim calcmode="lin" valueType="num">
                                      <p:cBhvr>
                                        <p:cTn id="39" dur="1000" fill="hold"/>
                                        <p:tgtEl>
                                          <p:spTgt spid="92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P spid="922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14299"/>
            <a:ext cx="10534650" cy="560070"/>
          </a:xfrm>
        </p:spPr>
        <p:txBody>
          <a:bodyPr>
            <a:normAutofit fontScale="90000"/>
          </a:bodyPr>
          <a:lstStyle/>
          <a:p>
            <a:br>
              <a:rPr lang="en-US" dirty="0">
                <a:solidFill>
                  <a:srgbClr val="575756"/>
                </a:solidFill>
                <a:latin typeface="Lucida Sans" panose="020B0602030504020204" pitchFamily="34" charset="0"/>
              </a:rPr>
            </a:br>
            <a:r>
              <a:rPr lang="en-US" dirty="0">
                <a:solidFill>
                  <a:schemeClr val="accent4">
                    <a:lumMod val="60000"/>
                    <a:lumOff val="40000"/>
                  </a:schemeClr>
                </a:solidFill>
                <a:latin typeface="Lucida Sans" panose="020B0602030504020204" pitchFamily="34" charset="0"/>
              </a:rPr>
              <a:t> </a:t>
            </a:r>
            <a:r>
              <a:rPr lang="en-US" b="1" dirty="0" err="1">
                <a:latin typeface="Lucida Sans" panose="020B0602030504020204" pitchFamily="34" charset="0"/>
              </a:rPr>
              <a:t>Contexto</a:t>
            </a:r>
            <a:r>
              <a:rPr lang="en-US" b="1" dirty="0">
                <a:latin typeface="Lucida Sans" panose="020B0602030504020204" pitchFamily="34" charset="0"/>
              </a:rPr>
              <a:t> de las </a:t>
            </a:r>
            <a:r>
              <a:rPr lang="en-US" b="1" dirty="0" err="1">
                <a:latin typeface="Lucida Sans" panose="020B0602030504020204" pitchFamily="34" charset="0"/>
              </a:rPr>
              <a:t>empresas</a:t>
            </a:r>
            <a:r>
              <a:rPr lang="en-US" b="1" dirty="0">
                <a:latin typeface="Lucida Sans" panose="020B0602030504020204" pitchFamily="34" charset="0"/>
              </a:rPr>
              <a:t> </a:t>
            </a:r>
            <a:r>
              <a:rPr lang="en-US" b="1" dirty="0" err="1">
                <a:latin typeface="Lucida Sans" panose="020B0602030504020204" pitchFamily="34" charset="0"/>
              </a:rPr>
              <a:t>tecnológicas</a:t>
            </a:r>
            <a:endParaRPr lang="es-ES" b="1" dirty="0"/>
          </a:p>
        </p:txBody>
      </p:sp>
      <p:sp>
        <p:nvSpPr>
          <p:cNvPr id="8" name="CuadroTexto 7">
            <a:extLst>
              <a:ext uri="{FF2B5EF4-FFF2-40B4-BE49-F238E27FC236}">
                <a16:creationId xmlns:a16="http://schemas.microsoft.com/office/drawing/2014/main" id="{F43CE1E4-78E7-31D1-1229-2F03C17DE9D8}"/>
              </a:ext>
            </a:extLst>
          </p:cNvPr>
          <p:cNvSpPr txBox="1"/>
          <p:nvPr/>
        </p:nvSpPr>
        <p:spPr>
          <a:xfrm>
            <a:off x="5830866" y="5431995"/>
            <a:ext cx="6100174" cy="1477328"/>
          </a:xfrm>
          <a:prstGeom prst="rect">
            <a:avLst/>
          </a:prstGeom>
          <a:noFill/>
        </p:spPr>
        <p:txBody>
          <a:bodyPr wrap="square">
            <a:spAutoFit/>
          </a:bodyPr>
          <a:lstStyle/>
          <a:p>
            <a:endParaRPr lang="en-GB" dirty="0">
              <a:hlinkClick r:id="rId3"/>
            </a:endParaRPr>
          </a:p>
          <a:p>
            <a:endParaRPr lang="en-GB" dirty="0">
              <a:hlinkClick r:id="rId3"/>
            </a:endParaRPr>
          </a:p>
          <a:p>
            <a:endParaRPr lang="en-GB" dirty="0">
              <a:hlinkClick r:id="rId3"/>
            </a:endParaRPr>
          </a:p>
          <a:p>
            <a:r>
              <a:rPr lang="en-GB" dirty="0">
                <a:hlinkClick r:id="rId3"/>
              </a:rPr>
              <a:t>https://es.statista.com/estadisticas/539088/ranking-de-las-25-principales-marcas-en-el-mundo-por-valor-de-marca/</a:t>
            </a:r>
            <a:r>
              <a:rPr lang="en-GB" dirty="0"/>
              <a:t> </a:t>
            </a:r>
          </a:p>
        </p:txBody>
      </p:sp>
      <p:sp>
        <p:nvSpPr>
          <p:cNvPr id="10" name="Rectángulo: esquinas redondeadas 9">
            <a:extLst>
              <a:ext uri="{FF2B5EF4-FFF2-40B4-BE49-F238E27FC236}">
                <a16:creationId xmlns:a16="http://schemas.microsoft.com/office/drawing/2014/main" id="{3C57F225-7B76-E852-F184-AAD5C6C864AB}"/>
              </a:ext>
            </a:extLst>
          </p:cNvPr>
          <p:cNvSpPr/>
          <p:nvPr/>
        </p:nvSpPr>
        <p:spPr>
          <a:xfrm>
            <a:off x="2192055" y="2314183"/>
            <a:ext cx="939452" cy="2229633"/>
          </a:xfrm>
          <a:prstGeom prst="roundRect">
            <a:avLst/>
          </a:prstGeom>
          <a:noFill/>
          <a:ln w="2857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ángulo: esquinas redondeadas 10">
            <a:extLst>
              <a:ext uri="{FF2B5EF4-FFF2-40B4-BE49-F238E27FC236}">
                <a16:creationId xmlns:a16="http://schemas.microsoft.com/office/drawing/2014/main" id="{39DDD264-CEF3-256C-86C3-24E4491AE59C}"/>
              </a:ext>
            </a:extLst>
          </p:cNvPr>
          <p:cNvSpPr/>
          <p:nvPr/>
        </p:nvSpPr>
        <p:spPr>
          <a:xfrm>
            <a:off x="2272764" y="5250465"/>
            <a:ext cx="778034" cy="1009389"/>
          </a:xfrm>
          <a:prstGeom prst="roundRect">
            <a:avLst/>
          </a:prstGeom>
          <a:noFill/>
          <a:ln w="28575">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Imagen 2">
            <a:extLst>
              <a:ext uri="{FF2B5EF4-FFF2-40B4-BE49-F238E27FC236}">
                <a16:creationId xmlns:a16="http://schemas.microsoft.com/office/drawing/2014/main" id="{0114F21D-2662-4574-B67C-981917A272A5}"/>
              </a:ext>
            </a:extLst>
          </p:cNvPr>
          <p:cNvPicPr>
            <a:picLocks noChangeAspect="1"/>
          </p:cNvPicPr>
          <p:nvPr/>
        </p:nvPicPr>
        <p:blipFill rotWithShape="1">
          <a:blip r:embed="rId4"/>
          <a:srcRect l="17979" t="26433" r="43750"/>
          <a:stretch/>
        </p:blipFill>
        <p:spPr>
          <a:xfrm>
            <a:off x="260960" y="858644"/>
            <a:ext cx="8492747" cy="5401209"/>
          </a:xfrm>
          <a:prstGeom prst="rect">
            <a:avLst/>
          </a:prstGeom>
        </p:spPr>
      </p:pic>
    </p:spTree>
    <p:extLst>
      <p:ext uri="{BB962C8B-B14F-4D97-AF65-F5344CB8AC3E}">
        <p14:creationId xmlns:p14="http://schemas.microsoft.com/office/powerpoint/2010/main" val="204307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14299"/>
            <a:ext cx="10534650" cy="560070"/>
          </a:xfrm>
        </p:spPr>
        <p:txBody>
          <a:bodyPr>
            <a:normAutofit fontScale="90000"/>
          </a:bodyPr>
          <a:lstStyle/>
          <a:p>
            <a:br>
              <a:rPr lang="en-US" dirty="0">
                <a:solidFill>
                  <a:srgbClr val="575756"/>
                </a:solidFill>
                <a:latin typeface="Lucida Sans" panose="020B0602030504020204" pitchFamily="34" charset="0"/>
              </a:rPr>
            </a:br>
            <a:r>
              <a:rPr lang="en-US" dirty="0">
                <a:solidFill>
                  <a:schemeClr val="accent4">
                    <a:lumMod val="60000"/>
                    <a:lumOff val="40000"/>
                  </a:schemeClr>
                </a:solidFill>
                <a:latin typeface="Lucida Sans" panose="020B0602030504020204" pitchFamily="34" charset="0"/>
              </a:rPr>
              <a:t> </a:t>
            </a:r>
            <a:r>
              <a:rPr lang="en-US" b="1" dirty="0" err="1">
                <a:latin typeface="Lucida Sans" panose="020B0602030504020204" pitchFamily="34" charset="0"/>
              </a:rPr>
              <a:t>Contexto</a:t>
            </a:r>
            <a:r>
              <a:rPr lang="en-US" b="1" dirty="0">
                <a:latin typeface="Lucida Sans" panose="020B0602030504020204" pitchFamily="34" charset="0"/>
              </a:rPr>
              <a:t> de las </a:t>
            </a:r>
            <a:r>
              <a:rPr lang="en-US" b="1" dirty="0" err="1">
                <a:latin typeface="Lucida Sans" panose="020B0602030504020204" pitchFamily="34" charset="0"/>
              </a:rPr>
              <a:t>empresas</a:t>
            </a:r>
            <a:r>
              <a:rPr lang="en-US" b="1" dirty="0">
                <a:latin typeface="Lucida Sans" panose="020B0602030504020204" pitchFamily="34" charset="0"/>
              </a:rPr>
              <a:t> </a:t>
            </a:r>
            <a:r>
              <a:rPr lang="en-US" b="1" dirty="0" err="1">
                <a:latin typeface="Lucida Sans" panose="020B0602030504020204" pitchFamily="34" charset="0"/>
              </a:rPr>
              <a:t>tecnológicas</a:t>
            </a:r>
            <a:endParaRPr lang="es-ES" b="1" dirty="0"/>
          </a:p>
        </p:txBody>
      </p:sp>
      <p:pic>
        <p:nvPicPr>
          <p:cNvPr id="5" name="Imagen 4">
            <a:hlinkClick r:id="rId3"/>
            <a:extLst>
              <a:ext uri="{FF2B5EF4-FFF2-40B4-BE49-F238E27FC236}">
                <a16:creationId xmlns:a16="http://schemas.microsoft.com/office/drawing/2014/main" id="{2AC02BA2-3F90-E927-C15F-DC36E9364DBB}"/>
              </a:ext>
            </a:extLst>
          </p:cNvPr>
          <p:cNvPicPr>
            <a:picLocks noChangeAspect="1"/>
          </p:cNvPicPr>
          <p:nvPr/>
        </p:nvPicPr>
        <p:blipFill rotWithShape="1">
          <a:blip r:embed="rId4"/>
          <a:srcRect t="20091" r="40411" b="6484"/>
          <a:stretch/>
        </p:blipFill>
        <p:spPr>
          <a:xfrm>
            <a:off x="2091847" y="781965"/>
            <a:ext cx="6150453" cy="5550586"/>
          </a:xfrm>
          <a:prstGeom prst="rect">
            <a:avLst/>
          </a:prstGeom>
        </p:spPr>
      </p:pic>
      <p:sp>
        <p:nvSpPr>
          <p:cNvPr id="7" name="CuadroTexto 6">
            <a:extLst>
              <a:ext uri="{FF2B5EF4-FFF2-40B4-BE49-F238E27FC236}">
                <a16:creationId xmlns:a16="http://schemas.microsoft.com/office/drawing/2014/main" id="{D3D9CC9F-38E2-31D5-8B4D-798429CCF0C3}"/>
              </a:ext>
            </a:extLst>
          </p:cNvPr>
          <p:cNvSpPr txBox="1"/>
          <p:nvPr/>
        </p:nvSpPr>
        <p:spPr>
          <a:xfrm>
            <a:off x="2411261" y="6332551"/>
            <a:ext cx="8787008" cy="369332"/>
          </a:xfrm>
          <a:prstGeom prst="rect">
            <a:avLst/>
          </a:prstGeom>
          <a:noFill/>
        </p:spPr>
        <p:txBody>
          <a:bodyPr wrap="square">
            <a:spAutoFit/>
          </a:bodyPr>
          <a:lstStyle/>
          <a:p>
            <a:r>
              <a:rPr lang="en-GB" dirty="0">
                <a:hlinkClick r:id="rId3"/>
              </a:rPr>
              <a:t>https://futureoflife.org/open-letter/pause-giant-ai-experiments/?prm=ep-app</a:t>
            </a:r>
            <a:r>
              <a:rPr lang="en-GB" dirty="0"/>
              <a:t> </a:t>
            </a:r>
          </a:p>
        </p:txBody>
      </p:sp>
    </p:spTree>
    <p:extLst>
      <p:ext uri="{BB962C8B-B14F-4D97-AF65-F5344CB8AC3E}">
        <p14:creationId xmlns:p14="http://schemas.microsoft.com/office/powerpoint/2010/main" val="3816641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33815" y="780584"/>
            <a:ext cx="11707665" cy="5843239"/>
          </a:xfrm>
        </p:spPr>
        <p:txBody>
          <a:bodyPr>
            <a:normAutofit fontScale="77500" lnSpcReduction="20000"/>
          </a:bodyPr>
          <a:lstStyle/>
          <a:p>
            <a:pPr algn="l"/>
            <a:endParaRPr lang="es-ES" sz="3000" dirty="0"/>
          </a:p>
          <a:p>
            <a:pPr algn="l"/>
            <a:r>
              <a:rPr lang="es-ES" sz="3300" dirty="0"/>
              <a:t>La ética de las organizaciones es importante, más allá de la responsabilidad de los/as profesionales. </a:t>
            </a:r>
          </a:p>
          <a:p>
            <a:pPr algn="l"/>
            <a:endParaRPr lang="es-ES" sz="3300" dirty="0"/>
          </a:p>
          <a:p>
            <a:r>
              <a:rPr lang="es-ES" sz="4100" b="1" dirty="0">
                <a:solidFill>
                  <a:srgbClr val="FF0000"/>
                </a:solidFill>
              </a:rPr>
              <a:t>DILEMA</a:t>
            </a:r>
          </a:p>
          <a:p>
            <a:endParaRPr lang="es-ES" sz="3300" dirty="0"/>
          </a:p>
          <a:p>
            <a:r>
              <a:rPr lang="es-ES" sz="4600" dirty="0"/>
              <a:t>La responsabilidad de las organizaciones es una cuestión de </a:t>
            </a:r>
            <a:r>
              <a:rPr lang="es-ES" sz="4600" b="1" dirty="0"/>
              <a:t>ética empresarial… voluntaria</a:t>
            </a:r>
          </a:p>
          <a:p>
            <a:r>
              <a:rPr lang="es-ES" sz="4600" dirty="0">
                <a:solidFill>
                  <a:srgbClr val="FF0000"/>
                </a:solidFill>
              </a:rPr>
              <a:t>o bien</a:t>
            </a:r>
          </a:p>
          <a:p>
            <a:r>
              <a:rPr lang="es-ES" sz="4600" dirty="0"/>
              <a:t>Hay que contar con </a:t>
            </a:r>
            <a:r>
              <a:rPr lang="es-ES" sz="4600" b="1" dirty="0"/>
              <a:t>marcos reguladores exigibles </a:t>
            </a:r>
            <a:r>
              <a:rPr lang="es-ES" sz="4600" dirty="0"/>
              <a:t>para reaccionar en los casos en que las organizaciones (empresas e instituciones de todo tipo) no respeten los principios éticos</a:t>
            </a:r>
            <a:endParaRPr lang="es-ES" dirty="0"/>
          </a:p>
          <a:p>
            <a:r>
              <a:rPr lang="es-ES" dirty="0"/>
              <a:t> </a:t>
            </a:r>
          </a:p>
        </p:txBody>
      </p:sp>
      <p:sp>
        <p:nvSpPr>
          <p:cNvPr id="4" name="Marcador de pie de página 3"/>
          <p:cNvSpPr>
            <a:spLocks noGrp="1"/>
          </p:cNvSpPr>
          <p:nvPr>
            <p:ph type="ftr" sz="quarter" idx="4294967295"/>
          </p:nvPr>
        </p:nvSpPr>
        <p:spPr/>
        <p:txBody>
          <a:bodyPr/>
          <a:lstStyle/>
          <a:p>
            <a:pPr>
              <a:defRPr/>
            </a:pPr>
            <a:r>
              <a:rPr lang="es-ES" altLang="es-ES" dirty="0"/>
              <a:t>				</a:t>
            </a:r>
            <a:r>
              <a:rPr lang="es-ES" altLang="es-ES" sz="3200" b="1" dirty="0">
                <a:solidFill>
                  <a:schemeClr val="bg1"/>
                </a:solidFill>
              </a:rPr>
              <a:t>2.3 Ética/Responsabilidad de las organizaciones</a:t>
            </a:r>
          </a:p>
        </p:txBody>
      </p:sp>
      <p:sp>
        <p:nvSpPr>
          <p:cNvPr id="5" name="Subtítulo 2"/>
          <p:cNvSpPr txBox="1">
            <a:spLocks/>
          </p:cNvSpPr>
          <p:nvPr/>
        </p:nvSpPr>
        <p:spPr>
          <a:xfrm>
            <a:off x="1775521" y="2400300"/>
            <a:ext cx="8641655" cy="38369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endParaRPr lang="es-ES" dirty="0"/>
          </a:p>
          <a:p>
            <a:pPr>
              <a:defRPr/>
            </a:pPr>
            <a:endParaRPr lang="es-ES" dirty="0"/>
          </a:p>
        </p:txBody>
      </p:sp>
    </p:spTree>
    <p:extLst>
      <p:ext uri="{BB962C8B-B14F-4D97-AF65-F5344CB8AC3E}">
        <p14:creationId xmlns:p14="http://schemas.microsoft.com/office/powerpoint/2010/main" val="22708287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riángulo isósceles 26">
            <a:extLst>
              <a:ext uri="{FF2B5EF4-FFF2-40B4-BE49-F238E27FC236}">
                <a16:creationId xmlns:a16="http://schemas.microsoft.com/office/drawing/2014/main" id="{E01B3E79-01DA-7AAF-D89E-82BA74D58B51}"/>
              </a:ext>
            </a:extLst>
          </p:cNvPr>
          <p:cNvSpPr/>
          <p:nvPr/>
        </p:nvSpPr>
        <p:spPr>
          <a:xfrm>
            <a:off x="115879" y="579352"/>
            <a:ext cx="11987231" cy="5562658"/>
          </a:xfrm>
          <a:prstGeom prst="triangl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 name="Título 1"/>
          <p:cNvSpPr>
            <a:spLocks noGrp="1"/>
          </p:cNvSpPr>
          <p:nvPr>
            <p:ph type="title"/>
          </p:nvPr>
        </p:nvSpPr>
        <p:spPr/>
        <p:txBody>
          <a:bodyPr/>
          <a:lstStyle/>
          <a:p>
            <a:r>
              <a:rPr lang="es-ES" b="1" dirty="0"/>
              <a:t>Ética/Responsabilidad de las organizaciones</a:t>
            </a:r>
          </a:p>
        </p:txBody>
      </p:sp>
      <p:sp>
        <p:nvSpPr>
          <p:cNvPr id="4" name="Marcador de pie de página 3"/>
          <p:cNvSpPr>
            <a:spLocks noGrp="1"/>
          </p:cNvSpPr>
          <p:nvPr>
            <p:ph type="ftr" sz="quarter" idx="11"/>
          </p:nvPr>
        </p:nvSpPr>
        <p:spPr/>
        <p:txBody>
          <a:bodyPr/>
          <a:lstStyle/>
          <a:p>
            <a:r>
              <a:rPr lang="es-ES" dirty="0">
                <a:hlinkClick r:id="rId3"/>
              </a:rPr>
              <a:t>Buscador de normativas de sostenibilidad | Pacto Mundial ONU · Pacto Mundial</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38</a:t>
            </a:fld>
            <a:endParaRPr lang="es-ES" dirty="0"/>
          </a:p>
        </p:txBody>
      </p:sp>
      <p:sp>
        <p:nvSpPr>
          <p:cNvPr id="9" name="Rectángulo 8"/>
          <p:cNvSpPr/>
          <p:nvPr/>
        </p:nvSpPr>
        <p:spPr>
          <a:xfrm>
            <a:off x="580769" y="4732638"/>
            <a:ext cx="4461131" cy="7537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tx1"/>
                </a:solidFill>
              </a:rPr>
              <a:t>Nivel de voluntariedad </a:t>
            </a:r>
          </a:p>
          <a:p>
            <a:pPr algn="ctr"/>
            <a:r>
              <a:rPr lang="es-ES" sz="2400" dirty="0">
                <a:solidFill>
                  <a:schemeClr val="tx1"/>
                </a:solidFill>
              </a:rPr>
              <a:t>(aquí estamos)</a:t>
            </a:r>
          </a:p>
        </p:txBody>
      </p:sp>
      <p:sp>
        <p:nvSpPr>
          <p:cNvPr id="19" name="Forma libre: forma 18">
            <a:extLst>
              <a:ext uri="{FF2B5EF4-FFF2-40B4-BE49-F238E27FC236}">
                <a16:creationId xmlns:a16="http://schemas.microsoft.com/office/drawing/2014/main" id="{A5CFBFF9-89ED-4401-8AEF-D27DBE3375A0}"/>
              </a:ext>
            </a:extLst>
          </p:cNvPr>
          <p:cNvSpPr/>
          <p:nvPr/>
        </p:nvSpPr>
        <p:spPr>
          <a:xfrm>
            <a:off x="5182531" y="1446544"/>
            <a:ext cx="5765092" cy="1177498"/>
          </a:xfrm>
          <a:custGeom>
            <a:avLst/>
            <a:gdLst>
              <a:gd name="connsiteX0" fmla="*/ 0 w 5765092"/>
              <a:gd name="connsiteY0" fmla="*/ 196254 h 1177498"/>
              <a:gd name="connsiteX1" fmla="*/ 196254 w 5765092"/>
              <a:gd name="connsiteY1" fmla="*/ 0 h 1177498"/>
              <a:gd name="connsiteX2" fmla="*/ 5568838 w 5765092"/>
              <a:gd name="connsiteY2" fmla="*/ 0 h 1177498"/>
              <a:gd name="connsiteX3" fmla="*/ 5765092 w 5765092"/>
              <a:gd name="connsiteY3" fmla="*/ 196254 h 1177498"/>
              <a:gd name="connsiteX4" fmla="*/ 5765092 w 5765092"/>
              <a:gd name="connsiteY4" fmla="*/ 981244 h 1177498"/>
              <a:gd name="connsiteX5" fmla="*/ 5568838 w 5765092"/>
              <a:gd name="connsiteY5" fmla="*/ 1177498 h 1177498"/>
              <a:gd name="connsiteX6" fmla="*/ 196254 w 5765092"/>
              <a:gd name="connsiteY6" fmla="*/ 1177498 h 1177498"/>
              <a:gd name="connsiteX7" fmla="*/ 0 w 5765092"/>
              <a:gd name="connsiteY7" fmla="*/ 981244 h 1177498"/>
              <a:gd name="connsiteX8" fmla="*/ 0 w 5765092"/>
              <a:gd name="connsiteY8" fmla="*/ 196254 h 117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65092" h="1177498">
                <a:moveTo>
                  <a:pt x="0" y="196254"/>
                </a:moveTo>
                <a:cubicBezTo>
                  <a:pt x="0" y="87866"/>
                  <a:pt x="87866" y="0"/>
                  <a:pt x="196254" y="0"/>
                </a:cubicBezTo>
                <a:lnTo>
                  <a:pt x="5568838" y="0"/>
                </a:lnTo>
                <a:cubicBezTo>
                  <a:pt x="5677226" y="0"/>
                  <a:pt x="5765092" y="87866"/>
                  <a:pt x="5765092" y="196254"/>
                </a:cubicBezTo>
                <a:lnTo>
                  <a:pt x="5765092" y="981244"/>
                </a:lnTo>
                <a:cubicBezTo>
                  <a:pt x="5765092" y="1089632"/>
                  <a:pt x="5677226" y="1177498"/>
                  <a:pt x="5568838" y="1177498"/>
                </a:cubicBezTo>
                <a:lnTo>
                  <a:pt x="196254" y="1177498"/>
                </a:lnTo>
                <a:cubicBezTo>
                  <a:pt x="87866" y="1177498"/>
                  <a:pt x="0" y="1089632"/>
                  <a:pt x="0" y="981244"/>
                </a:cubicBezTo>
                <a:lnTo>
                  <a:pt x="0" y="196254"/>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8921" tIns="148921" rIns="148921" bIns="148921" numCol="1" spcCol="1270" anchor="ctr" anchorCtr="0">
            <a:noAutofit/>
          </a:bodyPr>
          <a:lstStyle/>
          <a:p>
            <a:pPr marL="0" lvl="0" indent="0" algn="ctr" defTabSz="1066800">
              <a:lnSpc>
                <a:spcPct val="90000"/>
              </a:lnSpc>
              <a:spcBef>
                <a:spcPct val="0"/>
              </a:spcBef>
              <a:spcAft>
                <a:spcPct val="35000"/>
              </a:spcAft>
              <a:buNone/>
            </a:pPr>
            <a:endParaRPr lang="es-ES" sz="2400" b="1" kern="1200" dirty="0"/>
          </a:p>
          <a:p>
            <a:pPr marL="0" lvl="0" indent="0" algn="ctr" defTabSz="1066800">
              <a:lnSpc>
                <a:spcPct val="90000"/>
              </a:lnSpc>
              <a:spcBef>
                <a:spcPct val="0"/>
              </a:spcBef>
              <a:spcAft>
                <a:spcPct val="35000"/>
              </a:spcAft>
              <a:buNone/>
            </a:pPr>
            <a:r>
              <a:rPr lang="es-ES" sz="2000" b="1" kern="1200" dirty="0"/>
              <a:t>Regulación de impacto en derechos humanos en terceros países</a:t>
            </a:r>
          </a:p>
          <a:p>
            <a:pPr marL="0" lvl="0" indent="0" algn="ctr" defTabSz="1066800">
              <a:lnSpc>
                <a:spcPct val="90000"/>
              </a:lnSpc>
              <a:spcBef>
                <a:spcPct val="0"/>
              </a:spcBef>
              <a:spcAft>
                <a:spcPct val="35000"/>
              </a:spcAft>
              <a:buNone/>
            </a:pPr>
            <a:r>
              <a:rPr lang="es-ES" sz="2000" b="1" kern="1200" dirty="0"/>
              <a:t>Diligencia debida </a:t>
            </a:r>
          </a:p>
          <a:p>
            <a:pPr marL="0" lvl="0" indent="0" algn="ctr" defTabSz="1066800">
              <a:lnSpc>
                <a:spcPct val="90000"/>
              </a:lnSpc>
              <a:spcBef>
                <a:spcPct val="0"/>
              </a:spcBef>
              <a:spcAft>
                <a:spcPct val="35000"/>
              </a:spcAft>
              <a:buNone/>
            </a:pPr>
            <a:endParaRPr lang="es-ES" sz="1600" b="1" kern="1200" dirty="0"/>
          </a:p>
        </p:txBody>
      </p:sp>
      <p:sp>
        <p:nvSpPr>
          <p:cNvPr id="20" name="Forma libre: forma 19">
            <a:extLst>
              <a:ext uri="{FF2B5EF4-FFF2-40B4-BE49-F238E27FC236}">
                <a16:creationId xmlns:a16="http://schemas.microsoft.com/office/drawing/2014/main" id="{41E1AC11-3E9F-6BCD-8C70-B40627B6E743}"/>
              </a:ext>
            </a:extLst>
          </p:cNvPr>
          <p:cNvSpPr/>
          <p:nvPr/>
        </p:nvSpPr>
        <p:spPr>
          <a:xfrm>
            <a:off x="5728156" y="3083633"/>
            <a:ext cx="4115688" cy="746287"/>
          </a:xfrm>
          <a:custGeom>
            <a:avLst/>
            <a:gdLst>
              <a:gd name="connsiteX0" fmla="*/ 0 w 4115688"/>
              <a:gd name="connsiteY0" fmla="*/ 124384 h 746287"/>
              <a:gd name="connsiteX1" fmla="*/ 124384 w 4115688"/>
              <a:gd name="connsiteY1" fmla="*/ 0 h 746287"/>
              <a:gd name="connsiteX2" fmla="*/ 3991304 w 4115688"/>
              <a:gd name="connsiteY2" fmla="*/ 0 h 746287"/>
              <a:gd name="connsiteX3" fmla="*/ 4115688 w 4115688"/>
              <a:gd name="connsiteY3" fmla="*/ 124384 h 746287"/>
              <a:gd name="connsiteX4" fmla="*/ 4115688 w 4115688"/>
              <a:gd name="connsiteY4" fmla="*/ 621903 h 746287"/>
              <a:gd name="connsiteX5" fmla="*/ 3991304 w 4115688"/>
              <a:gd name="connsiteY5" fmla="*/ 746287 h 746287"/>
              <a:gd name="connsiteX6" fmla="*/ 124384 w 4115688"/>
              <a:gd name="connsiteY6" fmla="*/ 746287 h 746287"/>
              <a:gd name="connsiteX7" fmla="*/ 0 w 4115688"/>
              <a:gd name="connsiteY7" fmla="*/ 621903 h 746287"/>
              <a:gd name="connsiteX8" fmla="*/ 0 w 4115688"/>
              <a:gd name="connsiteY8" fmla="*/ 124384 h 746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5688" h="746287">
                <a:moveTo>
                  <a:pt x="0" y="124384"/>
                </a:moveTo>
                <a:cubicBezTo>
                  <a:pt x="0" y="55689"/>
                  <a:pt x="55689" y="0"/>
                  <a:pt x="124384" y="0"/>
                </a:cubicBezTo>
                <a:lnTo>
                  <a:pt x="3991304" y="0"/>
                </a:lnTo>
                <a:cubicBezTo>
                  <a:pt x="4059999" y="0"/>
                  <a:pt x="4115688" y="55689"/>
                  <a:pt x="4115688" y="124384"/>
                </a:cubicBezTo>
                <a:lnTo>
                  <a:pt x="4115688" y="621903"/>
                </a:lnTo>
                <a:cubicBezTo>
                  <a:pt x="4115688" y="690598"/>
                  <a:pt x="4059999" y="746287"/>
                  <a:pt x="3991304" y="746287"/>
                </a:cubicBezTo>
                <a:lnTo>
                  <a:pt x="124384" y="746287"/>
                </a:lnTo>
                <a:cubicBezTo>
                  <a:pt x="55689" y="746287"/>
                  <a:pt x="0" y="690598"/>
                  <a:pt x="0" y="621903"/>
                </a:cubicBezTo>
                <a:lnTo>
                  <a:pt x="0" y="124384"/>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2631" tIns="112631" rIns="112631" bIns="112631" numCol="1" spcCol="1270" anchor="ctr" anchorCtr="0">
            <a:noAutofit/>
          </a:bodyPr>
          <a:lstStyle/>
          <a:p>
            <a:pPr marL="0" lvl="0" indent="0" algn="ctr" defTabSz="889000">
              <a:lnSpc>
                <a:spcPct val="90000"/>
              </a:lnSpc>
              <a:spcBef>
                <a:spcPct val="0"/>
              </a:spcBef>
              <a:spcAft>
                <a:spcPct val="35000"/>
              </a:spcAft>
              <a:buNone/>
            </a:pPr>
            <a:r>
              <a:rPr lang="es-ES" sz="2000" b="1" kern="1200" dirty="0" err="1"/>
              <a:t>Reporting</a:t>
            </a:r>
            <a:r>
              <a:rPr lang="es-ES" sz="2000" b="1" kern="1200" dirty="0"/>
              <a:t> no financiero  </a:t>
            </a:r>
          </a:p>
        </p:txBody>
      </p:sp>
      <p:sp>
        <p:nvSpPr>
          <p:cNvPr id="22" name="Forma libre: forma 21">
            <a:extLst>
              <a:ext uri="{FF2B5EF4-FFF2-40B4-BE49-F238E27FC236}">
                <a16:creationId xmlns:a16="http://schemas.microsoft.com/office/drawing/2014/main" id="{A9C817A3-5C08-4140-DB67-88086C0A323A}"/>
              </a:ext>
            </a:extLst>
          </p:cNvPr>
          <p:cNvSpPr/>
          <p:nvPr/>
        </p:nvSpPr>
        <p:spPr>
          <a:xfrm>
            <a:off x="10606632" y="1266064"/>
            <a:ext cx="733089" cy="368896"/>
          </a:xfrm>
          <a:custGeom>
            <a:avLst/>
            <a:gdLst>
              <a:gd name="connsiteX0" fmla="*/ 0 w 733089"/>
              <a:gd name="connsiteY0" fmla="*/ 61484 h 368896"/>
              <a:gd name="connsiteX1" fmla="*/ 61484 w 733089"/>
              <a:gd name="connsiteY1" fmla="*/ 0 h 368896"/>
              <a:gd name="connsiteX2" fmla="*/ 671605 w 733089"/>
              <a:gd name="connsiteY2" fmla="*/ 0 h 368896"/>
              <a:gd name="connsiteX3" fmla="*/ 733089 w 733089"/>
              <a:gd name="connsiteY3" fmla="*/ 61484 h 368896"/>
              <a:gd name="connsiteX4" fmla="*/ 733089 w 733089"/>
              <a:gd name="connsiteY4" fmla="*/ 307412 h 368896"/>
              <a:gd name="connsiteX5" fmla="*/ 671605 w 733089"/>
              <a:gd name="connsiteY5" fmla="*/ 368896 h 368896"/>
              <a:gd name="connsiteX6" fmla="*/ 61484 w 733089"/>
              <a:gd name="connsiteY6" fmla="*/ 368896 h 368896"/>
              <a:gd name="connsiteX7" fmla="*/ 0 w 733089"/>
              <a:gd name="connsiteY7" fmla="*/ 307412 h 368896"/>
              <a:gd name="connsiteX8" fmla="*/ 0 w 733089"/>
              <a:gd name="connsiteY8" fmla="*/ 61484 h 36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3089" h="368896">
                <a:moveTo>
                  <a:pt x="0" y="61484"/>
                </a:moveTo>
                <a:cubicBezTo>
                  <a:pt x="0" y="27527"/>
                  <a:pt x="27527" y="0"/>
                  <a:pt x="61484" y="0"/>
                </a:cubicBezTo>
                <a:lnTo>
                  <a:pt x="671605" y="0"/>
                </a:lnTo>
                <a:cubicBezTo>
                  <a:pt x="705562" y="0"/>
                  <a:pt x="733089" y="27527"/>
                  <a:pt x="733089" y="61484"/>
                </a:cubicBezTo>
                <a:lnTo>
                  <a:pt x="733089" y="307412"/>
                </a:lnTo>
                <a:cubicBezTo>
                  <a:pt x="733089" y="341369"/>
                  <a:pt x="705562" y="368896"/>
                  <a:pt x="671605" y="368896"/>
                </a:cubicBezTo>
                <a:lnTo>
                  <a:pt x="61484" y="368896"/>
                </a:lnTo>
                <a:cubicBezTo>
                  <a:pt x="27527" y="368896"/>
                  <a:pt x="0" y="341369"/>
                  <a:pt x="0" y="307412"/>
                </a:cubicBezTo>
                <a:lnTo>
                  <a:pt x="0" y="61484"/>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4208" tIns="94208" rIns="94208" bIns="94208"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rgbClr val="FF0000"/>
                </a:solidFill>
              </a:rPr>
              <a:t>3</a:t>
            </a:r>
          </a:p>
        </p:txBody>
      </p:sp>
      <p:sp>
        <p:nvSpPr>
          <p:cNvPr id="23" name="Forma libre: forma 22">
            <a:extLst>
              <a:ext uri="{FF2B5EF4-FFF2-40B4-BE49-F238E27FC236}">
                <a16:creationId xmlns:a16="http://schemas.microsoft.com/office/drawing/2014/main" id="{459BC6E1-4EB9-3895-DBCA-0DA96A2F1754}"/>
              </a:ext>
            </a:extLst>
          </p:cNvPr>
          <p:cNvSpPr/>
          <p:nvPr/>
        </p:nvSpPr>
        <p:spPr>
          <a:xfrm>
            <a:off x="9439798" y="2998108"/>
            <a:ext cx="825517" cy="416846"/>
          </a:xfrm>
          <a:custGeom>
            <a:avLst/>
            <a:gdLst>
              <a:gd name="connsiteX0" fmla="*/ 0 w 825517"/>
              <a:gd name="connsiteY0" fmla="*/ 69476 h 416846"/>
              <a:gd name="connsiteX1" fmla="*/ 69476 w 825517"/>
              <a:gd name="connsiteY1" fmla="*/ 0 h 416846"/>
              <a:gd name="connsiteX2" fmla="*/ 756041 w 825517"/>
              <a:gd name="connsiteY2" fmla="*/ 0 h 416846"/>
              <a:gd name="connsiteX3" fmla="*/ 825517 w 825517"/>
              <a:gd name="connsiteY3" fmla="*/ 69476 h 416846"/>
              <a:gd name="connsiteX4" fmla="*/ 825517 w 825517"/>
              <a:gd name="connsiteY4" fmla="*/ 347370 h 416846"/>
              <a:gd name="connsiteX5" fmla="*/ 756041 w 825517"/>
              <a:gd name="connsiteY5" fmla="*/ 416846 h 416846"/>
              <a:gd name="connsiteX6" fmla="*/ 69476 w 825517"/>
              <a:gd name="connsiteY6" fmla="*/ 416846 h 416846"/>
              <a:gd name="connsiteX7" fmla="*/ 0 w 825517"/>
              <a:gd name="connsiteY7" fmla="*/ 347370 h 416846"/>
              <a:gd name="connsiteX8" fmla="*/ 0 w 825517"/>
              <a:gd name="connsiteY8" fmla="*/ 69476 h 416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5517" h="416846">
                <a:moveTo>
                  <a:pt x="0" y="69476"/>
                </a:moveTo>
                <a:cubicBezTo>
                  <a:pt x="0" y="31105"/>
                  <a:pt x="31105" y="0"/>
                  <a:pt x="69476" y="0"/>
                </a:cubicBezTo>
                <a:lnTo>
                  <a:pt x="756041" y="0"/>
                </a:lnTo>
                <a:cubicBezTo>
                  <a:pt x="794412" y="0"/>
                  <a:pt x="825517" y="31105"/>
                  <a:pt x="825517" y="69476"/>
                </a:cubicBezTo>
                <a:lnTo>
                  <a:pt x="825517" y="347370"/>
                </a:lnTo>
                <a:cubicBezTo>
                  <a:pt x="825517" y="385741"/>
                  <a:pt x="794412" y="416846"/>
                  <a:pt x="756041" y="416846"/>
                </a:cubicBezTo>
                <a:lnTo>
                  <a:pt x="69476" y="416846"/>
                </a:lnTo>
                <a:cubicBezTo>
                  <a:pt x="31105" y="416846"/>
                  <a:pt x="0" y="385741"/>
                  <a:pt x="0" y="347370"/>
                </a:cubicBezTo>
                <a:lnTo>
                  <a:pt x="0" y="69476"/>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6549" tIns="96549" rIns="96549" bIns="96549"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rgbClr val="FF0000"/>
                </a:solidFill>
              </a:rPr>
              <a:t>2</a:t>
            </a:r>
          </a:p>
        </p:txBody>
      </p:sp>
      <p:sp>
        <p:nvSpPr>
          <p:cNvPr id="25" name="Rectángulo 24">
            <a:extLst>
              <a:ext uri="{FF2B5EF4-FFF2-40B4-BE49-F238E27FC236}">
                <a16:creationId xmlns:a16="http://schemas.microsoft.com/office/drawing/2014/main" id="{1E3D8667-2A5A-0B43-E367-0D0C31CA3F7B}"/>
              </a:ext>
            </a:extLst>
          </p:cNvPr>
          <p:cNvSpPr/>
          <p:nvPr/>
        </p:nvSpPr>
        <p:spPr>
          <a:xfrm>
            <a:off x="580989" y="4699964"/>
            <a:ext cx="4461131" cy="7537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tx1"/>
                </a:solidFill>
              </a:rPr>
              <a:t>Nivel de voluntariedad </a:t>
            </a:r>
          </a:p>
          <a:p>
            <a:pPr algn="ctr"/>
            <a:r>
              <a:rPr lang="es-ES" sz="2400" dirty="0">
                <a:solidFill>
                  <a:schemeClr val="tx1"/>
                </a:solidFill>
              </a:rPr>
              <a:t>(aquí estamos)</a:t>
            </a:r>
          </a:p>
        </p:txBody>
      </p:sp>
      <p:sp>
        <p:nvSpPr>
          <p:cNvPr id="34" name="Rectángulo 33">
            <a:extLst>
              <a:ext uri="{FF2B5EF4-FFF2-40B4-BE49-F238E27FC236}">
                <a16:creationId xmlns:a16="http://schemas.microsoft.com/office/drawing/2014/main" id="{9305830C-C743-78A1-01E0-96CF98B0D486}"/>
              </a:ext>
            </a:extLst>
          </p:cNvPr>
          <p:cNvSpPr/>
          <p:nvPr/>
        </p:nvSpPr>
        <p:spPr>
          <a:xfrm>
            <a:off x="580769" y="4699964"/>
            <a:ext cx="4461131" cy="7537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tx1"/>
                </a:solidFill>
              </a:rPr>
              <a:t>Nivel de voluntariedad </a:t>
            </a:r>
          </a:p>
          <a:p>
            <a:pPr algn="ctr"/>
            <a:r>
              <a:rPr lang="es-ES" sz="2400" dirty="0">
                <a:solidFill>
                  <a:schemeClr val="tx1"/>
                </a:solidFill>
              </a:rPr>
              <a:t>(aquí estamos)</a:t>
            </a:r>
          </a:p>
        </p:txBody>
      </p:sp>
      <p:sp>
        <p:nvSpPr>
          <p:cNvPr id="8" name="Rectángulo 7"/>
          <p:cNvSpPr/>
          <p:nvPr/>
        </p:nvSpPr>
        <p:spPr>
          <a:xfrm>
            <a:off x="444843" y="2959100"/>
            <a:ext cx="4482757" cy="11172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tx1"/>
                </a:solidFill>
              </a:rPr>
              <a:t>Nivel de exigibilidad no jurídica:  se pide informar, pero sin consecuencias. </a:t>
            </a:r>
          </a:p>
        </p:txBody>
      </p:sp>
      <p:sp>
        <p:nvSpPr>
          <p:cNvPr id="7" name="Rectángulo 6"/>
          <p:cNvSpPr/>
          <p:nvPr/>
        </p:nvSpPr>
        <p:spPr>
          <a:xfrm>
            <a:off x="444843" y="1143348"/>
            <a:ext cx="4482757" cy="16644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tx1"/>
                </a:solidFill>
              </a:rPr>
              <a:t>Nivel de exigibilidad ante tribunales: esto es una aspiración, y ya tenemos la Directiva de diligencia debida aprobada en EU</a:t>
            </a:r>
          </a:p>
        </p:txBody>
      </p:sp>
      <p:sp>
        <p:nvSpPr>
          <p:cNvPr id="36" name="Rectángulo 35">
            <a:extLst>
              <a:ext uri="{FF2B5EF4-FFF2-40B4-BE49-F238E27FC236}">
                <a16:creationId xmlns:a16="http://schemas.microsoft.com/office/drawing/2014/main" id="{3EED0A57-3F6C-B7E7-AF4F-0DFC31BBE26A}"/>
              </a:ext>
            </a:extLst>
          </p:cNvPr>
          <p:cNvSpPr/>
          <p:nvPr/>
        </p:nvSpPr>
        <p:spPr>
          <a:xfrm>
            <a:off x="580549" y="4699964"/>
            <a:ext cx="4461131" cy="7537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tx1"/>
                </a:solidFill>
              </a:rPr>
              <a:t>Nivel de voluntariedad </a:t>
            </a:r>
          </a:p>
          <a:p>
            <a:pPr algn="ctr"/>
            <a:r>
              <a:rPr lang="es-ES" sz="2400" dirty="0">
                <a:solidFill>
                  <a:schemeClr val="tx1"/>
                </a:solidFill>
              </a:rPr>
              <a:t>(aquí estamos)</a:t>
            </a:r>
          </a:p>
        </p:txBody>
      </p:sp>
      <p:sp>
        <p:nvSpPr>
          <p:cNvPr id="38" name="Forma libre: forma 37">
            <a:extLst>
              <a:ext uri="{FF2B5EF4-FFF2-40B4-BE49-F238E27FC236}">
                <a16:creationId xmlns:a16="http://schemas.microsoft.com/office/drawing/2014/main" id="{EDBFD65D-C24B-F6B5-7FCE-FECA239F1631}"/>
              </a:ext>
            </a:extLst>
          </p:cNvPr>
          <p:cNvSpPr/>
          <p:nvPr/>
        </p:nvSpPr>
        <p:spPr>
          <a:xfrm>
            <a:off x="5348906" y="4489659"/>
            <a:ext cx="6114044" cy="1101568"/>
          </a:xfrm>
          <a:custGeom>
            <a:avLst/>
            <a:gdLst>
              <a:gd name="connsiteX0" fmla="*/ 0 w 6114044"/>
              <a:gd name="connsiteY0" fmla="*/ 183598 h 1101568"/>
              <a:gd name="connsiteX1" fmla="*/ 183598 w 6114044"/>
              <a:gd name="connsiteY1" fmla="*/ 0 h 1101568"/>
              <a:gd name="connsiteX2" fmla="*/ 5930446 w 6114044"/>
              <a:gd name="connsiteY2" fmla="*/ 0 h 1101568"/>
              <a:gd name="connsiteX3" fmla="*/ 6114044 w 6114044"/>
              <a:gd name="connsiteY3" fmla="*/ 183598 h 1101568"/>
              <a:gd name="connsiteX4" fmla="*/ 6114044 w 6114044"/>
              <a:gd name="connsiteY4" fmla="*/ 917970 h 1101568"/>
              <a:gd name="connsiteX5" fmla="*/ 5930446 w 6114044"/>
              <a:gd name="connsiteY5" fmla="*/ 1101568 h 1101568"/>
              <a:gd name="connsiteX6" fmla="*/ 183598 w 6114044"/>
              <a:gd name="connsiteY6" fmla="*/ 1101568 h 1101568"/>
              <a:gd name="connsiteX7" fmla="*/ 0 w 6114044"/>
              <a:gd name="connsiteY7" fmla="*/ 917970 h 1101568"/>
              <a:gd name="connsiteX8" fmla="*/ 0 w 6114044"/>
              <a:gd name="connsiteY8" fmla="*/ 183598 h 110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4044" h="1101568">
                <a:moveTo>
                  <a:pt x="0" y="183598"/>
                </a:moveTo>
                <a:cubicBezTo>
                  <a:pt x="0" y="82200"/>
                  <a:pt x="82200" y="0"/>
                  <a:pt x="183598" y="0"/>
                </a:cubicBezTo>
                <a:lnTo>
                  <a:pt x="5930446" y="0"/>
                </a:lnTo>
                <a:cubicBezTo>
                  <a:pt x="6031844" y="0"/>
                  <a:pt x="6114044" y="82200"/>
                  <a:pt x="6114044" y="183598"/>
                </a:cubicBezTo>
                <a:lnTo>
                  <a:pt x="6114044" y="917970"/>
                </a:lnTo>
                <a:cubicBezTo>
                  <a:pt x="6114044" y="1019368"/>
                  <a:pt x="6031844" y="1101568"/>
                  <a:pt x="5930446" y="1101568"/>
                </a:cubicBezTo>
                <a:lnTo>
                  <a:pt x="183598" y="1101568"/>
                </a:lnTo>
                <a:cubicBezTo>
                  <a:pt x="82200" y="1101568"/>
                  <a:pt x="0" y="1019368"/>
                  <a:pt x="0" y="917970"/>
                </a:cubicBezTo>
                <a:lnTo>
                  <a:pt x="0" y="18359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9974" tIns="129974" rIns="129974" bIns="129974" numCol="1" spcCol="1270" anchor="ctr" anchorCtr="0">
            <a:noAutofit/>
          </a:bodyPr>
          <a:lstStyle/>
          <a:p>
            <a:pPr marL="0" lvl="0" indent="0" algn="ctr" defTabSz="889000">
              <a:lnSpc>
                <a:spcPct val="90000"/>
              </a:lnSpc>
              <a:spcBef>
                <a:spcPct val="0"/>
              </a:spcBef>
              <a:spcAft>
                <a:spcPct val="35000"/>
              </a:spcAft>
              <a:buNone/>
            </a:pPr>
            <a:r>
              <a:rPr lang="es-ES" sz="2000" b="1" kern="1200" dirty="0"/>
              <a:t>RSC: Responsabilidad Social Corporativa</a:t>
            </a:r>
          </a:p>
          <a:p>
            <a:pPr marL="0" lvl="0" indent="0" algn="ctr" defTabSz="889000">
              <a:lnSpc>
                <a:spcPct val="90000"/>
              </a:lnSpc>
              <a:spcBef>
                <a:spcPct val="0"/>
              </a:spcBef>
              <a:spcAft>
                <a:spcPct val="35000"/>
              </a:spcAft>
              <a:buNone/>
            </a:pPr>
            <a:r>
              <a:rPr lang="es-ES" sz="2000" b="1" kern="1200" dirty="0"/>
              <a:t>ISR: Inversión Socialmente Responsable</a:t>
            </a:r>
          </a:p>
          <a:p>
            <a:pPr marL="0" lvl="0" indent="0" algn="ctr" defTabSz="889000">
              <a:lnSpc>
                <a:spcPct val="90000"/>
              </a:lnSpc>
              <a:spcBef>
                <a:spcPct val="0"/>
              </a:spcBef>
              <a:spcAft>
                <a:spcPct val="35000"/>
              </a:spcAft>
              <a:buNone/>
            </a:pPr>
            <a:r>
              <a:rPr lang="es-ES" sz="2000" b="1" kern="1200" dirty="0"/>
              <a:t>ESG: </a:t>
            </a:r>
            <a:r>
              <a:rPr lang="es-ES" sz="2000" b="1" kern="1200" dirty="0" err="1"/>
              <a:t>Environmental</a:t>
            </a:r>
            <a:r>
              <a:rPr lang="es-ES" sz="2000" b="1" kern="1200" dirty="0"/>
              <a:t>, Social &amp;</a:t>
            </a:r>
            <a:r>
              <a:rPr lang="es-ES" sz="2000" kern="1200" dirty="0"/>
              <a:t> </a:t>
            </a:r>
            <a:r>
              <a:rPr lang="es-ES" sz="2000" b="1" kern="1200" dirty="0" err="1"/>
              <a:t>Governance</a:t>
            </a:r>
            <a:endParaRPr lang="es-ES" sz="2000" b="1" kern="1200" dirty="0">
              <a:solidFill>
                <a:srgbClr val="FF0000"/>
              </a:solidFill>
            </a:endParaRPr>
          </a:p>
        </p:txBody>
      </p:sp>
      <p:sp>
        <p:nvSpPr>
          <p:cNvPr id="39" name="Rectángulo 38">
            <a:extLst>
              <a:ext uri="{FF2B5EF4-FFF2-40B4-BE49-F238E27FC236}">
                <a16:creationId xmlns:a16="http://schemas.microsoft.com/office/drawing/2014/main" id="{396EA168-308D-6B38-F6C9-B8E1D39047C8}"/>
              </a:ext>
            </a:extLst>
          </p:cNvPr>
          <p:cNvSpPr/>
          <p:nvPr/>
        </p:nvSpPr>
        <p:spPr>
          <a:xfrm>
            <a:off x="580329" y="4699964"/>
            <a:ext cx="4461131" cy="7537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solidFill>
                  <a:schemeClr val="tx1"/>
                </a:solidFill>
              </a:rPr>
              <a:t>Nivel de voluntariedad </a:t>
            </a:r>
          </a:p>
          <a:p>
            <a:pPr algn="ctr"/>
            <a:r>
              <a:rPr lang="es-ES" sz="2400" dirty="0">
                <a:solidFill>
                  <a:schemeClr val="tx1"/>
                </a:solidFill>
              </a:rPr>
              <a:t>(aquí estamos)</a:t>
            </a:r>
          </a:p>
        </p:txBody>
      </p:sp>
      <p:sp>
        <p:nvSpPr>
          <p:cNvPr id="37" name="Forma libre: forma 36">
            <a:extLst>
              <a:ext uri="{FF2B5EF4-FFF2-40B4-BE49-F238E27FC236}">
                <a16:creationId xmlns:a16="http://schemas.microsoft.com/office/drawing/2014/main" id="{EA24B019-AD77-037B-C965-46467EC40453}"/>
              </a:ext>
            </a:extLst>
          </p:cNvPr>
          <p:cNvSpPr/>
          <p:nvPr/>
        </p:nvSpPr>
        <p:spPr>
          <a:xfrm>
            <a:off x="10772703" y="4297166"/>
            <a:ext cx="838308" cy="438738"/>
          </a:xfrm>
          <a:custGeom>
            <a:avLst/>
            <a:gdLst>
              <a:gd name="connsiteX0" fmla="*/ 0 w 838308"/>
              <a:gd name="connsiteY0" fmla="*/ 73124 h 438738"/>
              <a:gd name="connsiteX1" fmla="*/ 73124 w 838308"/>
              <a:gd name="connsiteY1" fmla="*/ 0 h 438738"/>
              <a:gd name="connsiteX2" fmla="*/ 765184 w 838308"/>
              <a:gd name="connsiteY2" fmla="*/ 0 h 438738"/>
              <a:gd name="connsiteX3" fmla="*/ 838308 w 838308"/>
              <a:gd name="connsiteY3" fmla="*/ 73124 h 438738"/>
              <a:gd name="connsiteX4" fmla="*/ 838308 w 838308"/>
              <a:gd name="connsiteY4" fmla="*/ 365614 h 438738"/>
              <a:gd name="connsiteX5" fmla="*/ 765184 w 838308"/>
              <a:gd name="connsiteY5" fmla="*/ 438738 h 438738"/>
              <a:gd name="connsiteX6" fmla="*/ 73124 w 838308"/>
              <a:gd name="connsiteY6" fmla="*/ 438738 h 438738"/>
              <a:gd name="connsiteX7" fmla="*/ 0 w 838308"/>
              <a:gd name="connsiteY7" fmla="*/ 365614 h 438738"/>
              <a:gd name="connsiteX8" fmla="*/ 0 w 838308"/>
              <a:gd name="connsiteY8" fmla="*/ 73124 h 43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8308" h="438738">
                <a:moveTo>
                  <a:pt x="0" y="73124"/>
                </a:moveTo>
                <a:cubicBezTo>
                  <a:pt x="0" y="32739"/>
                  <a:pt x="32739" y="0"/>
                  <a:pt x="73124" y="0"/>
                </a:cubicBezTo>
                <a:lnTo>
                  <a:pt x="765184" y="0"/>
                </a:lnTo>
                <a:cubicBezTo>
                  <a:pt x="805569" y="0"/>
                  <a:pt x="838308" y="32739"/>
                  <a:pt x="838308" y="73124"/>
                </a:cubicBezTo>
                <a:lnTo>
                  <a:pt x="838308" y="365614"/>
                </a:lnTo>
                <a:cubicBezTo>
                  <a:pt x="838308" y="405999"/>
                  <a:pt x="805569" y="438738"/>
                  <a:pt x="765184" y="438738"/>
                </a:cubicBezTo>
                <a:lnTo>
                  <a:pt x="73124" y="438738"/>
                </a:lnTo>
                <a:cubicBezTo>
                  <a:pt x="32739" y="438738"/>
                  <a:pt x="0" y="405999"/>
                  <a:pt x="0" y="365614"/>
                </a:cubicBezTo>
                <a:lnTo>
                  <a:pt x="0" y="73124"/>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7617" tIns="97617" rIns="97617" bIns="97617"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rgbClr val="FF0000"/>
                </a:solidFill>
              </a:rPr>
              <a:t>1</a:t>
            </a:r>
          </a:p>
        </p:txBody>
      </p:sp>
    </p:spTree>
    <p:extLst>
      <p:ext uri="{BB962C8B-B14F-4D97-AF65-F5344CB8AC3E}">
        <p14:creationId xmlns:p14="http://schemas.microsoft.com/office/powerpoint/2010/main" val="555446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1000"/>
                                        <p:tgtEl>
                                          <p:spTgt spid="20"/>
                                        </p:tgtEl>
                                      </p:cBhvr>
                                    </p:animEffect>
                                    <p:anim calcmode="lin" valueType="num">
                                      <p:cBhvr>
                                        <p:cTn id="25" dur="1000" fill="hold"/>
                                        <p:tgtEl>
                                          <p:spTgt spid="20"/>
                                        </p:tgtEl>
                                        <p:attrNameLst>
                                          <p:attrName>ppt_x</p:attrName>
                                        </p:attrNameLst>
                                      </p:cBhvr>
                                      <p:tavLst>
                                        <p:tav tm="0">
                                          <p:val>
                                            <p:strVal val="#ppt_x"/>
                                          </p:val>
                                        </p:tav>
                                        <p:tav tm="100000">
                                          <p:val>
                                            <p:strVal val="#ppt_x"/>
                                          </p:val>
                                        </p:tav>
                                      </p:tavLst>
                                    </p:anim>
                                    <p:anim calcmode="lin" valueType="num">
                                      <p:cBhvr>
                                        <p:cTn id="26" dur="1000" fill="hold"/>
                                        <p:tgtEl>
                                          <p:spTgt spid="2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1000"/>
                                        <p:tgtEl>
                                          <p:spTgt spid="23"/>
                                        </p:tgtEl>
                                      </p:cBhvr>
                                    </p:animEffect>
                                    <p:anim calcmode="lin" valueType="num">
                                      <p:cBhvr>
                                        <p:cTn id="35" dur="1000" fill="hold"/>
                                        <p:tgtEl>
                                          <p:spTgt spid="23"/>
                                        </p:tgtEl>
                                        <p:attrNameLst>
                                          <p:attrName>ppt_x</p:attrName>
                                        </p:attrNameLst>
                                      </p:cBhvr>
                                      <p:tavLst>
                                        <p:tav tm="0">
                                          <p:val>
                                            <p:strVal val="#ppt_x"/>
                                          </p:val>
                                        </p:tav>
                                        <p:tav tm="100000">
                                          <p:val>
                                            <p:strVal val="#ppt_x"/>
                                          </p:val>
                                        </p:tav>
                                      </p:tavLst>
                                    </p:anim>
                                    <p:anim calcmode="lin" valueType="num">
                                      <p:cBhvr>
                                        <p:cTn id="3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1000"/>
                                        <p:tgtEl>
                                          <p:spTgt spid="19"/>
                                        </p:tgtEl>
                                      </p:cBhvr>
                                    </p:animEffect>
                                    <p:anim calcmode="lin" valueType="num">
                                      <p:cBhvr>
                                        <p:cTn id="47" dur="1000" fill="hold"/>
                                        <p:tgtEl>
                                          <p:spTgt spid="19"/>
                                        </p:tgtEl>
                                        <p:attrNameLst>
                                          <p:attrName>ppt_x</p:attrName>
                                        </p:attrNameLst>
                                      </p:cBhvr>
                                      <p:tavLst>
                                        <p:tav tm="0">
                                          <p:val>
                                            <p:strVal val="#ppt_x"/>
                                          </p:val>
                                        </p:tav>
                                        <p:tav tm="100000">
                                          <p:val>
                                            <p:strVal val="#ppt_x"/>
                                          </p:val>
                                        </p:tav>
                                      </p:tavLst>
                                    </p:anim>
                                    <p:anim calcmode="lin" valueType="num">
                                      <p:cBhvr>
                                        <p:cTn id="48" dur="1000" fill="hold"/>
                                        <p:tgtEl>
                                          <p:spTgt spid="1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1000"/>
                                        <p:tgtEl>
                                          <p:spTgt spid="22"/>
                                        </p:tgtEl>
                                      </p:cBhvr>
                                    </p:animEffect>
                                    <p:anim calcmode="lin" valueType="num">
                                      <p:cBhvr>
                                        <p:cTn id="52" dur="1000" fill="hold"/>
                                        <p:tgtEl>
                                          <p:spTgt spid="22"/>
                                        </p:tgtEl>
                                        <p:attrNameLst>
                                          <p:attrName>ppt_x</p:attrName>
                                        </p:attrNameLst>
                                      </p:cBhvr>
                                      <p:tavLst>
                                        <p:tav tm="0">
                                          <p:val>
                                            <p:strVal val="#ppt_x"/>
                                          </p:val>
                                        </p:tav>
                                        <p:tav tm="100000">
                                          <p:val>
                                            <p:strVal val="#ppt_x"/>
                                          </p:val>
                                        </p:tav>
                                      </p:tavLst>
                                    </p:anim>
                                    <p:anim calcmode="lin" valueType="num">
                                      <p:cBhvr>
                                        <p:cTn id="5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3" grpId="0" animBg="1"/>
      <p:bldP spid="8" grpId="0" animBg="1"/>
      <p:bldP spid="7" grpId="0" animBg="1"/>
      <p:bldP spid="38" grpId="0" animBg="1"/>
      <p:bldP spid="39" grpId="0" animBg="1"/>
      <p:bldP spid="3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p:cNvSpPr>
            <a:spLocks noGrp="1"/>
          </p:cNvSpPr>
          <p:nvPr>
            <p:ph type="ftr" sz="quarter" idx="4294967295"/>
          </p:nvPr>
        </p:nvSpPr>
        <p:spPr/>
        <p:txBody>
          <a:bodyPr/>
          <a:lstStyle/>
          <a:p>
            <a:pPr>
              <a:defRPr/>
            </a:pPr>
            <a:r>
              <a:rPr lang="es-ES" altLang="es-ES" dirty="0"/>
              <a:t>				</a:t>
            </a:r>
            <a:r>
              <a:rPr lang="es-ES" altLang="es-ES" sz="3200" b="1" dirty="0">
                <a:solidFill>
                  <a:schemeClr val="bg1"/>
                </a:solidFill>
              </a:rPr>
              <a:t>Empresa y derechos humanos</a:t>
            </a:r>
          </a:p>
        </p:txBody>
      </p:sp>
      <p:sp>
        <p:nvSpPr>
          <p:cNvPr id="9" name="CuadroTexto 8">
            <a:extLst>
              <a:ext uri="{FF2B5EF4-FFF2-40B4-BE49-F238E27FC236}">
                <a16:creationId xmlns:a16="http://schemas.microsoft.com/office/drawing/2014/main" id="{C9DB38E4-849F-9246-759A-F2FE1FD00B7A}"/>
              </a:ext>
            </a:extLst>
          </p:cNvPr>
          <p:cNvSpPr txBox="1"/>
          <p:nvPr/>
        </p:nvSpPr>
        <p:spPr>
          <a:xfrm>
            <a:off x="4603316" y="6009269"/>
            <a:ext cx="6100174" cy="369332"/>
          </a:xfrm>
          <a:prstGeom prst="rect">
            <a:avLst/>
          </a:prstGeom>
          <a:noFill/>
        </p:spPr>
        <p:txBody>
          <a:bodyPr wrap="square">
            <a:spAutoFit/>
          </a:bodyPr>
          <a:lstStyle/>
          <a:p>
            <a:r>
              <a:rPr lang="en-GB" dirty="0">
                <a:hlinkClick r:id="rId3"/>
              </a:rPr>
              <a:t>https://youtu.be/BCoL6JVZHrA</a:t>
            </a:r>
            <a:r>
              <a:rPr lang="en-GB" dirty="0"/>
              <a:t> </a:t>
            </a:r>
          </a:p>
        </p:txBody>
      </p:sp>
      <p:pic>
        <p:nvPicPr>
          <p:cNvPr id="11" name="Imagen 10">
            <a:hlinkClick r:id="rId3"/>
            <a:extLst>
              <a:ext uri="{FF2B5EF4-FFF2-40B4-BE49-F238E27FC236}">
                <a16:creationId xmlns:a16="http://schemas.microsoft.com/office/drawing/2014/main" id="{444E8E1D-95C5-26DF-3415-726C8A74E80D}"/>
              </a:ext>
            </a:extLst>
          </p:cNvPr>
          <p:cNvPicPr>
            <a:picLocks noChangeAspect="1"/>
          </p:cNvPicPr>
          <p:nvPr/>
        </p:nvPicPr>
        <p:blipFill rotWithShape="1">
          <a:blip r:embed="rId4"/>
          <a:srcRect l="7295" t="25023" r="41746" b="23836"/>
          <a:stretch/>
        </p:blipFill>
        <p:spPr>
          <a:xfrm>
            <a:off x="1766459" y="848731"/>
            <a:ext cx="8659082" cy="4888190"/>
          </a:xfrm>
          <a:prstGeom prst="rect">
            <a:avLst/>
          </a:prstGeom>
        </p:spPr>
      </p:pic>
    </p:spTree>
    <p:extLst>
      <p:ext uri="{BB962C8B-B14F-4D97-AF65-F5344CB8AC3E}">
        <p14:creationId xmlns:p14="http://schemas.microsoft.com/office/powerpoint/2010/main" val="2400920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377190" y="594360"/>
            <a:ext cx="11635740" cy="5909310"/>
          </a:xfrm>
        </p:spPr>
        <p:txBody>
          <a:bodyPr>
            <a:normAutofit fontScale="32500" lnSpcReduction="20000"/>
          </a:bodyPr>
          <a:lstStyle/>
          <a:p>
            <a:pPr algn="l">
              <a:defRPr/>
            </a:pPr>
            <a:endParaRPr lang="es-ES" sz="3200" dirty="0"/>
          </a:p>
          <a:p>
            <a:pPr algn="l">
              <a:defRPr/>
            </a:pPr>
            <a:r>
              <a:rPr lang="es-ES" sz="8600" dirty="0"/>
              <a:t>¿Cuestión de ética (voluntariedad) o de derechos humanos (con legislación que sirva para reclamar incumplimientos)? Enfoque de gobernanza digital tiene consenso.</a:t>
            </a:r>
          </a:p>
          <a:p>
            <a:pPr algn="l">
              <a:defRPr/>
            </a:pPr>
            <a:r>
              <a:rPr lang="es-ES" sz="8600" dirty="0"/>
              <a:t>El </a:t>
            </a:r>
            <a:r>
              <a:rPr lang="es-ES" sz="8600" b="1" dirty="0">
                <a:solidFill>
                  <a:srgbClr val="FF0000"/>
                </a:solidFill>
              </a:rPr>
              <a:t>tratado de empresa y derechos humanos </a:t>
            </a:r>
            <a:r>
              <a:rPr lang="es-ES" sz="8600" dirty="0"/>
              <a:t>está paralizado en la Ginebra. </a:t>
            </a:r>
          </a:p>
          <a:p>
            <a:pPr algn="l">
              <a:defRPr/>
            </a:pPr>
            <a:endParaRPr lang="es-ES" sz="9600" dirty="0"/>
          </a:p>
          <a:p>
            <a:pPr algn="l">
              <a:defRPr/>
            </a:pPr>
            <a:endParaRPr lang="es-ES" sz="9600" dirty="0"/>
          </a:p>
          <a:p>
            <a:pPr algn="l"/>
            <a:endParaRPr lang="es-ES" sz="9600" dirty="0"/>
          </a:p>
          <a:p>
            <a:pPr algn="l"/>
            <a:endParaRPr lang="es-ES" sz="9600" dirty="0"/>
          </a:p>
          <a:p>
            <a:pPr algn="l">
              <a:defRPr/>
            </a:pPr>
            <a:endParaRPr lang="es-ES" sz="9600" dirty="0">
              <a:hlinkClick r:id="rId3"/>
            </a:endParaRPr>
          </a:p>
          <a:p>
            <a:pPr algn="l">
              <a:defRPr/>
            </a:pPr>
            <a:endParaRPr lang="es-ES" sz="9600" dirty="0">
              <a:hlinkClick r:id="rId3"/>
            </a:endParaRPr>
          </a:p>
          <a:p>
            <a:pPr>
              <a:defRPr/>
            </a:pPr>
            <a:endParaRPr lang="es-ES" sz="6000" dirty="0"/>
          </a:p>
          <a:p>
            <a:pPr>
              <a:defRPr/>
            </a:pPr>
            <a:r>
              <a:rPr lang="es-ES" dirty="0"/>
              <a:t> </a:t>
            </a:r>
          </a:p>
          <a:p>
            <a:endParaRPr lang="es-ES" dirty="0"/>
          </a:p>
        </p:txBody>
      </p:sp>
      <p:sp>
        <p:nvSpPr>
          <p:cNvPr id="4" name="Marcador de pie de página 3"/>
          <p:cNvSpPr>
            <a:spLocks noGrp="1"/>
          </p:cNvSpPr>
          <p:nvPr>
            <p:ph type="ftr" sz="quarter" idx="4294967295"/>
          </p:nvPr>
        </p:nvSpPr>
        <p:spPr/>
        <p:txBody>
          <a:bodyPr/>
          <a:lstStyle/>
          <a:p>
            <a:pPr>
              <a:defRPr/>
            </a:pPr>
            <a:r>
              <a:rPr lang="es-ES" altLang="es-ES" dirty="0"/>
              <a:t>				</a:t>
            </a:r>
            <a:r>
              <a:rPr lang="es-ES" altLang="es-ES" sz="3200" b="1" dirty="0">
                <a:solidFill>
                  <a:schemeClr val="bg1"/>
                </a:solidFill>
              </a:rPr>
              <a:t>Empresa y derechos humanos</a:t>
            </a:r>
          </a:p>
        </p:txBody>
      </p:sp>
      <p:pic>
        <p:nvPicPr>
          <p:cNvPr id="5" name="Imagen 4"/>
          <p:cNvPicPr>
            <a:picLocks noChangeAspect="1"/>
          </p:cNvPicPr>
          <p:nvPr/>
        </p:nvPicPr>
        <p:blipFill>
          <a:blip r:embed="rId4">
            <a:extLst>
              <a:ext uri="{28A0092B-C50C-407E-A947-70E740481C1C}">
                <a14:useLocalDpi xmlns:a14="http://schemas.microsoft.com/office/drawing/2010/main" val="0"/>
              </a:ext>
            </a:extLst>
          </a:blip>
          <a:srcRect t="8614"/>
          <a:stretch>
            <a:fillRect/>
          </a:stretch>
        </p:blipFill>
        <p:spPr bwMode="auto">
          <a:xfrm>
            <a:off x="1474923" y="2258325"/>
            <a:ext cx="9242153" cy="4342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84449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Debida diligencia</a:t>
            </a:r>
          </a:p>
        </p:txBody>
      </p:sp>
      <p:sp>
        <p:nvSpPr>
          <p:cNvPr id="3" name="Marcador de contenido 2"/>
          <p:cNvSpPr>
            <a:spLocks noGrp="1"/>
          </p:cNvSpPr>
          <p:nvPr>
            <p:ph idx="1"/>
          </p:nvPr>
        </p:nvSpPr>
        <p:spPr>
          <a:xfrm>
            <a:off x="116377" y="1408154"/>
            <a:ext cx="11986953" cy="4479079"/>
          </a:xfrm>
        </p:spPr>
        <p:txBody>
          <a:bodyPr>
            <a:normAutofit lnSpcReduction="10000"/>
          </a:bodyPr>
          <a:lstStyle/>
          <a:p>
            <a:r>
              <a:rPr lang="es-ES" sz="3600" dirty="0"/>
              <a:t>En abril de 2024, se aprobó en Europa la </a:t>
            </a:r>
            <a:r>
              <a:rPr lang="es-ES" sz="3600" b="1" dirty="0">
                <a:solidFill>
                  <a:srgbClr val="FF0000"/>
                </a:solidFill>
              </a:rPr>
              <a:t>Directiva sobre la diligencia debida </a:t>
            </a:r>
            <a:r>
              <a:rPr lang="es-ES" sz="3600" b="1" dirty="0"/>
              <a:t>de las empresas en materia de sostenibilidad (asuntos de impacto ambiental, corrupción, género, derechos laborales, </a:t>
            </a:r>
            <a:r>
              <a:rPr lang="es-ES" sz="3600" b="1" dirty="0" err="1"/>
              <a:t>etc</a:t>
            </a:r>
            <a:r>
              <a:rPr lang="es-ES" sz="3600" b="1" dirty="0"/>
              <a:t>)</a:t>
            </a:r>
            <a:r>
              <a:rPr lang="es-ES" sz="3600" dirty="0"/>
              <a:t> que se retrasará dos años desde que se apruebe. </a:t>
            </a:r>
          </a:p>
          <a:p>
            <a:pPr marL="0" indent="0">
              <a:buNone/>
            </a:pPr>
            <a:r>
              <a:rPr lang="es-ES" dirty="0">
                <a:hlinkClick r:id="rId3"/>
              </a:rPr>
              <a:t>CSDDD: aprobada la Directiva sobre diligencia debida de empresas · Pacto Mundial</a:t>
            </a:r>
            <a:endParaRPr lang="es-ES" dirty="0"/>
          </a:p>
          <a:p>
            <a:r>
              <a:rPr lang="es-ES" sz="3600" dirty="0"/>
              <a:t>En algunos países europeos ya se han aprobado leyes sobre esto: Francia, Países Bajos, Alemania y Noruega. </a:t>
            </a:r>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41</a:t>
            </a:fld>
            <a:endParaRPr lang="es-ES" dirty="0"/>
          </a:p>
        </p:txBody>
      </p:sp>
    </p:spTree>
    <p:extLst>
      <p:ext uri="{BB962C8B-B14F-4D97-AF65-F5344CB8AC3E}">
        <p14:creationId xmlns:p14="http://schemas.microsoft.com/office/powerpoint/2010/main" val="26203717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Debida diligencia</a:t>
            </a:r>
          </a:p>
        </p:txBody>
      </p:sp>
      <p:sp>
        <p:nvSpPr>
          <p:cNvPr id="3" name="Marcador de contenido 2"/>
          <p:cNvSpPr>
            <a:spLocks noGrp="1"/>
          </p:cNvSpPr>
          <p:nvPr>
            <p:ph idx="1"/>
          </p:nvPr>
        </p:nvSpPr>
        <p:spPr/>
        <p:txBody>
          <a:bodyPr>
            <a:normAutofit/>
          </a:bodyPr>
          <a:lstStyle/>
          <a:p>
            <a:endParaRPr lang="es-ES" b="1" dirty="0"/>
          </a:p>
          <a:p>
            <a:pPr marL="0" indent="0">
              <a:buNone/>
            </a:pPr>
            <a:r>
              <a:rPr lang="es-ES" b="1" dirty="0"/>
              <a:t>La debida diligencia en derechos humanos y medioambientales </a:t>
            </a:r>
            <a:r>
              <a:rPr lang="es-ES" dirty="0"/>
              <a:t>es el proceso por el cual las empresas toman todas las medidas necesarias y eficaces para identificar, prevenir, mitigar, rendir cuentas y responder por los impactos negativos, reales o potenciales de sus propias actividades o las de su cadena de valor. Esto incluye filiales, subcontratistas, proveedores y otras relaciones económicas, en el estado de procedencia o en terceros países.</a:t>
            </a:r>
          </a:p>
          <a:p>
            <a:pPr marL="0" indent="0">
              <a:buNone/>
            </a:pPr>
            <a:endParaRPr lang="es-ES" dirty="0"/>
          </a:p>
          <a:p>
            <a:pPr marL="742950" lvl="1" indent="-285750">
              <a:defRPr/>
            </a:pPr>
            <a:r>
              <a:rPr lang="es-ES" dirty="0">
                <a:solidFill>
                  <a:schemeClr val="tx2"/>
                </a:solidFill>
              </a:rPr>
              <a:t>Cuando se impone la obligación de </a:t>
            </a:r>
            <a:r>
              <a:rPr lang="es-ES" b="1" dirty="0">
                <a:solidFill>
                  <a:srgbClr val="C00000"/>
                </a:solidFill>
              </a:rPr>
              <a:t>debida diligencia </a:t>
            </a:r>
            <a:r>
              <a:rPr lang="es-ES" dirty="0">
                <a:solidFill>
                  <a:schemeClr val="tx2"/>
                </a:solidFill>
              </a:rPr>
              <a:t>a algunas empresas,</a:t>
            </a:r>
          </a:p>
          <a:p>
            <a:pPr marL="742950" lvl="1" indent="-285750">
              <a:defRPr/>
            </a:pPr>
            <a:r>
              <a:rPr lang="es-ES" dirty="0">
                <a:solidFill>
                  <a:schemeClr val="tx2"/>
                </a:solidFill>
              </a:rPr>
              <a:t>Se reconoce la </a:t>
            </a:r>
            <a:r>
              <a:rPr lang="es-ES" b="1" dirty="0">
                <a:solidFill>
                  <a:srgbClr val="C00000"/>
                </a:solidFill>
              </a:rPr>
              <a:t>necesidad de imponer sanciones </a:t>
            </a:r>
            <a:r>
              <a:rPr lang="es-ES" dirty="0">
                <a:solidFill>
                  <a:schemeClr val="tx2"/>
                </a:solidFill>
              </a:rPr>
              <a:t>por el incumplimiento, incluidas las administrativas, y se</a:t>
            </a:r>
          </a:p>
          <a:p>
            <a:pPr marL="742950" lvl="1" indent="-285750">
              <a:defRPr/>
            </a:pPr>
            <a:r>
              <a:rPr lang="es-ES" dirty="0">
                <a:solidFill>
                  <a:schemeClr val="tx2"/>
                </a:solidFill>
              </a:rPr>
              <a:t>crea una </a:t>
            </a:r>
            <a:r>
              <a:rPr lang="es-ES" b="1" dirty="0">
                <a:solidFill>
                  <a:srgbClr val="C00000"/>
                </a:solidFill>
              </a:rPr>
              <a:t>responsabilidad civil por los daños causados </a:t>
            </a:r>
            <a:r>
              <a:rPr lang="es-ES" dirty="0">
                <a:solidFill>
                  <a:schemeClr val="tx2"/>
                </a:solidFill>
              </a:rPr>
              <a:t>o la falta de debida diligencia.</a:t>
            </a:r>
          </a:p>
          <a:p>
            <a:pPr>
              <a:defRPr/>
            </a:pPr>
            <a:endParaRPr lang="es-ES" dirty="0">
              <a:solidFill>
                <a:schemeClr val="tx2"/>
              </a:solidFill>
            </a:endParaRPr>
          </a:p>
          <a:p>
            <a:pPr marL="0" indent="0">
              <a:buNone/>
            </a:pPr>
            <a:endParaRPr lang="es-ES" dirty="0"/>
          </a:p>
          <a:p>
            <a:endParaRPr lang="es-ES" dirty="0"/>
          </a:p>
        </p:txBody>
      </p:sp>
      <p:sp>
        <p:nvSpPr>
          <p:cNvPr id="4" name="Marcador de pie de página 3"/>
          <p:cNvSpPr>
            <a:spLocks noGrp="1"/>
          </p:cNvSpPr>
          <p:nvPr>
            <p:ph type="ftr" sz="quarter" idx="11"/>
          </p:nvPr>
        </p:nvSpPr>
        <p:spPr/>
        <p:txBody>
          <a:bodyPr/>
          <a:lstStyle/>
          <a:p>
            <a:r>
              <a:rPr lang="es-ES"/>
              <a:t>Aspectos Éticos y Sociales</a:t>
            </a:r>
            <a:endParaRPr lang="es-ES" dirty="0"/>
          </a:p>
        </p:txBody>
      </p:sp>
      <p:sp>
        <p:nvSpPr>
          <p:cNvPr id="5" name="Marcador de número de diapositiva 4"/>
          <p:cNvSpPr>
            <a:spLocks noGrp="1"/>
          </p:cNvSpPr>
          <p:nvPr>
            <p:ph type="sldNum" sz="quarter" idx="12"/>
          </p:nvPr>
        </p:nvSpPr>
        <p:spPr/>
        <p:txBody>
          <a:bodyPr/>
          <a:lstStyle/>
          <a:p>
            <a:fld id="{DD78B9B0-B568-4B7D-A141-3C843B6BAC7A}" type="slidenum">
              <a:rPr lang="es-ES" smtClean="0"/>
              <a:pPr/>
              <a:t>42</a:t>
            </a:fld>
            <a:endParaRPr lang="es-ES" dirty="0"/>
          </a:p>
        </p:txBody>
      </p:sp>
    </p:spTree>
    <p:extLst>
      <p:ext uri="{BB962C8B-B14F-4D97-AF65-F5344CB8AC3E}">
        <p14:creationId xmlns:p14="http://schemas.microsoft.com/office/powerpoint/2010/main" val="22922522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Grp="1" noChangeArrowheads="1"/>
          </p:cNvSpPr>
          <p:nvPr>
            <p:ph type="ftr" sz="quarter"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600">
                <a:solidFill>
                  <a:schemeClr val="bg1"/>
                </a:solidFill>
              </a:rPr>
              <a:t> </a:t>
            </a:r>
          </a:p>
          <a:p>
            <a:pPr>
              <a:spcBef>
                <a:spcPct val="0"/>
              </a:spcBef>
              <a:buClrTx/>
              <a:buFontTx/>
              <a:buNone/>
            </a:pPr>
            <a:endParaRPr lang="es-ES" altLang="es-ES" sz="1000">
              <a:solidFill>
                <a:schemeClr val="tx1"/>
              </a:solidFill>
            </a:endParaRPr>
          </a:p>
        </p:txBody>
      </p:sp>
      <p:sp>
        <p:nvSpPr>
          <p:cNvPr id="20483" name="5 Marcador de número de diapositiva"/>
          <p:cNvSpPr txBox="1">
            <a:spLocks noGrp="1"/>
          </p:cNvSpPr>
          <p:nvPr/>
        </p:nvSpPr>
        <p:spPr bwMode="auto">
          <a:xfrm>
            <a:off x="6167439" y="6284913"/>
            <a:ext cx="50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eaLnBrk="1" hangingPunct="1">
              <a:spcBef>
                <a:spcPct val="0"/>
              </a:spcBef>
              <a:buClrTx/>
              <a:buFontTx/>
              <a:buNone/>
            </a:pPr>
            <a:fld id="{B19A2810-AE3E-4365-BDE0-FB1BD5EE23FB}" type="slidenum">
              <a:rPr lang="es-ES" altLang="es-ES" sz="1400">
                <a:solidFill>
                  <a:schemeClr val="bg1"/>
                </a:solidFill>
              </a:rPr>
              <a:pPr eaLnBrk="1" hangingPunct="1">
                <a:spcBef>
                  <a:spcPct val="0"/>
                </a:spcBef>
                <a:buClrTx/>
                <a:buFontTx/>
                <a:buNone/>
              </a:pPr>
              <a:t>43</a:t>
            </a:fld>
            <a:endParaRPr lang="es-ES" altLang="es-ES" sz="1400">
              <a:solidFill>
                <a:schemeClr val="bg1"/>
              </a:solidFill>
            </a:endParaRPr>
          </a:p>
        </p:txBody>
      </p:sp>
      <p:sp>
        <p:nvSpPr>
          <p:cNvPr id="20484" name="Rectangle 6"/>
          <p:cNvSpPr>
            <a:spLocks noGrp="1" noChangeArrowheads="1"/>
          </p:cNvSpPr>
          <p:nvPr>
            <p:ph type="title" idx="4294967295"/>
          </p:nvPr>
        </p:nvSpPr>
        <p:spPr>
          <a:xfrm>
            <a:off x="1444625" y="39688"/>
            <a:ext cx="9144000" cy="520700"/>
          </a:xfrm>
        </p:spPr>
        <p:txBody>
          <a:bodyPr>
            <a:normAutofit fontScale="90000"/>
          </a:bodyPr>
          <a:lstStyle/>
          <a:p>
            <a:r>
              <a:rPr lang="es-ES_tradnl" altLang="es-ES" b="1" dirty="0"/>
              <a:t>RSC Responsabilidad social corporativa</a:t>
            </a:r>
          </a:p>
        </p:txBody>
      </p:sp>
      <p:sp>
        <p:nvSpPr>
          <p:cNvPr id="2" name="1 Rectángulo"/>
          <p:cNvSpPr/>
          <p:nvPr/>
        </p:nvSpPr>
        <p:spPr>
          <a:xfrm>
            <a:off x="2098676" y="549276"/>
            <a:ext cx="8245475" cy="460375"/>
          </a:xfrm>
          <a:prstGeom prst="rect">
            <a:avLst/>
          </a:prstGeom>
        </p:spPr>
        <p:txBody>
          <a:bodyPr>
            <a:spAutoFit/>
          </a:bodyPr>
          <a:lstStyle/>
          <a:p>
            <a:pPr algn="ctr">
              <a:buClr>
                <a:srgbClr val="FA9F00"/>
              </a:buClr>
              <a:buFont typeface="Wingdings" pitchFamily="2" charset="2"/>
              <a:buNone/>
              <a:defRPr/>
            </a:pPr>
            <a:r>
              <a:rPr lang="es-ES_tradnl" altLang="es-ES" sz="2400" dirty="0">
                <a:solidFill>
                  <a:schemeClr val="tx2"/>
                </a:solidFill>
                <a:latin typeface="+mj-lt"/>
              </a:rPr>
              <a:t>No hay una definición universal de la RSC</a:t>
            </a:r>
          </a:p>
        </p:txBody>
      </p:sp>
      <p:sp>
        <p:nvSpPr>
          <p:cNvPr id="20486" name="2 Rectángulo"/>
          <p:cNvSpPr>
            <a:spLocks noChangeArrowheads="1"/>
          </p:cNvSpPr>
          <p:nvPr/>
        </p:nvSpPr>
        <p:spPr bwMode="auto">
          <a:xfrm>
            <a:off x="4224339" y="1009650"/>
            <a:ext cx="4211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800">
                <a:solidFill>
                  <a:schemeClr val="tx1"/>
                </a:solidFill>
                <a:hlinkClick r:id="rId3"/>
              </a:rPr>
              <a:t>http://observatoriorsc.org/la-rsc-que-es/</a:t>
            </a:r>
            <a:endParaRPr lang="es-ES" altLang="es-ES" sz="1800">
              <a:solidFill>
                <a:schemeClr val="tx1"/>
              </a:solidFill>
            </a:endParaRPr>
          </a:p>
        </p:txBody>
      </p:sp>
      <p:pic>
        <p:nvPicPr>
          <p:cNvPr id="20487" name="Picture 2"/>
          <p:cNvPicPr>
            <a:picLocks noChangeAspect="1" noChangeArrowheads="1"/>
          </p:cNvPicPr>
          <p:nvPr/>
        </p:nvPicPr>
        <p:blipFill>
          <a:blip r:embed="rId4">
            <a:extLst>
              <a:ext uri="{28A0092B-C50C-407E-A947-70E740481C1C}">
                <a14:useLocalDpi xmlns:a14="http://schemas.microsoft.com/office/drawing/2010/main" val="0"/>
              </a:ext>
            </a:extLst>
          </a:blip>
          <a:srcRect l="16745" t="21786" r="19768" b="24960"/>
          <a:stretch>
            <a:fillRect/>
          </a:stretch>
        </p:blipFill>
        <p:spPr bwMode="auto">
          <a:xfrm>
            <a:off x="1555750" y="1628775"/>
            <a:ext cx="9004300" cy="4248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4" name="Entrada de lápiz 3">
                <a:extLst>
                  <a:ext uri="{FF2B5EF4-FFF2-40B4-BE49-F238E27FC236}">
                    <a16:creationId xmlns:a16="http://schemas.microsoft.com/office/drawing/2014/main" id="{DDA78558-238E-0971-4581-8C52B3C109B2}"/>
                  </a:ext>
                </a:extLst>
              </p14:cNvPr>
              <p14:cNvContentPartPr/>
              <p14:nvPr/>
            </p14:nvContentPartPr>
            <p14:xfrm>
              <a:off x="4709451" y="4796014"/>
              <a:ext cx="5660640" cy="114840"/>
            </p14:xfrm>
          </p:contentPart>
        </mc:Choice>
        <mc:Fallback xmlns="">
          <p:pic>
            <p:nvPicPr>
              <p:cNvPr id="4" name="Entrada de lápiz 3">
                <a:extLst>
                  <a:ext uri="{FF2B5EF4-FFF2-40B4-BE49-F238E27FC236}">
                    <a16:creationId xmlns:a16="http://schemas.microsoft.com/office/drawing/2014/main" id="{DDA78558-238E-0971-4581-8C52B3C109B2}"/>
                  </a:ext>
                </a:extLst>
              </p:cNvPr>
              <p:cNvPicPr/>
              <p:nvPr/>
            </p:nvPicPr>
            <p:blipFill>
              <a:blip r:embed="rId6"/>
              <a:stretch>
                <a:fillRect/>
              </a:stretch>
            </p:blipFill>
            <p:spPr>
              <a:xfrm>
                <a:off x="4655811" y="4688374"/>
                <a:ext cx="5768280" cy="330480"/>
              </a:xfrm>
              <a:prstGeom prst="rect">
                <a:avLst/>
              </a:prstGeom>
            </p:spPr>
          </p:pic>
        </mc:Fallback>
      </mc:AlternateContent>
      <p:sp>
        <p:nvSpPr>
          <p:cNvPr id="5" name="Rectángulo: esquinas redondeadas 4">
            <a:extLst>
              <a:ext uri="{FF2B5EF4-FFF2-40B4-BE49-F238E27FC236}">
                <a16:creationId xmlns:a16="http://schemas.microsoft.com/office/drawing/2014/main" id="{5D39B625-B419-2BBF-B42B-C85AE67129C3}"/>
              </a:ext>
            </a:extLst>
          </p:cNvPr>
          <p:cNvSpPr/>
          <p:nvPr/>
        </p:nvSpPr>
        <p:spPr>
          <a:xfrm>
            <a:off x="2981195" y="5022937"/>
            <a:ext cx="7265095" cy="825413"/>
          </a:xfrm>
          <a:prstGeom prst="roundRect">
            <a:avLst/>
          </a:prstGeom>
          <a:noFill/>
          <a:ln w="38100">
            <a:solidFill>
              <a:srgbClr val="CC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uadroTexto 5">
            <a:extLst>
              <a:ext uri="{FF2B5EF4-FFF2-40B4-BE49-F238E27FC236}">
                <a16:creationId xmlns:a16="http://schemas.microsoft.com/office/drawing/2014/main" id="{424D9277-04EB-921E-683E-57170FEC4F61}"/>
              </a:ext>
            </a:extLst>
          </p:cNvPr>
          <p:cNvSpPr txBox="1"/>
          <p:nvPr/>
        </p:nvSpPr>
        <p:spPr>
          <a:xfrm>
            <a:off x="3576180" y="5960433"/>
            <a:ext cx="6075123" cy="461665"/>
          </a:xfrm>
          <a:prstGeom prst="rect">
            <a:avLst/>
          </a:prstGeom>
          <a:noFill/>
        </p:spPr>
        <p:txBody>
          <a:bodyPr wrap="square" rtlCol="0">
            <a:spAutoFit/>
          </a:bodyPr>
          <a:lstStyle/>
          <a:p>
            <a:pPr algn="ctr"/>
            <a:r>
              <a:rPr lang="es-ES" sz="2400" b="1" dirty="0">
                <a:solidFill>
                  <a:srgbClr val="CC3399"/>
                </a:solidFill>
              </a:rPr>
              <a:t>GRUPOS DE INTERÉS / STAKEHOLDERS</a:t>
            </a:r>
            <a:endParaRPr lang="en-GB" sz="2400" b="1" dirty="0">
              <a:solidFill>
                <a:srgbClr val="CC3399"/>
              </a:solidFill>
            </a:endParaRPr>
          </a:p>
        </p:txBody>
      </p:sp>
    </p:spTree>
    <p:extLst>
      <p:ext uri="{BB962C8B-B14F-4D97-AF65-F5344CB8AC3E}">
        <p14:creationId xmlns:p14="http://schemas.microsoft.com/office/powerpoint/2010/main" val="358603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0" fill="hold"/>
                                        <p:tgtEl>
                                          <p:spTgt spid="4"/>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p:cNvSpPr>
            <a:spLocks noGrp="1" noChangeArrowheads="1"/>
          </p:cNvSpPr>
          <p:nvPr>
            <p:ph type="ftr" sz="quarter"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600">
                <a:solidFill>
                  <a:schemeClr val="bg1"/>
                </a:solidFill>
              </a:rPr>
              <a:t> </a:t>
            </a:r>
          </a:p>
          <a:p>
            <a:pPr>
              <a:spcBef>
                <a:spcPct val="0"/>
              </a:spcBef>
              <a:buClrTx/>
              <a:buFontTx/>
              <a:buNone/>
            </a:pPr>
            <a:endParaRPr lang="es-ES" altLang="es-ES" sz="1000">
              <a:solidFill>
                <a:schemeClr val="tx1"/>
              </a:solidFill>
            </a:endParaRPr>
          </a:p>
        </p:txBody>
      </p:sp>
      <p:sp>
        <p:nvSpPr>
          <p:cNvPr id="55299" name="5 Marcador de número de diapositiva"/>
          <p:cNvSpPr txBox="1">
            <a:spLocks noGrp="1"/>
          </p:cNvSpPr>
          <p:nvPr/>
        </p:nvSpPr>
        <p:spPr bwMode="auto">
          <a:xfrm>
            <a:off x="6167439" y="6284913"/>
            <a:ext cx="50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eaLnBrk="1" hangingPunct="1">
              <a:spcBef>
                <a:spcPct val="0"/>
              </a:spcBef>
              <a:buClrTx/>
              <a:buFontTx/>
              <a:buNone/>
            </a:pPr>
            <a:fld id="{FC84E92A-3668-4E28-B871-95303CA00B8D}" type="slidenum">
              <a:rPr lang="es-ES" altLang="es-ES" sz="1400">
                <a:solidFill>
                  <a:schemeClr val="tx1"/>
                </a:solidFill>
              </a:rPr>
              <a:pPr eaLnBrk="1" hangingPunct="1">
                <a:spcBef>
                  <a:spcPct val="0"/>
                </a:spcBef>
                <a:buClrTx/>
                <a:buFontTx/>
                <a:buNone/>
              </a:pPr>
              <a:t>44</a:t>
            </a:fld>
            <a:endParaRPr lang="es-ES" altLang="es-ES" sz="1400">
              <a:solidFill>
                <a:schemeClr val="tx1"/>
              </a:solidFill>
            </a:endParaRPr>
          </a:p>
        </p:txBody>
      </p:sp>
      <p:sp>
        <p:nvSpPr>
          <p:cNvPr id="55300" name="Rectangle 6"/>
          <p:cNvSpPr>
            <a:spLocks noGrp="1" noChangeArrowheads="1"/>
          </p:cNvSpPr>
          <p:nvPr>
            <p:ph type="title" idx="4294967295"/>
          </p:nvPr>
        </p:nvSpPr>
        <p:spPr>
          <a:xfrm>
            <a:off x="1383030" y="-73025"/>
            <a:ext cx="9521190" cy="484505"/>
          </a:xfrm>
        </p:spPr>
        <p:txBody>
          <a:bodyPr>
            <a:normAutofit fontScale="90000"/>
          </a:bodyPr>
          <a:lstStyle/>
          <a:p>
            <a:br>
              <a:rPr lang="es-ES_tradnl" altLang="es-ES" b="1" dirty="0"/>
            </a:br>
            <a:r>
              <a:rPr lang="es-ES_tradnl" altLang="es-ES" sz="3600" b="1" dirty="0"/>
              <a:t>Principios de la RSC</a:t>
            </a:r>
          </a:p>
        </p:txBody>
      </p:sp>
      <p:sp>
        <p:nvSpPr>
          <p:cNvPr id="55301" name="2 Rectángulo"/>
          <p:cNvSpPr>
            <a:spLocks noChangeArrowheads="1"/>
          </p:cNvSpPr>
          <p:nvPr/>
        </p:nvSpPr>
        <p:spPr bwMode="auto">
          <a:xfrm>
            <a:off x="4800600" y="655638"/>
            <a:ext cx="4210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800">
                <a:solidFill>
                  <a:schemeClr val="tx1"/>
                </a:solidFill>
                <a:hlinkClick r:id="rId3"/>
              </a:rPr>
              <a:t>http://observatoriorsc.org/la-rsc-que-es/</a:t>
            </a:r>
            <a:endParaRPr lang="es-ES" altLang="es-ES" sz="1800">
              <a:solidFill>
                <a:schemeClr val="tx1"/>
              </a:solidFill>
            </a:endParaRPr>
          </a:p>
        </p:txBody>
      </p:sp>
      <p:pic>
        <p:nvPicPr>
          <p:cNvPr id="55302" name="Picture 2"/>
          <p:cNvPicPr>
            <a:picLocks noChangeAspect="1" noChangeArrowheads="1"/>
          </p:cNvPicPr>
          <p:nvPr/>
        </p:nvPicPr>
        <p:blipFill>
          <a:blip r:embed="rId4">
            <a:extLst>
              <a:ext uri="{28A0092B-C50C-407E-A947-70E740481C1C}">
                <a14:useLocalDpi xmlns:a14="http://schemas.microsoft.com/office/drawing/2010/main" val="0"/>
              </a:ext>
            </a:extLst>
          </a:blip>
          <a:srcRect l="16745" t="21786" r="63464" b="66510"/>
          <a:stretch>
            <a:fillRect/>
          </a:stretch>
        </p:blipFill>
        <p:spPr bwMode="auto">
          <a:xfrm>
            <a:off x="1555750" y="557213"/>
            <a:ext cx="2806700" cy="93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7" name="Rectangle 7"/>
          <p:cNvSpPr txBox="1">
            <a:spLocks noChangeArrowheads="1"/>
          </p:cNvSpPr>
          <p:nvPr/>
        </p:nvSpPr>
        <p:spPr bwMode="auto">
          <a:xfrm>
            <a:off x="612145" y="1969935"/>
            <a:ext cx="11110587"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1325" indent="-441325">
              <a:spcBef>
                <a:spcPct val="20000"/>
              </a:spcBef>
              <a:buClr>
                <a:srgbClr val="000099"/>
              </a:buClr>
              <a:buFont typeface="Wingdings" pitchFamily="2" charset="2"/>
              <a:buChar char="ü"/>
              <a:defRPr sz="2800">
                <a:solidFill>
                  <a:schemeClr val="tx2"/>
                </a:solidFill>
                <a:latin typeface="Arial" pitchFamily="34" charset="0"/>
              </a:defRPr>
            </a:lvl1pPr>
            <a:lvl2pPr marL="906463" indent="-285750">
              <a:spcBef>
                <a:spcPct val="20000"/>
              </a:spcBef>
              <a:buClr>
                <a:srgbClr val="000099"/>
              </a:buClr>
              <a:buFont typeface="Wingdings" pitchFamily="2" charset="2"/>
              <a:buChar char="ü"/>
              <a:defRPr sz="2400">
                <a:solidFill>
                  <a:schemeClr val="tx2"/>
                </a:solidFill>
                <a:latin typeface="Arial" pitchFamily="34" charset="0"/>
              </a:defRPr>
            </a:lvl2pPr>
            <a:lvl3pPr marL="1314450" indent="-228600">
              <a:spcBef>
                <a:spcPct val="20000"/>
              </a:spcBef>
              <a:buClr>
                <a:srgbClr val="000099"/>
              </a:buClr>
              <a:buFont typeface="Wingdings" pitchFamily="2" charset="2"/>
              <a:buChar char="ü"/>
              <a:defRPr sz="2200">
                <a:solidFill>
                  <a:schemeClr val="tx2"/>
                </a:solidFill>
                <a:latin typeface="Arial" pitchFamily="34" charset="0"/>
              </a:defRPr>
            </a:lvl3pPr>
            <a:lvl4pPr marL="1722438" indent="-228600">
              <a:spcBef>
                <a:spcPct val="20000"/>
              </a:spcBef>
              <a:buClr>
                <a:srgbClr val="000099"/>
              </a:buClr>
              <a:buFont typeface="Wingdings" pitchFamily="2" charset="2"/>
              <a:buChar char="ü"/>
              <a:defRPr sz="2000">
                <a:solidFill>
                  <a:schemeClr val="tx2"/>
                </a:solidFill>
                <a:latin typeface="Arial" pitchFamily="34" charset="0"/>
              </a:defRPr>
            </a:lvl4pPr>
            <a:lvl5pPr marL="2130425" indent="-228600">
              <a:spcBef>
                <a:spcPct val="20000"/>
              </a:spcBef>
              <a:buClr>
                <a:srgbClr val="000099"/>
              </a:buClr>
              <a:buFont typeface="Wingdings" pitchFamily="2" charset="2"/>
              <a:buChar char="ü"/>
              <a:defRPr sz="2000">
                <a:solidFill>
                  <a:schemeClr val="tx2"/>
                </a:solidFill>
                <a:latin typeface="Arial" pitchFamily="34" charset="0"/>
              </a:defRPr>
            </a:lvl5pPr>
            <a:lvl6pPr marL="2587625"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6pPr>
            <a:lvl7pPr marL="3044825"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7pPr>
            <a:lvl8pPr marL="3502025"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8pPr>
            <a:lvl9pPr marL="3959225"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9pPr>
          </a:lstStyle>
          <a:p>
            <a:pPr>
              <a:lnSpc>
                <a:spcPct val="90000"/>
              </a:lnSpc>
              <a:defRPr/>
            </a:pPr>
            <a:r>
              <a:rPr lang="es-ES" altLang="es-ES" dirty="0">
                <a:solidFill>
                  <a:schemeClr val="accent6">
                    <a:lumMod val="75000"/>
                  </a:schemeClr>
                </a:solidFill>
              </a:rPr>
              <a:t>Cumplimiento de la legislación nacional y normas internacionales </a:t>
            </a:r>
          </a:p>
          <a:p>
            <a:pPr>
              <a:lnSpc>
                <a:spcPct val="90000"/>
              </a:lnSpc>
              <a:defRPr/>
            </a:pPr>
            <a:r>
              <a:rPr lang="es-ES" altLang="es-ES" dirty="0">
                <a:solidFill>
                  <a:schemeClr val="accent6">
                    <a:lumMod val="75000"/>
                  </a:schemeClr>
                </a:solidFill>
              </a:rPr>
              <a:t>Carácter global (todas las zonas, toda la “cadena de valor”)</a:t>
            </a:r>
          </a:p>
          <a:p>
            <a:pPr>
              <a:lnSpc>
                <a:spcPct val="90000"/>
              </a:lnSpc>
              <a:defRPr/>
            </a:pPr>
            <a:r>
              <a:rPr lang="es-ES" altLang="es-ES" dirty="0">
                <a:solidFill>
                  <a:schemeClr val="accent6">
                    <a:lumMod val="75000"/>
                  </a:schemeClr>
                </a:solidFill>
              </a:rPr>
              <a:t>Gestión de impactos (económicos, sociales, ambientales)</a:t>
            </a:r>
          </a:p>
          <a:p>
            <a:pPr>
              <a:lnSpc>
                <a:spcPct val="90000"/>
              </a:lnSpc>
              <a:defRPr/>
            </a:pPr>
            <a:r>
              <a:rPr lang="es-ES" altLang="es-ES" dirty="0">
                <a:solidFill>
                  <a:schemeClr val="accent6">
                    <a:lumMod val="75000"/>
                  </a:schemeClr>
                </a:solidFill>
              </a:rPr>
              <a:t>Generar valor para todos los grupos de interés</a:t>
            </a:r>
          </a:p>
          <a:p>
            <a:pPr marL="0" indent="0">
              <a:lnSpc>
                <a:spcPct val="90000"/>
              </a:lnSpc>
              <a:buNone/>
              <a:defRPr/>
            </a:pPr>
            <a:endParaRPr lang="es-ES" altLang="es-ES" dirty="0"/>
          </a:p>
          <a:p>
            <a:pPr>
              <a:lnSpc>
                <a:spcPct val="90000"/>
              </a:lnSpc>
              <a:defRPr/>
            </a:pPr>
            <a:r>
              <a:rPr lang="es-ES" altLang="es-ES" b="1" dirty="0">
                <a:solidFill>
                  <a:srgbClr val="CC0066"/>
                </a:solidFill>
              </a:rPr>
              <a:t>Ética y coherencia </a:t>
            </a:r>
            <a:r>
              <a:rPr lang="es-ES" altLang="es-ES" b="1" dirty="0"/>
              <a:t>(entre los compromisos éticos y las decisiones del negocio) </a:t>
            </a:r>
          </a:p>
        </p:txBody>
      </p:sp>
    </p:spTree>
    <p:extLst>
      <p:ext uri="{BB962C8B-B14F-4D97-AF65-F5344CB8AC3E}">
        <p14:creationId xmlns:p14="http://schemas.microsoft.com/office/powerpoint/2010/main" val="34544569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ftr" sz="quarter"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600">
                <a:solidFill>
                  <a:schemeClr val="bg1"/>
                </a:solidFill>
              </a:rPr>
              <a:t> </a:t>
            </a:r>
          </a:p>
          <a:p>
            <a:pPr>
              <a:spcBef>
                <a:spcPct val="0"/>
              </a:spcBef>
              <a:buClrTx/>
              <a:buFontTx/>
              <a:buNone/>
            </a:pPr>
            <a:endParaRPr lang="es-ES" altLang="es-ES" sz="1000">
              <a:solidFill>
                <a:schemeClr val="tx1"/>
              </a:solidFill>
            </a:endParaRPr>
          </a:p>
        </p:txBody>
      </p:sp>
      <p:sp>
        <p:nvSpPr>
          <p:cNvPr id="51203" name="5 Marcador de número de diapositiva"/>
          <p:cNvSpPr txBox="1">
            <a:spLocks noGrp="1"/>
          </p:cNvSpPr>
          <p:nvPr/>
        </p:nvSpPr>
        <p:spPr bwMode="auto">
          <a:xfrm>
            <a:off x="6167439" y="6284913"/>
            <a:ext cx="50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eaLnBrk="1" hangingPunct="1">
              <a:spcBef>
                <a:spcPct val="0"/>
              </a:spcBef>
              <a:buClrTx/>
              <a:buFontTx/>
              <a:buNone/>
            </a:pPr>
            <a:fld id="{4AA20ABF-580F-4158-B3E6-63BDC320BA06}" type="slidenum">
              <a:rPr lang="es-ES" altLang="es-ES" sz="1400">
                <a:solidFill>
                  <a:schemeClr val="bg1"/>
                </a:solidFill>
              </a:rPr>
              <a:pPr eaLnBrk="1" hangingPunct="1">
                <a:spcBef>
                  <a:spcPct val="0"/>
                </a:spcBef>
                <a:buClrTx/>
                <a:buFontTx/>
                <a:buNone/>
              </a:pPr>
              <a:t>45</a:t>
            </a:fld>
            <a:endParaRPr lang="es-ES" altLang="es-ES" sz="1400">
              <a:solidFill>
                <a:schemeClr val="bg1"/>
              </a:solidFill>
            </a:endParaRPr>
          </a:p>
        </p:txBody>
      </p:sp>
      <p:sp>
        <p:nvSpPr>
          <p:cNvPr id="51204" name="Rectangle 6"/>
          <p:cNvSpPr>
            <a:spLocks noGrp="1" noChangeArrowheads="1"/>
          </p:cNvSpPr>
          <p:nvPr>
            <p:ph type="title" idx="4294967295"/>
          </p:nvPr>
        </p:nvSpPr>
        <p:spPr>
          <a:xfrm>
            <a:off x="1524000" y="-73025"/>
            <a:ext cx="9144000" cy="689928"/>
          </a:xfrm>
        </p:spPr>
        <p:txBody>
          <a:bodyPr>
            <a:normAutofit/>
          </a:bodyPr>
          <a:lstStyle/>
          <a:p>
            <a:r>
              <a:rPr lang="es-ES_tradnl" altLang="es-ES" b="1" dirty="0"/>
              <a:t>RSC reactiva vs RSC estratégica</a:t>
            </a:r>
          </a:p>
        </p:txBody>
      </p:sp>
      <p:graphicFrame>
        <p:nvGraphicFramePr>
          <p:cNvPr id="4" name="3 Tabla"/>
          <p:cNvGraphicFramePr>
            <a:graphicFrameLocks noGrp="1"/>
          </p:cNvGraphicFramePr>
          <p:nvPr>
            <p:extLst>
              <p:ext uri="{D42A27DB-BD31-4B8C-83A1-F6EECF244321}">
                <p14:modId xmlns:p14="http://schemas.microsoft.com/office/powerpoint/2010/main" val="729783537"/>
              </p:ext>
            </p:extLst>
          </p:nvPr>
        </p:nvGraphicFramePr>
        <p:xfrm>
          <a:off x="1494393" y="811371"/>
          <a:ext cx="9849327" cy="5051325"/>
        </p:xfrm>
        <a:graphic>
          <a:graphicData uri="http://schemas.openxmlformats.org/drawingml/2006/table">
            <a:tbl>
              <a:tblPr>
                <a:tableStyleId>{5C22544A-7EE6-4342-B048-85BDC9FD1C3A}</a:tableStyleId>
              </a:tblPr>
              <a:tblGrid>
                <a:gridCol w="2754472">
                  <a:extLst>
                    <a:ext uri="{9D8B030D-6E8A-4147-A177-3AD203B41FA5}">
                      <a16:colId xmlns:a16="http://schemas.microsoft.com/office/drawing/2014/main" val="20000"/>
                    </a:ext>
                  </a:extLst>
                </a:gridCol>
                <a:gridCol w="3920111">
                  <a:extLst>
                    <a:ext uri="{9D8B030D-6E8A-4147-A177-3AD203B41FA5}">
                      <a16:colId xmlns:a16="http://schemas.microsoft.com/office/drawing/2014/main" val="20001"/>
                    </a:ext>
                  </a:extLst>
                </a:gridCol>
                <a:gridCol w="3174744">
                  <a:extLst>
                    <a:ext uri="{9D8B030D-6E8A-4147-A177-3AD203B41FA5}">
                      <a16:colId xmlns:a16="http://schemas.microsoft.com/office/drawing/2014/main" val="20002"/>
                    </a:ext>
                  </a:extLst>
                </a:gridCol>
              </a:tblGrid>
              <a:tr h="530739">
                <a:tc gridSpan="3">
                  <a:txBody>
                    <a:bodyPr/>
                    <a:lstStyle/>
                    <a:p>
                      <a:pPr algn="ctr">
                        <a:spcAft>
                          <a:spcPts val="0"/>
                        </a:spcAft>
                      </a:pPr>
                      <a:r>
                        <a:rPr lang="es-ES" sz="2000" b="0" dirty="0">
                          <a:solidFill>
                            <a:schemeClr val="tx2"/>
                          </a:solidFill>
                          <a:effectLst/>
                        </a:rPr>
                        <a:t>Implicación de las empresas en la sociedad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884289">
                <a:tc>
                  <a:txBody>
                    <a:bodyPr/>
                    <a:lstStyle/>
                    <a:p>
                      <a:pPr algn="ctr">
                        <a:spcAft>
                          <a:spcPts val="0"/>
                        </a:spcAft>
                      </a:pPr>
                      <a:r>
                        <a:rPr lang="es-ES" sz="2000" b="0" dirty="0">
                          <a:solidFill>
                            <a:schemeClr val="tx2"/>
                          </a:solidFill>
                          <a:effectLst/>
                        </a:rPr>
                        <a:t>Impactos </a:t>
                      </a:r>
                    </a:p>
                    <a:p>
                      <a:pPr algn="ctr">
                        <a:spcAft>
                          <a:spcPts val="0"/>
                        </a:spcAft>
                      </a:pPr>
                      <a:r>
                        <a:rPr lang="es-ES" sz="2000" b="0" dirty="0">
                          <a:solidFill>
                            <a:schemeClr val="tx2"/>
                          </a:solidFill>
                          <a:effectLst/>
                        </a:rPr>
                        <a:t>genéricos</a:t>
                      </a:r>
                      <a:endParaRPr lang="es-ES" sz="2000" b="0" dirty="0">
                        <a:solidFill>
                          <a:schemeClr val="tx2"/>
                        </a:solidFill>
                        <a:effectLst/>
                        <a:latin typeface="Times New Roman"/>
                        <a:ea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s-ES" sz="2000" b="0" dirty="0">
                          <a:solidFill>
                            <a:schemeClr val="tx2"/>
                          </a:solidFill>
                          <a:effectLst/>
                        </a:rPr>
                        <a:t>Impactos  </a:t>
                      </a:r>
                    </a:p>
                    <a:p>
                      <a:pPr algn="ctr">
                        <a:spcAft>
                          <a:spcPts val="0"/>
                        </a:spcAft>
                      </a:pPr>
                      <a:r>
                        <a:rPr lang="es-ES" sz="2000" b="0" dirty="0">
                          <a:solidFill>
                            <a:schemeClr val="tx2"/>
                          </a:solidFill>
                          <a:effectLst/>
                        </a:rPr>
                        <a:t>en la cadena de valor</a:t>
                      </a:r>
                      <a:endParaRPr lang="es-ES" sz="2000" b="0" dirty="0">
                        <a:solidFill>
                          <a:schemeClr val="tx2"/>
                        </a:solidFill>
                        <a:effectLst/>
                        <a:latin typeface="Times New Roman"/>
                        <a:ea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s-ES" sz="2000" b="0" dirty="0">
                          <a:solidFill>
                            <a:schemeClr val="tx2"/>
                          </a:solidFill>
                          <a:effectLst/>
                        </a:rPr>
                        <a:t>Generar valor</a:t>
                      </a:r>
                      <a:endParaRPr lang="es-ES" sz="2000" b="0" baseline="0" dirty="0">
                        <a:solidFill>
                          <a:schemeClr val="tx2"/>
                        </a:solidFill>
                        <a:effectLst/>
                      </a:endParaRPr>
                    </a:p>
                    <a:p>
                      <a:pPr algn="ctr">
                        <a:spcAft>
                          <a:spcPts val="0"/>
                        </a:spcAft>
                      </a:pPr>
                      <a:r>
                        <a:rPr lang="es-ES" sz="2000" b="0" dirty="0">
                          <a:solidFill>
                            <a:schemeClr val="tx2"/>
                          </a:solidFill>
                          <a:effectLst/>
                        </a:rPr>
                        <a:t>en</a:t>
                      </a:r>
                      <a:r>
                        <a:rPr lang="es-ES" sz="2000" b="0" baseline="0" dirty="0">
                          <a:solidFill>
                            <a:schemeClr val="tx2"/>
                          </a:solidFill>
                          <a:effectLst/>
                        </a:rPr>
                        <a:t> </a:t>
                      </a:r>
                      <a:r>
                        <a:rPr lang="es-ES" sz="2000" b="0" dirty="0">
                          <a:solidFill>
                            <a:schemeClr val="tx2"/>
                          </a:solidFill>
                          <a:effectLst/>
                        </a:rPr>
                        <a:t>el contexto social</a:t>
                      </a:r>
                      <a:endParaRPr lang="es-ES" sz="2000" b="0" dirty="0">
                        <a:solidFill>
                          <a:schemeClr val="tx2"/>
                        </a:solidFill>
                        <a:effectLst/>
                        <a:latin typeface="Times New Roman"/>
                        <a:ea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262004">
                <a:tc rowSpan="2">
                  <a:txBody>
                    <a:bodyPr/>
                    <a:lstStyle/>
                    <a:p>
                      <a:pPr algn="ctr">
                        <a:spcAft>
                          <a:spcPts val="0"/>
                        </a:spcAft>
                      </a:pPr>
                      <a:r>
                        <a:rPr lang="es-ES" sz="1800" dirty="0">
                          <a:solidFill>
                            <a:schemeClr val="tx2"/>
                          </a:solidFill>
                          <a:effectLst/>
                        </a:rPr>
                        <a:t> </a:t>
                      </a:r>
                      <a:endParaRPr lang="es-ES" sz="1800" dirty="0">
                        <a:solidFill>
                          <a:srgbClr val="0000CC"/>
                        </a:solidFill>
                        <a:effectLst/>
                      </a:endParaRPr>
                    </a:p>
                    <a:p>
                      <a:pPr algn="ctr">
                        <a:spcAft>
                          <a:spcPts val="0"/>
                        </a:spcAft>
                      </a:pPr>
                      <a:r>
                        <a:rPr lang="es-ES" sz="2000" dirty="0">
                          <a:solidFill>
                            <a:srgbClr val="0000CC"/>
                          </a:solidFill>
                          <a:effectLst/>
                        </a:rPr>
                        <a:t>Buena ciudadanía</a:t>
                      </a:r>
                    </a:p>
                    <a:p>
                      <a:pPr algn="ctr">
                        <a:spcAft>
                          <a:spcPts val="0"/>
                        </a:spcAft>
                      </a:pPr>
                      <a:endParaRPr lang="es-ES" sz="2000" dirty="0">
                        <a:solidFill>
                          <a:srgbClr val="0000CC"/>
                        </a:solidFill>
                        <a:effectLst/>
                      </a:endParaRPr>
                    </a:p>
                    <a:p>
                      <a:pPr algn="ctr">
                        <a:spcAft>
                          <a:spcPts val="0"/>
                        </a:spcAft>
                      </a:pPr>
                      <a:r>
                        <a:rPr lang="es-ES" sz="2000" dirty="0">
                          <a:solidFill>
                            <a:srgbClr val="0000CC"/>
                          </a:solidFill>
                          <a:effectLst/>
                        </a:rPr>
                        <a:t>Cumplimiento leyes y regulación</a:t>
                      </a:r>
                    </a:p>
                    <a:p>
                      <a:pPr algn="ctr">
                        <a:spcAft>
                          <a:spcPts val="0"/>
                        </a:spcAft>
                      </a:pPr>
                      <a:r>
                        <a:rPr lang="es-ES" sz="1800" dirty="0">
                          <a:solidFill>
                            <a:schemeClr val="tx2"/>
                          </a:solidFill>
                          <a:effectLst/>
                        </a:rPr>
                        <a:t> </a:t>
                      </a:r>
                    </a:p>
                    <a:p>
                      <a:pPr algn="ctr">
                        <a:spcAft>
                          <a:spcPts val="0"/>
                        </a:spcAft>
                      </a:pPr>
                      <a:r>
                        <a:rPr lang="es-ES" sz="1800" dirty="0">
                          <a:solidFill>
                            <a:schemeClr val="tx2"/>
                          </a:solidFill>
                          <a:effectLst/>
                        </a:rPr>
                        <a:t> </a:t>
                      </a:r>
                    </a:p>
                    <a:p>
                      <a:pPr algn="ctr">
                        <a:spcAft>
                          <a:spcPts val="0"/>
                        </a:spcAft>
                      </a:pPr>
                      <a:r>
                        <a:rPr lang="es-ES" sz="2800" b="1" dirty="0">
                          <a:solidFill>
                            <a:srgbClr val="0000CC"/>
                          </a:solidFill>
                          <a:effectLst/>
                        </a:rPr>
                        <a:t>RSE</a:t>
                      </a:r>
                    </a:p>
                    <a:p>
                      <a:pPr algn="ctr">
                        <a:spcAft>
                          <a:spcPts val="0"/>
                        </a:spcAft>
                      </a:pPr>
                      <a:r>
                        <a:rPr lang="es-ES" sz="2800" b="1" dirty="0">
                          <a:solidFill>
                            <a:srgbClr val="0000CC"/>
                          </a:solidFill>
                          <a:effectLst/>
                        </a:rPr>
                        <a:t>Reactiva</a:t>
                      </a:r>
                      <a:endParaRPr lang="es-ES" sz="2800" b="1" dirty="0">
                        <a:solidFill>
                          <a:srgbClr val="0000CC"/>
                        </a:solidFill>
                        <a:effectLst/>
                        <a:latin typeface="Times New Roman"/>
                        <a:ea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spcBef>
                          <a:spcPts val="1200"/>
                        </a:spcBef>
                        <a:spcAft>
                          <a:spcPts val="0"/>
                        </a:spcAft>
                      </a:pPr>
                      <a:endParaRPr lang="es-ES" sz="2000" b="1" dirty="0">
                        <a:solidFill>
                          <a:schemeClr val="tx2"/>
                        </a:solidFill>
                        <a:effectLst/>
                      </a:endParaRPr>
                    </a:p>
                    <a:p>
                      <a:pPr algn="ctr">
                        <a:spcBef>
                          <a:spcPts val="600"/>
                        </a:spcBef>
                        <a:spcAft>
                          <a:spcPts val="0"/>
                        </a:spcAft>
                      </a:pPr>
                      <a:r>
                        <a:rPr lang="es-ES" sz="2000" b="1" dirty="0">
                          <a:solidFill>
                            <a:srgbClr val="0000CC"/>
                          </a:solidFill>
                          <a:effectLst/>
                        </a:rPr>
                        <a:t>Mitigar los daños </a:t>
                      </a:r>
                    </a:p>
                    <a:p>
                      <a:pPr algn="ctr">
                        <a:spcBef>
                          <a:spcPts val="0"/>
                        </a:spcBef>
                        <a:spcAft>
                          <a:spcPts val="0"/>
                        </a:spcAft>
                      </a:pPr>
                      <a:r>
                        <a:rPr lang="es-ES" sz="2000" dirty="0">
                          <a:solidFill>
                            <a:srgbClr val="0000CC"/>
                          </a:solidFill>
                          <a:effectLst/>
                        </a:rPr>
                        <a:t>de las actividades de la cadena de valor</a:t>
                      </a:r>
                      <a:endParaRPr lang="es-ES" sz="2000" dirty="0">
                        <a:solidFill>
                          <a:srgbClr val="0000CC"/>
                        </a:solidFill>
                        <a:effectLst/>
                        <a:latin typeface="Times New Roman"/>
                        <a:ea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rowSpan="2">
                  <a:txBody>
                    <a:bodyPr/>
                    <a:lstStyle/>
                    <a:p>
                      <a:pPr algn="ctr">
                        <a:spcAft>
                          <a:spcPts val="0"/>
                        </a:spcAft>
                      </a:pPr>
                      <a:endParaRPr lang="es-ES" sz="1800" dirty="0">
                        <a:solidFill>
                          <a:schemeClr val="tx2"/>
                        </a:solidFill>
                        <a:effectLst/>
                      </a:endParaRPr>
                    </a:p>
                    <a:p>
                      <a:pPr algn="ctr">
                        <a:spcAft>
                          <a:spcPts val="0"/>
                        </a:spcAft>
                      </a:pPr>
                      <a:r>
                        <a:rPr lang="es-ES" sz="2000" dirty="0">
                          <a:solidFill>
                            <a:srgbClr val="CC0066"/>
                          </a:solidFill>
                          <a:effectLst/>
                        </a:rPr>
                        <a:t>Acciones estratégicas que </a:t>
                      </a:r>
                      <a:r>
                        <a:rPr lang="es-ES" sz="2000" b="1" dirty="0">
                          <a:solidFill>
                            <a:srgbClr val="CC0066"/>
                          </a:solidFill>
                          <a:effectLst/>
                        </a:rPr>
                        <a:t>mejoran capacidades </a:t>
                      </a:r>
                    </a:p>
                    <a:p>
                      <a:pPr algn="ctr">
                        <a:spcAft>
                          <a:spcPts val="0"/>
                        </a:spcAft>
                      </a:pPr>
                      <a:r>
                        <a:rPr lang="es-ES" sz="2000" b="1" dirty="0">
                          <a:solidFill>
                            <a:srgbClr val="CC0066"/>
                          </a:solidFill>
                          <a:effectLst/>
                        </a:rPr>
                        <a:t>en </a:t>
                      </a:r>
                    </a:p>
                    <a:p>
                      <a:pPr algn="ctr">
                        <a:spcAft>
                          <a:spcPts val="0"/>
                        </a:spcAft>
                      </a:pPr>
                      <a:r>
                        <a:rPr lang="es-ES" sz="2000" b="1" dirty="0">
                          <a:solidFill>
                            <a:srgbClr val="CC0066"/>
                          </a:solidFill>
                          <a:effectLst/>
                        </a:rPr>
                        <a:t>asuntos relevantes </a:t>
                      </a:r>
                    </a:p>
                    <a:p>
                      <a:pPr algn="ctr">
                        <a:spcAft>
                          <a:spcPts val="0"/>
                        </a:spcAft>
                      </a:pPr>
                      <a:r>
                        <a:rPr lang="es-ES" sz="2000" dirty="0">
                          <a:solidFill>
                            <a:srgbClr val="CC0066"/>
                          </a:solidFill>
                          <a:effectLst/>
                        </a:rPr>
                        <a:t>del contexto social</a:t>
                      </a:r>
                    </a:p>
                    <a:p>
                      <a:pPr algn="ctr">
                        <a:spcAft>
                          <a:spcPts val="0"/>
                        </a:spcAft>
                      </a:pPr>
                      <a:r>
                        <a:rPr lang="es-ES" sz="1800" dirty="0">
                          <a:solidFill>
                            <a:schemeClr val="tx2"/>
                          </a:solidFill>
                          <a:effectLst/>
                        </a:rPr>
                        <a:t> </a:t>
                      </a:r>
                    </a:p>
                    <a:p>
                      <a:pPr algn="ctr">
                        <a:spcAft>
                          <a:spcPts val="0"/>
                        </a:spcAft>
                      </a:pPr>
                      <a:r>
                        <a:rPr lang="es-ES" sz="1800" dirty="0">
                          <a:solidFill>
                            <a:schemeClr val="tx2"/>
                          </a:solidFill>
                          <a:effectLst/>
                        </a:rPr>
                        <a:t> </a:t>
                      </a:r>
                      <a:r>
                        <a:rPr lang="es-ES" sz="2800" b="1" kern="1200" dirty="0">
                          <a:solidFill>
                            <a:srgbClr val="CC0066"/>
                          </a:solidFill>
                          <a:effectLst/>
                          <a:latin typeface="+mn-lt"/>
                          <a:ea typeface="+mn-ea"/>
                          <a:cs typeface="+mn-cs"/>
                        </a:rPr>
                        <a:t>RSE </a:t>
                      </a:r>
                    </a:p>
                    <a:p>
                      <a:pPr marL="0" algn="ctr" defTabSz="914400" rtl="0" eaLnBrk="1" latinLnBrk="0" hangingPunct="1">
                        <a:spcAft>
                          <a:spcPts val="0"/>
                        </a:spcAft>
                      </a:pPr>
                      <a:r>
                        <a:rPr lang="es-ES" sz="2800" b="1" kern="1200" dirty="0">
                          <a:solidFill>
                            <a:srgbClr val="CC0066"/>
                          </a:solidFill>
                          <a:effectLst/>
                          <a:latin typeface="+mn-lt"/>
                          <a:ea typeface="+mn-ea"/>
                          <a:cs typeface="+mn-cs"/>
                        </a:rPr>
                        <a:t>estratégica</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alpha val="60000"/>
                      </a:srgbClr>
                    </a:solidFill>
                  </a:tcPr>
                </a:tc>
                <a:extLst>
                  <a:ext uri="{0D108BD9-81ED-4DB2-BD59-A6C34878D82A}">
                    <a16:rowId xmlns:a16="http://schemas.microsoft.com/office/drawing/2014/main" val="10002"/>
                  </a:ext>
                </a:extLst>
              </a:tr>
              <a:tr h="2340897">
                <a:tc vMerge="1">
                  <a:txBody>
                    <a:bodyPr/>
                    <a:lstStyle/>
                    <a:p>
                      <a:endParaRPr lang="es-ES"/>
                    </a:p>
                  </a:txBody>
                  <a:tcPr/>
                </a:tc>
                <a:tc>
                  <a:txBody>
                    <a:bodyPr/>
                    <a:lstStyle/>
                    <a:p>
                      <a:pPr algn="ctr">
                        <a:spcAft>
                          <a:spcPts val="0"/>
                        </a:spcAft>
                      </a:pPr>
                      <a:endParaRPr lang="es-ES" sz="2000" b="1" dirty="0">
                        <a:solidFill>
                          <a:schemeClr val="tx2"/>
                        </a:solidFill>
                        <a:effectLst/>
                      </a:endParaRPr>
                    </a:p>
                    <a:p>
                      <a:pPr algn="ctr">
                        <a:spcAft>
                          <a:spcPts val="0"/>
                        </a:spcAft>
                      </a:pPr>
                      <a:r>
                        <a:rPr lang="es-ES" sz="2000" b="1" dirty="0">
                          <a:solidFill>
                            <a:srgbClr val="CC0066"/>
                          </a:solidFill>
                          <a:effectLst/>
                        </a:rPr>
                        <a:t>Transformar</a:t>
                      </a:r>
                      <a:r>
                        <a:rPr lang="es-ES" sz="2000" dirty="0">
                          <a:solidFill>
                            <a:srgbClr val="CC0066"/>
                          </a:solidFill>
                          <a:effectLst/>
                        </a:rPr>
                        <a:t> </a:t>
                      </a:r>
                    </a:p>
                    <a:p>
                      <a:pPr algn="ctr">
                        <a:spcAft>
                          <a:spcPts val="0"/>
                        </a:spcAft>
                      </a:pPr>
                      <a:r>
                        <a:rPr lang="es-ES" sz="2000" dirty="0">
                          <a:solidFill>
                            <a:srgbClr val="CC0066"/>
                          </a:solidFill>
                          <a:effectLst/>
                        </a:rPr>
                        <a:t>las actividades de la cadena de valor </a:t>
                      </a:r>
                    </a:p>
                    <a:p>
                      <a:pPr algn="ctr">
                        <a:spcAft>
                          <a:spcPts val="0"/>
                        </a:spcAft>
                      </a:pPr>
                      <a:r>
                        <a:rPr lang="es-ES" sz="2000" b="1" dirty="0">
                          <a:solidFill>
                            <a:srgbClr val="CC0066"/>
                          </a:solidFill>
                          <a:effectLst/>
                        </a:rPr>
                        <a:t>para beneficiar a la sociedad </a:t>
                      </a:r>
                    </a:p>
                    <a:p>
                      <a:pPr algn="ctr">
                        <a:spcAft>
                          <a:spcPts val="0"/>
                        </a:spcAft>
                      </a:pPr>
                      <a:r>
                        <a:rPr lang="es-ES" sz="2000" b="0" dirty="0">
                          <a:solidFill>
                            <a:srgbClr val="CC0066"/>
                          </a:solidFill>
                          <a:effectLst/>
                        </a:rPr>
                        <a:t>como</a:t>
                      </a:r>
                      <a:r>
                        <a:rPr lang="es-ES" sz="2000" b="0" baseline="0" dirty="0">
                          <a:solidFill>
                            <a:srgbClr val="CC0066"/>
                          </a:solidFill>
                          <a:effectLst/>
                        </a:rPr>
                        <a:t> parte de </a:t>
                      </a:r>
                      <a:r>
                        <a:rPr lang="es-ES" sz="2000" dirty="0">
                          <a:solidFill>
                            <a:srgbClr val="CC0066"/>
                          </a:solidFill>
                          <a:effectLst/>
                        </a:rPr>
                        <a:t>la </a:t>
                      </a:r>
                    </a:p>
                    <a:p>
                      <a:pPr algn="ctr">
                        <a:spcAft>
                          <a:spcPts val="0"/>
                        </a:spcAft>
                      </a:pPr>
                      <a:r>
                        <a:rPr lang="es-ES" sz="2000" dirty="0">
                          <a:solidFill>
                            <a:srgbClr val="CC0066"/>
                          </a:solidFill>
                          <a:effectLst/>
                        </a:rPr>
                        <a:t>estrategia de la empresa</a:t>
                      </a:r>
                      <a:endParaRPr lang="es-ES" sz="2000" dirty="0">
                        <a:solidFill>
                          <a:srgbClr val="CC0066"/>
                        </a:solidFill>
                        <a:effectLst/>
                        <a:latin typeface="Times New Roman"/>
                        <a:ea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alpha val="61000"/>
                      </a:srgbClr>
                    </a:solidFill>
                  </a:tcPr>
                </a:tc>
                <a:tc vMerge="1">
                  <a:txBody>
                    <a:bodyPr/>
                    <a:lstStyle/>
                    <a:p>
                      <a:endParaRPr lang="es-ES"/>
                    </a:p>
                  </a:txBody>
                  <a:tcPr/>
                </a:tc>
                <a:extLst>
                  <a:ext uri="{0D108BD9-81ED-4DB2-BD59-A6C34878D82A}">
                    <a16:rowId xmlns:a16="http://schemas.microsoft.com/office/drawing/2014/main" val="10003"/>
                  </a:ext>
                </a:extLst>
              </a:tr>
            </a:tbl>
          </a:graphicData>
        </a:graphic>
      </p:graphicFrame>
      <p:sp>
        <p:nvSpPr>
          <p:cNvPr id="51223" name="4 Rectángulo"/>
          <p:cNvSpPr>
            <a:spLocks noChangeArrowheads="1"/>
          </p:cNvSpPr>
          <p:nvPr/>
        </p:nvSpPr>
        <p:spPr bwMode="auto">
          <a:xfrm>
            <a:off x="2027237" y="6023769"/>
            <a:ext cx="81375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lgn="ctr" eaLnBrk="1" hangingPunct="1">
              <a:spcBef>
                <a:spcPct val="0"/>
              </a:spcBef>
              <a:buClrTx/>
              <a:buFontTx/>
              <a:buNone/>
            </a:pPr>
            <a:r>
              <a:rPr lang="es-ES" altLang="es-ES" sz="1400" dirty="0"/>
              <a:t>Adaptado de: Porter, M., y Kramer, M. (2006). </a:t>
            </a:r>
            <a:r>
              <a:rPr lang="en-GB" altLang="es-ES" sz="1400" i="1" dirty="0"/>
              <a:t>Strategy and Society: The link between competitive advantage and </a:t>
            </a:r>
            <a:r>
              <a:rPr lang="en-US" altLang="es-ES" sz="1400" i="1" dirty="0"/>
              <a:t>Corporate Social Responsibility</a:t>
            </a:r>
            <a:endParaRPr lang="es-ES" altLang="es-ES" sz="1400" dirty="0"/>
          </a:p>
        </p:txBody>
      </p:sp>
    </p:spTree>
    <p:extLst>
      <p:ext uri="{BB962C8B-B14F-4D97-AF65-F5344CB8AC3E}">
        <p14:creationId xmlns:p14="http://schemas.microsoft.com/office/powerpoint/2010/main" val="3863631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ftr" sz="quarter"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600">
                <a:solidFill>
                  <a:schemeClr val="bg1"/>
                </a:solidFill>
              </a:rPr>
              <a:t> </a:t>
            </a:r>
          </a:p>
          <a:p>
            <a:pPr>
              <a:spcBef>
                <a:spcPct val="0"/>
              </a:spcBef>
              <a:buClrTx/>
              <a:buFontTx/>
              <a:buNone/>
            </a:pPr>
            <a:endParaRPr lang="es-ES" altLang="es-ES" sz="1000">
              <a:solidFill>
                <a:schemeClr val="tx1"/>
              </a:solidFill>
            </a:endParaRPr>
          </a:p>
        </p:txBody>
      </p:sp>
      <p:sp>
        <p:nvSpPr>
          <p:cNvPr id="51203" name="5 Marcador de número de diapositiva"/>
          <p:cNvSpPr txBox="1">
            <a:spLocks noGrp="1"/>
          </p:cNvSpPr>
          <p:nvPr/>
        </p:nvSpPr>
        <p:spPr bwMode="auto">
          <a:xfrm>
            <a:off x="6555746" y="6184704"/>
            <a:ext cx="522844" cy="48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eaLnBrk="1" hangingPunct="1">
              <a:spcBef>
                <a:spcPct val="0"/>
              </a:spcBef>
              <a:buClrTx/>
              <a:buFontTx/>
              <a:buNone/>
            </a:pPr>
            <a:fld id="{4AA20ABF-580F-4158-B3E6-63BDC320BA06}" type="slidenum">
              <a:rPr lang="es-ES" altLang="es-ES" sz="1400">
                <a:solidFill>
                  <a:schemeClr val="bg1"/>
                </a:solidFill>
              </a:rPr>
              <a:pPr eaLnBrk="1" hangingPunct="1">
                <a:spcBef>
                  <a:spcPct val="0"/>
                </a:spcBef>
                <a:buClrTx/>
                <a:buFontTx/>
                <a:buNone/>
              </a:pPr>
              <a:t>46</a:t>
            </a:fld>
            <a:endParaRPr lang="es-ES" altLang="es-ES" sz="1400">
              <a:solidFill>
                <a:schemeClr val="bg1"/>
              </a:solidFill>
            </a:endParaRPr>
          </a:p>
        </p:txBody>
      </p:sp>
      <p:sp>
        <p:nvSpPr>
          <p:cNvPr id="51204" name="Rectangle 6"/>
          <p:cNvSpPr>
            <a:spLocks noGrp="1" noChangeArrowheads="1"/>
          </p:cNvSpPr>
          <p:nvPr>
            <p:ph type="title" idx="4294967295"/>
          </p:nvPr>
        </p:nvSpPr>
        <p:spPr>
          <a:xfrm>
            <a:off x="1524000" y="-73025"/>
            <a:ext cx="9144000" cy="689928"/>
          </a:xfrm>
        </p:spPr>
        <p:txBody>
          <a:bodyPr>
            <a:normAutofit/>
          </a:bodyPr>
          <a:lstStyle/>
          <a:p>
            <a:r>
              <a:rPr lang="es-ES_tradnl" altLang="es-ES" b="1" dirty="0"/>
              <a:t>RSC estratégica: asuntos relevantes sector TIC</a:t>
            </a:r>
          </a:p>
        </p:txBody>
      </p:sp>
      <p:pic>
        <p:nvPicPr>
          <p:cNvPr id="10" name="Picture 2">
            <a:extLst>
              <a:ext uri="{FF2B5EF4-FFF2-40B4-BE49-F238E27FC236}">
                <a16:creationId xmlns:a16="http://schemas.microsoft.com/office/drawing/2014/main" id="{FA4DBC77-780B-4278-8198-77A79FEBF8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296" t="19380" r="25784" b="12093"/>
          <a:stretch>
            <a:fillRect/>
          </a:stretch>
        </p:blipFill>
        <p:spPr bwMode="auto">
          <a:xfrm>
            <a:off x="1706064" y="616903"/>
            <a:ext cx="7319811" cy="6109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7B73CEE5-F3DF-19F5-ECF7-2C7A343BC73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6434" t="28198" r="47131" b="26715"/>
          <a:stretch>
            <a:fillRect/>
          </a:stretch>
        </p:blipFill>
        <p:spPr bwMode="auto">
          <a:xfrm>
            <a:off x="559757" y="1960457"/>
            <a:ext cx="1146299" cy="3526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8 Rectángulo redondeado">
            <a:extLst>
              <a:ext uri="{FF2B5EF4-FFF2-40B4-BE49-F238E27FC236}">
                <a16:creationId xmlns:a16="http://schemas.microsoft.com/office/drawing/2014/main" id="{293A03F4-AF53-2343-D39D-B6CF525D33BA}"/>
              </a:ext>
            </a:extLst>
          </p:cNvPr>
          <p:cNvSpPr/>
          <p:nvPr/>
        </p:nvSpPr>
        <p:spPr>
          <a:xfrm>
            <a:off x="7821024" y="960335"/>
            <a:ext cx="2409701" cy="656689"/>
          </a:xfrm>
          <a:prstGeom prst="round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spcBef>
                <a:spcPts val="600"/>
              </a:spcBef>
              <a:buClr>
                <a:srgbClr val="000099"/>
              </a:buClr>
              <a:defRPr/>
            </a:pPr>
            <a:r>
              <a:rPr lang="es-ES" altLang="es-ES" sz="2000" b="1" dirty="0">
                <a:solidFill>
                  <a:schemeClr val="bg1"/>
                </a:solidFill>
                <a:ea typeface="ＭＳ Ｐゴシック" pitchFamily="34" charset="-128"/>
                <a:cs typeface="Arial" pitchFamily="34" charset="0"/>
              </a:rPr>
              <a:t>Brecha digital</a:t>
            </a:r>
          </a:p>
        </p:txBody>
      </p:sp>
      <p:sp>
        <p:nvSpPr>
          <p:cNvPr id="14" name="10 Rectángulo redondeado">
            <a:extLst>
              <a:ext uri="{FF2B5EF4-FFF2-40B4-BE49-F238E27FC236}">
                <a16:creationId xmlns:a16="http://schemas.microsoft.com/office/drawing/2014/main" id="{B0F99B01-7C19-24D9-0576-40B115996250}"/>
              </a:ext>
            </a:extLst>
          </p:cNvPr>
          <p:cNvSpPr/>
          <p:nvPr/>
        </p:nvSpPr>
        <p:spPr>
          <a:xfrm>
            <a:off x="8573329" y="3266162"/>
            <a:ext cx="704375" cy="3219785"/>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vert="wordArtVert" anchor="ctr"/>
          <a:lstStyle/>
          <a:p>
            <a:pPr algn="ctr" eaLnBrk="0" hangingPunct="0">
              <a:defRPr/>
            </a:pPr>
            <a:r>
              <a:rPr lang="es-ES" b="1" dirty="0"/>
              <a:t>MEDIO AMBIENTE</a:t>
            </a:r>
          </a:p>
        </p:txBody>
      </p:sp>
      <p:sp>
        <p:nvSpPr>
          <p:cNvPr id="21" name="8 Rectángulo redondeado">
            <a:extLst>
              <a:ext uri="{FF2B5EF4-FFF2-40B4-BE49-F238E27FC236}">
                <a16:creationId xmlns:a16="http://schemas.microsoft.com/office/drawing/2014/main" id="{8732D94B-897C-3D13-C92A-7F48E7574653}"/>
              </a:ext>
            </a:extLst>
          </p:cNvPr>
          <p:cNvSpPr/>
          <p:nvPr/>
        </p:nvSpPr>
        <p:spPr>
          <a:xfrm>
            <a:off x="8293577" y="1911160"/>
            <a:ext cx="2409701" cy="656689"/>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spcBef>
                <a:spcPts val="600"/>
              </a:spcBef>
              <a:buClr>
                <a:srgbClr val="000099"/>
              </a:buClr>
              <a:defRPr/>
            </a:pPr>
            <a:r>
              <a:rPr lang="es-ES" altLang="es-ES" sz="2000" b="1" dirty="0">
                <a:solidFill>
                  <a:schemeClr val="bg1"/>
                </a:solidFill>
                <a:ea typeface="ＭＳ Ｐゴシック" pitchFamily="34" charset="-128"/>
                <a:cs typeface="Arial" pitchFamily="34" charset="0"/>
              </a:rPr>
              <a:t>Derechos laborales</a:t>
            </a:r>
          </a:p>
        </p:txBody>
      </p:sp>
    </p:spTree>
    <p:extLst>
      <p:ext uri="{BB962C8B-B14F-4D97-AF65-F5344CB8AC3E}">
        <p14:creationId xmlns:p14="http://schemas.microsoft.com/office/powerpoint/2010/main" val="23736524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ftr" sz="quarter"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600">
                <a:solidFill>
                  <a:schemeClr val="bg1"/>
                </a:solidFill>
              </a:rPr>
              <a:t> </a:t>
            </a:r>
          </a:p>
          <a:p>
            <a:pPr>
              <a:spcBef>
                <a:spcPct val="0"/>
              </a:spcBef>
              <a:buClrTx/>
              <a:buFontTx/>
              <a:buNone/>
            </a:pPr>
            <a:endParaRPr lang="es-ES" altLang="es-ES" sz="1000">
              <a:solidFill>
                <a:schemeClr val="tx1"/>
              </a:solidFill>
            </a:endParaRPr>
          </a:p>
        </p:txBody>
      </p:sp>
      <p:sp>
        <p:nvSpPr>
          <p:cNvPr id="51204" name="Rectangle 6"/>
          <p:cNvSpPr>
            <a:spLocks noGrp="1" noChangeArrowheads="1"/>
          </p:cNvSpPr>
          <p:nvPr>
            <p:ph type="title" idx="4294967295"/>
          </p:nvPr>
        </p:nvSpPr>
        <p:spPr>
          <a:xfrm>
            <a:off x="1524000" y="-73025"/>
            <a:ext cx="9144000" cy="689928"/>
          </a:xfrm>
        </p:spPr>
        <p:txBody>
          <a:bodyPr>
            <a:normAutofit/>
          </a:bodyPr>
          <a:lstStyle/>
          <a:p>
            <a:r>
              <a:rPr lang="es-ES_tradnl" altLang="es-ES" b="1" dirty="0"/>
              <a:t>RSC estratégica: asuntos relevantes sector TIC</a:t>
            </a:r>
          </a:p>
        </p:txBody>
      </p:sp>
      <p:pic>
        <p:nvPicPr>
          <p:cNvPr id="3" name="Picture 2">
            <a:extLst>
              <a:ext uri="{FF2B5EF4-FFF2-40B4-BE49-F238E27FC236}">
                <a16:creationId xmlns:a16="http://schemas.microsoft.com/office/drawing/2014/main" id="{0A7308C0-AC1E-7BCD-83C6-C0707F30B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296" t="17520" r="25871" b="9767"/>
          <a:stretch>
            <a:fillRect/>
          </a:stretch>
        </p:blipFill>
        <p:spPr bwMode="auto">
          <a:xfrm>
            <a:off x="3012861" y="792363"/>
            <a:ext cx="6554788" cy="5722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44FC53C0-33B0-8BE8-6399-52D974F8E74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6434" t="28198" r="47131" b="26715"/>
          <a:stretch>
            <a:fillRect/>
          </a:stretch>
        </p:blipFill>
        <p:spPr bwMode="auto">
          <a:xfrm>
            <a:off x="1520611" y="1835351"/>
            <a:ext cx="1103313" cy="3341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5">
            <a:extLst>
              <a:ext uri="{FF2B5EF4-FFF2-40B4-BE49-F238E27FC236}">
                <a16:creationId xmlns:a16="http://schemas.microsoft.com/office/drawing/2014/main" id="{D98F267C-D75B-732E-68B6-68E75FEB5D0D}"/>
              </a:ext>
            </a:extLst>
          </p:cNvPr>
          <p:cNvSpPr txBox="1">
            <a:spLocks noChangeArrowheads="1"/>
          </p:cNvSpPr>
          <p:nvPr/>
        </p:nvSpPr>
        <p:spPr bwMode="auto">
          <a:xfrm>
            <a:off x="1947649" y="6320038"/>
            <a:ext cx="62976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000099"/>
              </a:buClr>
              <a:buFont typeface="Wingdings" pitchFamily="2" charset="2"/>
              <a:buChar char="ü"/>
              <a:defRPr sz="2800">
                <a:solidFill>
                  <a:schemeClr val="tx2"/>
                </a:solidFill>
                <a:latin typeface="Arial" pitchFamily="34" charset="0"/>
              </a:defRPr>
            </a:lvl1pPr>
            <a:lvl2pPr marL="742950" indent="-285750" eaLnBrk="0" hangingPunct="0">
              <a:spcBef>
                <a:spcPct val="20000"/>
              </a:spcBef>
              <a:buClr>
                <a:srgbClr val="000099"/>
              </a:buClr>
              <a:buFont typeface="Wingdings" pitchFamily="2" charset="2"/>
              <a:buChar char="ü"/>
              <a:defRPr sz="2400">
                <a:solidFill>
                  <a:schemeClr val="tx2"/>
                </a:solidFill>
                <a:latin typeface="Arial" pitchFamily="34" charset="0"/>
              </a:defRPr>
            </a:lvl2pPr>
            <a:lvl3pPr marL="1143000" indent="-228600" eaLnBrk="0" hangingPunct="0">
              <a:spcBef>
                <a:spcPct val="20000"/>
              </a:spcBef>
              <a:buClr>
                <a:srgbClr val="000099"/>
              </a:buClr>
              <a:buFont typeface="Wingdings" pitchFamily="2" charset="2"/>
              <a:buChar char="ü"/>
              <a:defRPr sz="2200">
                <a:solidFill>
                  <a:schemeClr val="tx2"/>
                </a:solidFill>
                <a:latin typeface="Arial" pitchFamily="34" charset="0"/>
              </a:defRPr>
            </a:lvl3pPr>
            <a:lvl4pPr marL="1600200" indent="-228600" eaLnBrk="0" hangingPunct="0">
              <a:spcBef>
                <a:spcPct val="20000"/>
              </a:spcBef>
              <a:buClr>
                <a:srgbClr val="000099"/>
              </a:buClr>
              <a:buFont typeface="Wingdings" pitchFamily="2" charset="2"/>
              <a:buChar char="ü"/>
              <a:defRPr sz="2000">
                <a:solidFill>
                  <a:schemeClr val="tx2"/>
                </a:solidFill>
                <a:latin typeface="Arial" pitchFamily="34" charset="0"/>
              </a:defRPr>
            </a:lvl4pPr>
            <a:lvl5pPr marL="2057400" indent="-228600" eaLnBrk="0" hangingPunct="0">
              <a:spcBef>
                <a:spcPct val="20000"/>
              </a:spcBef>
              <a:buClr>
                <a:srgbClr val="000099"/>
              </a:buClr>
              <a:buFont typeface="Wingdings" pitchFamily="2" charset="2"/>
              <a:buChar char="ü"/>
              <a:defRPr sz="2000">
                <a:solidFill>
                  <a:schemeClr val="tx2"/>
                </a:solidFill>
                <a:latin typeface="Arial" pitchFamily="34" charset="0"/>
              </a:defRPr>
            </a:lvl5pPr>
            <a:lvl6pPr marL="2514600"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6pPr>
            <a:lvl7pPr marL="2971800"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7pPr>
            <a:lvl8pPr marL="3429000"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8pPr>
            <a:lvl9pPr marL="3886200"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9pPr>
          </a:lstStyle>
          <a:p>
            <a:pPr eaLnBrk="1" hangingPunct="1">
              <a:spcBef>
                <a:spcPct val="0"/>
              </a:spcBef>
              <a:buClrTx/>
              <a:buFontTx/>
              <a:buNone/>
            </a:pPr>
            <a:r>
              <a:rPr lang="es-ES" altLang="es-ES" sz="1600">
                <a:solidFill>
                  <a:schemeClr val="bg1"/>
                </a:solidFill>
              </a:rPr>
              <a:t> </a:t>
            </a:r>
          </a:p>
          <a:p>
            <a:pPr eaLnBrk="1" hangingPunct="1">
              <a:spcBef>
                <a:spcPct val="0"/>
              </a:spcBef>
              <a:buClrTx/>
              <a:buFontTx/>
              <a:buNone/>
            </a:pPr>
            <a:endParaRPr lang="es-ES" altLang="es-ES" sz="1000">
              <a:solidFill>
                <a:schemeClr val="tx1"/>
              </a:solidFill>
            </a:endParaRPr>
          </a:p>
        </p:txBody>
      </p:sp>
      <p:sp>
        <p:nvSpPr>
          <p:cNvPr id="6" name="10 Rectángulo redondeado">
            <a:extLst>
              <a:ext uri="{FF2B5EF4-FFF2-40B4-BE49-F238E27FC236}">
                <a16:creationId xmlns:a16="http://schemas.microsoft.com/office/drawing/2014/main" id="{DDCC6429-E855-1411-0F51-15DCBAB657DC}"/>
              </a:ext>
            </a:extLst>
          </p:cNvPr>
          <p:cNvSpPr/>
          <p:nvPr/>
        </p:nvSpPr>
        <p:spPr>
          <a:xfrm>
            <a:off x="9017580" y="2077691"/>
            <a:ext cx="2684462" cy="1664793"/>
          </a:xfrm>
          <a:prstGeom prst="round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spcBef>
                <a:spcPts val="600"/>
              </a:spcBef>
              <a:buClr>
                <a:srgbClr val="000099"/>
              </a:buClr>
              <a:defRPr/>
            </a:pPr>
            <a:r>
              <a:rPr lang="es-ES" altLang="es-ES" sz="2000" b="1" dirty="0">
                <a:solidFill>
                  <a:schemeClr val="bg1"/>
                </a:solidFill>
                <a:ea typeface="ＭＳ Ｐゴシック" pitchFamily="34" charset="-128"/>
                <a:cs typeface="Arial" pitchFamily="34" charset="0"/>
              </a:rPr>
              <a:t>Seguridad</a:t>
            </a:r>
          </a:p>
          <a:p>
            <a:pPr algn="ctr" eaLnBrk="0" hangingPunct="0">
              <a:spcBef>
                <a:spcPts val="600"/>
              </a:spcBef>
              <a:buClr>
                <a:srgbClr val="000099"/>
              </a:buClr>
              <a:defRPr/>
            </a:pPr>
            <a:r>
              <a:rPr lang="es-ES" altLang="es-ES" sz="2000" b="1" dirty="0">
                <a:solidFill>
                  <a:schemeClr val="bg1"/>
                </a:solidFill>
                <a:ea typeface="ＭＳ Ｐゴシック" pitchFamily="34" charset="-128"/>
                <a:cs typeface="Arial" pitchFamily="34" charset="0"/>
              </a:rPr>
              <a:t>Privacidad</a:t>
            </a:r>
          </a:p>
          <a:p>
            <a:pPr algn="ctr" eaLnBrk="0" hangingPunct="0">
              <a:spcBef>
                <a:spcPts val="600"/>
              </a:spcBef>
              <a:buClr>
                <a:srgbClr val="000099"/>
              </a:buClr>
              <a:defRPr/>
            </a:pPr>
            <a:r>
              <a:rPr lang="es-ES" altLang="es-ES" sz="2000" b="1" dirty="0">
                <a:solidFill>
                  <a:schemeClr val="bg1"/>
                </a:solidFill>
                <a:ea typeface="ＭＳ Ｐゴシック" pitchFamily="34" charset="-128"/>
                <a:cs typeface="Arial" pitchFamily="34" charset="0"/>
              </a:rPr>
              <a:t>Libertad expresión</a:t>
            </a:r>
          </a:p>
          <a:p>
            <a:pPr algn="ctr" eaLnBrk="0" hangingPunct="0">
              <a:spcBef>
                <a:spcPts val="600"/>
              </a:spcBef>
              <a:buClr>
                <a:srgbClr val="000099"/>
              </a:buClr>
              <a:defRPr/>
            </a:pPr>
            <a:r>
              <a:rPr lang="es-ES" altLang="es-ES" sz="2000" b="1" dirty="0">
                <a:solidFill>
                  <a:schemeClr val="bg1"/>
                </a:solidFill>
                <a:ea typeface="ＭＳ Ｐゴシック" pitchFamily="34" charset="-128"/>
                <a:cs typeface="Arial" pitchFamily="34" charset="0"/>
              </a:rPr>
              <a:t>Empoderar</a:t>
            </a:r>
          </a:p>
        </p:txBody>
      </p:sp>
      <p:sp>
        <p:nvSpPr>
          <p:cNvPr id="7" name="11 Rectángulo redondeado">
            <a:extLst>
              <a:ext uri="{FF2B5EF4-FFF2-40B4-BE49-F238E27FC236}">
                <a16:creationId xmlns:a16="http://schemas.microsoft.com/office/drawing/2014/main" id="{D004C681-2A7C-8229-5AA0-FD02D1E2A4E7}"/>
              </a:ext>
            </a:extLst>
          </p:cNvPr>
          <p:cNvSpPr/>
          <p:nvPr/>
        </p:nvSpPr>
        <p:spPr>
          <a:xfrm>
            <a:off x="7857911" y="4119763"/>
            <a:ext cx="2319338" cy="990600"/>
          </a:xfrm>
          <a:prstGeom prst="round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spcBef>
                <a:spcPts val="600"/>
              </a:spcBef>
              <a:buClr>
                <a:srgbClr val="000099"/>
              </a:buClr>
              <a:defRPr/>
            </a:pPr>
            <a:r>
              <a:rPr lang="es-ES" altLang="es-ES" sz="2000" b="1" dirty="0">
                <a:solidFill>
                  <a:schemeClr val="bg1"/>
                </a:solidFill>
                <a:ea typeface="ＭＳ Ｐゴシック" pitchFamily="34" charset="-128"/>
                <a:cs typeface="Arial" pitchFamily="34" charset="0"/>
              </a:rPr>
              <a:t>Propiedad Intelectual</a:t>
            </a:r>
          </a:p>
        </p:txBody>
      </p:sp>
      <p:cxnSp>
        <p:nvCxnSpPr>
          <p:cNvPr id="8" name="12 Conector recto">
            <a:extLst>
              <a:ext uri="{FF2B5EF4-FFF2-40B4-BE49-F238E27FC236}">
                <a16:creationId xmlns:a16="http://schemas.microsoft.com/office/drawing/2014/main" id="{75345F5A-6709-EB0F-5AE2-42C3B10B3567}"/>
              </a:ext>
            </a:extLst>
          </p:cNvPr>
          <p:cNvCxnSpPr/>
          <p:nvPr/>
        </p:nvCxnSpPr>
        <p:spPr>
          <a:xfrm>
            <a:off x="5136936" y="4859538"/>
            <a:ext cx="1919288" cy="0"/>
          </a:xfrm>
          <a:prstGeom prst="line">
            <a:avLst/>
          </a:prstGeom>
          <a:ln w="38100">
            <a:solidFill>
              <a:srgbClr val="CC0066"/>
            </a:solidFill>
          </a:ln>
        </p:spPr>
        <p:style>
          <a:lnRef idx="1">
            <a:schemeClr val="accent1"/>
          </a:lnRef>
          <a:fillRef idx="0">
            <a:schemeClr val="accent1"/>
          </a:fillRef>
          <a:effectRef idx="0">
            <a:schemeClr val="accent1"/>
          </a:effectRef>
          <a:fontRef idx="minor">
            <a:schemeClr val="tx1"/>
          </a:fontRef>
        </p:style>
      </p:cxnSp>
      <p:sp>
        <p:nvSpPr>
          <p:cNvPr id="9" name="13 Rectángulo redondeado">
            <a:extLst>
              <a:ext uri="{FF2B5EF4-FFF2-40B4-BE49-F238E27FC236}">
                <a16:creationId xmlns:a16="http://schemas.microsoft.com/office/drawing/2014/main" id="{84D8E298-8B32-6BD9-E6B1-8E12370EF970}"/>
              </a:ext>
            </a:extLst>
          </p:cNvPr>
          <p:cNvSpPr/>
          <p:nvPr/>
        </p:nvSpPr>
        <p:spPr>
          <a:xfrm>
            <a:off x="7630529" y="1215433"/>
            <a:ext cx="3454400" cy="620712"/>
          </a:xfrm>
          <a:prstGeom prst="roundRec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s-ES" sz="2000" b="1" dirty="0"/>
              <a:t>Protección consumidor</a:t>
            </a:r>
          </a:p>
          <a:p>
            <a:pPr algn="ctr" eaLnBrk="0" hangingPunct="0">
              <a:defRPr/>
            </a:pPr>
            <a:r>
              <a:rPr lang="es-ES" sz="2000" b="1" dirty="0"/>
              <a:t>Salud</a:t>
            </a:r>
          </a:p>
        </p:txBody>
      </p:sp>
      <p:cxnSp>
        <p:nvCxnSpPr>
          <p:cNvPr id="13" name="14 Conector recto">
            <a:extLst>
              <a:ext uri="{FF2B5EF4-FFF2-40B4-BE49-F238E27FC236}">
                <a16:creationId xmlns:a16="http://schemas.microsoft.com/office/drawing/2014/main" id="{3322B6AE-3495-EB87-77AF-8B70654AF3CE}"/>
              </a:ext>
            </a:extLst>
          </p:cNvPr>
          <p:cNvCxnSpPr/>
          <p:nvPr/>
        </p:nvCxnSpPr>
        <p:spPr>
          <a:xfrm>
            <a:off x="5116299" y="5435801"/>
            <a:ext cx="15621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15 Conector recto">
            <a:extLst>
              <a:ext uri="{FF2B5EF4-FFF2-40B4-BE49-F238E27FC236}">
                <a16:creationId xmlns:a16="http://schemas.microsoft.com/office/drawing/2014/main" id="{99AB8457-D551-D60F-0BED-4231199DCEF3}"/>
              </a:ext>
            </a:extLst>
          </p:cNvPr>
          <p:cNvCxnSpPr/>
          <p:nvPr/>
        </p:nvCxnSpPr>
        <p:spPr>
          <a:xfrm>
            <a:off x="5116299" y="3922913"/>
            <a:ext cx="3657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16 Rectángulo redondeado">
            <a:extLst>
              <a:ext uri="{FF2B5EF4-FFF2-40B4-BE49-F238E27FC236}">
                <a16:creationId xmlns:a16="http://schemas.microsoft.com/office/drawing/2014/main" id="{AB2A0DAD-F421-5EF8-02FA-527BCE9CBED8}"/>
              </a:ext>
            </a:extLst>
          </p:cNvPr>
          <p:cNvSpPr/>
          <p:nvPr/>
        </p:nvSpPr>
        <p:spPr>
          <a:xfrm>
            <a:off x="2553316" y="4119763"/>
            <a:ext cx="2222500" cy="620713"/>
          </a:xfrm>
          <a:prstGeom prst="roundRec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r>
              <a:rPr lang="es-ES" sz="2000" b="1" dirty="0"/>
              <a:t>No corrupción</a:t>
            </a:r>
          </a:p>
        </p:txBody>
      </p:sp>
      <p:sp>
        <p:nvSpPr>
          <p:cNvPr id="17" name="17 Rectángulo redondeado">
            <a:extLst>
              <a:ext uri="{FF2B5EF4-FFF2-40B4-BE49-F238E27FC236}">
                <a16:creationId xmlns:a16="http://schemas.microsoft.com/office/drawing/2014/main" id="{147B5486-9751-3F5A-C136-6CF8DDC22E38}"/>
              </a:ext>
            </a:extLst>
          </p:cNvPr>
          <p:cNvSpPr/>
          <p:nvPr/>
        </p:nvSpPr>
        <p:spPr>
          <a:xfrm>
            <a:off x="7869024" y="5485013"/>
            <a:ext cx="2222500" cy="1006475"/>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s-ES" sz="2000" b="1" dirty="0"/>
              <a:t>Derechos humanos</a:t>
            </a:r>
          </a:p>
          <a:p>
            <a:pPr algn="ctr" eaLnBrk="0" hangingPunct="0">
              <a:defRPr/>
            </a:pPr>
            <a:r>
              <a:rPr lang="es-ES" sz="2000" b="1" dirty="0"/>
              <a:t>Medioambiente</a:t>
            </a:r>
          </a:p>
        </p:txBody>
      </p:sp>
      <p:cxnSp>
        <p:nvCxnSpPr>
          <p:cNvPr id="18" name="18 Conector recto">
            <a:extLst>
              <a:ext uri="{FF2B5EF4-FFF2-40B4-BE49-F238E27FC236}">
                <a16:creationId xmlns:a16="http://schemas.microsoft.com/office/drawing/2014/main" id="{632C5924-7517-6C7B-3954-C466011A24DC}"/>
              </a:ext>
            </a:extLst>
          </p:cNvPr>
          <p:cNvCxnSpPr/>
          <p:nvPr/>
        </p:nvCxnSpPr>
        <p:spPr>
          <a:xfrm>
            <a:off x="5095661" y="2698951"/>
            <a:ext cx="1390650" cy="0"/>
          </a:xfrm>
          <a:prstGeom prst="line">
            <a:avLst/>
          </a:prstGeom>
          <a:ln w="38100">
            <a:solidFill>
              <a:srgbClr val="CC0066"/>
            </a:solidFill>
          </a:ln>
        </p:spPr>
        <p:style>
          <a:lnRef idx="1">
            <a:schemeClr val="accent1"/>
          </a:lnRef>
          <a:fillRef idx="0">
            <a:schemeClr val="accent1"/>
          </a:fillRef>
          <a:effectRef idx="0">
            <a:schemeClr val="accent1"/>
          </a:effectRef>
          <a:fontRef idx="minor">
            <a:schemeClr val="tx1"/>
          </a:fontRef>
        </p:style>
      </p:cxnSp>
      <p:cxnSp>
        <p:nvCxnSpPr>
          <p:cNvPr id="19" name="19 Conector recto">
            <a:extLst>
              <a:ext uri="{FF2B5EF4-FFF2-40B4-BE49-F238E27FC236}">
                <a16:creationId xmlns:a16="http://schemas.microsoft.com/office/drawing/2014/main" id="{842D6096-B98C-6F65-A1D0-D2B7B7CBA2A1}"/>
              </a:ext>
            </a:extLst>
          </p:cNvPr>
          <p:cNvCxnSpPr/>
          <p:nvPr/>
        </p:nvCxnSpPr>
        <p:spPr>
          <a:xfrm>
            <a:off x="5049624" y="3308551"/>
            <a:ext cx="695325" cy="0"/>
          </a:xfrm>
          <a:prstGeom prst="line">
            <a:avLst/>
          </a:prstGeom>
          <a:ln w="38100">
            <a:solidFill>
              <a:srgbClr val="CC0066"/>
            </a:solidFill>
          </a:ln>
        </p:spPr>
        <p:style>
          <a:lnRef idx="1">
            <a:schemeClr val="accent1"/>
          </a:lnRef>
          <a:fillRef idx="0">
            <a:schemeClr val="accent1"/>
          </a:fillRef>
          <a:effectRef idx="0">
            <a:schemeClr val="accent1"/>
          </a:effectRef>
          <a:fontRef idx="minor">
            <a:schemeClr val="tx1"/>
          </a:fontRef>
        </p:style>
      </p:cxnSp>
      <p:cxnSp>
        <p:nvCxnSpPr>
          <p:cNvPr id="20" name="20 Conector recto">
            <a:extLst>
              <a:ext uri="{FF2B5EF4-FFF2-40B4-BE49-F238E27FC236}">
                <a16:creationId xmlns:a16="http://schemas.microsoft.com/office/drawing/2014/main" id="{71DDE197-E061-6429-3DB0-C357FD7E3B7C}"/>
              </a:ext>
            </a:extLst>
          </p:cNvPr>
          <p:cNvCxnSpPr/>
          <p:nvPr/>
        </p:nvCxnSpPr>
        <p:spPr>
          <a:xfrm>
            <a:off x="5116299" y="3130751"/>
            <a:ext cx="3443287" cy="0"/>
          </a:xfrm>
          <a:prstGeom prst="line">
            <a:avLst/>
          </a:prstGeom>
          <a:ln w="38100">
            <a:solidFill>
              <a:srgbClr val="CC0066"/>
            </a:solidFill>
          </a:ln>
        </p:spPr>
        <p:style>
          <a:lnRef idx="1">
            <a:schemeClr val="accent1"/>
          </a:lnRef>
          <a:fillRef idx="0">
            <a:schemeClr val="accent1"/>
          </a:fillRef>
          <a:effectRef idx="0">
            <a:schemeClr val="accent1"/>
          </a:effectRef>
          <a:fontRef idx="minor">
            <a:schemeClr val="tx1"/>
          </a:fontRef>
        </p:style>
      </p:cxnSp>
      <p:cxnSp>
        <p:nvCxnSpPr>
          <p:cNvPr id="22" name="21 Conector recto">
            <a:extLst>
              <a:ext uri="{FF2B5EF4-FFF2-40B4-BE49-F238E27FC236}">
                <a16:creationId xmlns:a16="http://schemas.microsoft.com/office/drawing/2014/main" id="{D8494EC1-4CB0-18E4-9CBF-3863233A1FAC}"/>
              </a:ext>
            </a:extLst>
          </p:cNvPr>
          <p:cNvCxnSpPr/>
          <p:nvPr/>
        </p:nvCxnSpPr>
        <p:spPr>
          <a:xfrm>
            <a:off x="5095661" y="2986288"/>
            <a:ext cx="1960563" cy="0"/>
          </a:xfrm>
          <a:prstGeom prst="line">
            <a:avLst/>
          </a:prstGeom>
          <a:ln w="38100">
            <a:solidFill>
              <a:srgbClr val="CC00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4452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ftr" sz="quarter"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600">
                <a:solidFill>
                  <a:schemeClr val="bg1"/>
                </a:solidFill>
              </a:rPr>
              <a:t> </a:t>
            </a:r>
          </a:p>
          <a:p>
            <a:pPr>
              <a:spcBef>
                <a:spcPct val="0"/>
              </a:spcBef>
              <a:buClrTx/>
              <a:buFontTx/>
              <a:buNone/>
            </a:pPr>
            <a:endParaRPr lang="es-ES" altLang="es-ES" sz="1000">
              <a:solidFill>
                <a:schemeClr val="tx1"/>
              </a:solidFill>
            </a:endParaRPr>
          </a:p>
        </p:txBody>
      </p:sp>
      <p:sp>
        <p:nvSpPr>
          <p:cNvPr id="59395" name="5 Marcador de número de diapositiva"/>
          <p:cNvSpPr txBox="1">
            <a:spLocks noGrp="1"/>
          </p:cNvSpPr>
          <p:nvPr/>
        </p:nvSpPr>
        <p:spPr bwMode="auto">
          <a:xfrm>
            <a:off x="6167439" y="6284913"/>
            <a:ext cx="50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eaLnBrk="1" hangingPunct="1">
              <a:spcBef>
                <a:spcPct val="0"/>
              </a:spcBef>
              <a:buClrTx/>
              <a:buFontTx/>
              <a:buNone/>
            </a:pPr>
            <a:fld id="{8DEF31CE-DE12-4F55-A14C-A7B71F56FB8D}" type="slidenum">
              <a:rPr lang="es-ES" altLang="es-ES" sz="1400">
                <a:solidFill>
                  <a:schemeClr val="tx1"/>
                </a:solidFill>
              </a:rPr>
              <a:pPr eaLnBrk="1" hangingPunct="1">
                <a:spcBef>
                  <a:spcPct val="0"/>
                </a:spcBef>
                <a:buClrTx/>
                <a:buFontTx/>
                <a:buNone/>
              </a:pPr>
              <a:t>48</a:t>
            </a:fld>
            <a:endParaRPr lang="es-ES" altLang="es-ES" sz="1400">
              <a:solidFill>
                <a:schemeClr val="tx1"/>
              </a:solidFill>
            </a:endParaRPr>
          </a:p>
        </p:txBody>
      </p:sp>
      <p:sp>
        <p:nvSpPr>
          <p:cNvPr id="59396" name="Rectangle 6"/>
          <p:cNvSpPr>
            <a:spLocks noGrp="1" noChangeArrowheads="1"/>
          </p:cNvSpPr>
          <p:nvPr>
            <p:ph type="title" idx="4294967295"/>
          </p:nvPr>
        </p:nvSpPr>
        <p:spPr>
          <a:xfrm>
            <a:off x="1524000" y="58738"/>
            <a:ext cx="9144000" cy="519112"/>
          </a:xfrm>
        </p:spPr>
        <p:txBody>
          <a:bodyPr>
            <a:normAutofit fontScale="90000"/>
          </a:bodyPr>
          <a:lstStyle/>
          <a:p>
            <a:r>
              <a:rPr lang="es-ES_tradnl" altLang="es-ES" b="1"/>
              <a:t>¿Qué NO es la RSC?</a:t>
            </a:r>
          </a:p>
        </p:txBody>
      </p:sp>
      <p:sp>
        <p:nvSpPr>
          <p:cNvPr id="59397" name="2 Rectángulo"/>
          <p:cNvSpPr>
            <a:spLocks noChangeArrowheads="1"/>
          </p:cNvSpPr>
          <p:nvPr/>
        </p:nvSpPr>
        <p:spPr bwMode="auto">
          <a:xfrm>
            <a:off x="4800600" y="655638"/>
            <a:ext cx="4210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800">
                <a:solidFill>
                  <a:schemeClr val="tx1"/>
                </a:solidFill>
                <a:hlinkClick r:id="rId3"/>
              </a:rPr>
              <a:t>http://observatoriorsc.org/la-rsc-que-es/</a:t>
            </a:r>
            <a:endParaRPr lang="es-ES" altLang="es-ES" sz="1800">
              <a:solidFill>
                <a:schemeClr val="tx1"/>
              </a:solidFill>
            </a:endParaRPr>
          </a:p>
        </p:txBody>
      </p:sp>
      <p:pic>
        <p:nvPicPr>
          <p:cNvPr id="59398" name="Picture 2"/>
          <p:cNvPicPr>
            <a:picLocks noChangeAspect="1" noChangeArrowheads="1"/>
          </p:cNvPicPr>
          <p:nvPr/>
        </p:nvPicPr>
        <p:blipFill>
          <a:blip r:embed="rId4">
            <a:extLst>
              <a:ext uri="{28A0092B-C50C-407E-A947-70E740481C1C}">
                <a14:useLocalDpi xmlns:a14="http://schemas.microsoft.com/office/drawing/2010/main" val="0"/>
              </a:ext>
            </a:extLst>
          </a:blip>
          <a:srcRect l="16745" t="21786" r="63464" b="66510"/>
          <a:stretch>
            <a:fillRect/>
          </a:stretch>
        </p:blipFill>
        <p:spPr bwMode="auto">
          <a:xfrm>
            <a:off x="1555750" y="557213"/>
            <a:ext cx="2806700" cy="93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559" name="Rectangle 7"/>
          <p:cNvSpPr txBox="1">
            <a:spLocks noChangeArrowheads="1"/>
          </p:cNvSpPr>
          <p:nvPr/>
        </p:nvSpPr>
        <p:spPr bwMode="auto">
          <a:xfrm>
            <a:off x="1774826" y="1700213"/>
            <a:ext cx="8532813"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1325" indent="-441325" eaLnBrk="0" hangingPunct="0">
              <a:spcBef>
                <a:spcPct val="20000"/>
              </a:spcBef>
              <a:buClr>
                <a:srgbClr val="000099"/>
              </a:buClr>
              <a:buFont typeface="Wingdings" pitchFamily="2" charset="2"/>
              <a:buChar char="ü"/>
              <a:defRPr sz="2800">
                <a:solidFill>
                  <a:schemeClr val="tx2"/>
                </a:solidFill>
                <a:latin typeface="Arial" pitchFamily="34" charset="0"/>
              </a:defRPr>
            </a:lvl1pPr>
            <a:lvl2pPr marL="906463" indent="-285750" eaLnBrk="0" hangingPunct="0">
              <a:spcBef>
                <a:spcPct val="20000"/>
              </a:spcBef>
              <a:buClr>
                <a:srgbClr val="000099"/>
              </a:buClr>
              <a:buFont typeface="Wingdings" pitchFamily="2" charset="2"/>
              <a:buChar char="ü"/>
              <a:defRPr sz="2400">
                <a:solidFill>
                  <a:schemeClr val="tx2"/>
                </a:solidFill>
                <a:latin typeface="Arial" pitchFamily="34" charset="0"/>
              </a:defRPr>
            </a:lvl2pPr>
            <a:lvl3pPr marL="1314450" indent="-228600" eaLnBrk="0" hangingPunct="0">
              <a:spcBef>
                <a:spcPct val="20000"/>
              </a:spcBef>
              <a:buClr>
                <a:srgbClr val="000099"/>
              </a:buClr>
              <a:buFont typeface="Wingdings" pitchFamily="2" charset="2"/>
              <a:buChar char="ü"/>
              <a:defRPr sz="2200">
                <a:solidFill>
                  <a:schemeClr val="tx2"/>
                </a:solidFill>
                <a:latin typeface="Arial" pitchFamily="34" charset="0"/>
              </a:defRPr>
            </a:lvl3pPr>
            <a:lvl4pPr marL="1722438" indent="-228600" eaLnBrk="0" hangingPunct="0">
              <a:spcBef>
                <a:spcPct val="20000"/>
              </a:spcBef>
              <a:buClr>
                <a:srgbClr val="000099"/>
              </a:buClr>
              <a:buFont typeface="Wingdings" pitchFamily="2" charset="2"/>
              <a:buChar char="ü"/>
              <a:defRPr sz="2000">
                <a:solidFill>
                  <a:schemeClr val="tx2"/>
                </a:solidFill>
                <a:latin typeface="Arial" pitchFamily="34" charset="0"/>
              </a:defRPr>
            </a:lvl4pPr>
            <a:lvl5pPr marL="2130425" indent="-228600" eaLnBrk="0" hangingPunct="0">
              <a:spcBef>
                <a:spcPct val="20000"/>
              </a:spcBef>
              <a:buClr>
                <a:srgbClr val="000099"/>
              </a:buClr>
              <a:buFont typeface="Wingdings" pitchFamily="2" charset="2"/>
              <a:buChar char="ü"/>
              <a:defRPr sz="2000">
                <a:solidFill>
                  <a:schemeClr val="tx2"/>
                </a:solidFill>
                <a:latin typeface="Arial" pitchFamily="34" charset="0"/>
              </a:defRPr>
            </a:lvl5pPr>
            <a:lvl6pPr marL="2587625"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6pPr>
            <a:lvl7pPr marL="3044825"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7pPr>
            <a:lvl8pPr marL="3502025"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8pPr>
            <a:lvl9pPr marL="3959225" indent="-228600" eaLnBrk="0" fontAlgn="base" hangingPunct="0">
              <a:spcBef>
                <a:spcPct val="20000"/>
              </a:spcBef>
              <a:spcAft>
                <a:spcPct val="0"/>
              </a:spcAft>
              <a:buClr>
                <a:srgbClr val="000099"/>
              </a:buClr>
              <a:buFont typeface="Wingdings" pitchFamily="2" charset="2"/>
              <a:buChar char="ü"/>
              <a:defRPr sz="2000">
                <a:solidFill>
                  <a:schemeClr val="tx2"/>
                </a:solidFill>
                <a:latin typeface="Arial" pitchFamily="34" charset="0"/>
              </a:defRPr>
            </a:lvl9pPr>
          </a:lstStyle>
          <a:p>
            <a:pPr>
              <a:lnSpc>
                <a:spcPct val="90000"/>
              </a:lnSpc>
              <a:spcAft>
                <a:spcPts val="1200"/>
              </a:spcAft>
              <a:defRPr/>
            </a:pPr>
            <a:r>
              <a:rPr lang="es-ES" altLang="es-ES" sz="2400" dirty="0">
                <a:solidFill>
                  <a:srgbClr val="CC0066"/>
                </a:solidFill>
              </a:rPr>
              <a:t>NO es </a:t>
            </a:r>
            <a:r>
              <a:rPr lang="es-ES" altLang="es-ES" sz="2400" dirty="0"/>
              <a:t>acciones de patrocinio, donaciones,… con el fin de mejorar la reputación e imagen de la empresa</a:t>
            </a:r>
          </a:p>
          <a:p>
            <a:pPr>
              <a:lnSpc>
                <a:spcPct val="90000"/>
              </a:lnSpc>
              <a:spcAft>
                <a:spcPts val="1200"/>
              </a:spcAft>
              <a:defRPr/>
            </a:pPr>
            <a:r>
              <a:rPr lang="es-ES" altLang="es-ES" sz="2400" dirty="0">
                <a:solidFill>
                  <a:srgbClr val="CC0066"/>
                </a:solidFill>
              </a:rPr>
              <a:t>NO es </a:t>
            </a:r>
            <a:r>
              <a:rPr lang="es-ES" altLang="es-ES" sz="2400" dirty="0"/>
              <a:t>acuerdos de colaboración en proyectos sociales a cambio de beneficios de imagen</a:t>
            </a:r>
          </a:p>
          <a:p>
            <a:pPr>
              <a:lnSpc>
                <a:spcPct val="90000"/>
              </a:lnSpc>
              <a:spcAft>
                <a:spcPts val="1200"/>
              </a:spcAft>
              <a:defRPr/>
            </a:pPr>
            <a:endParaRPr lang="es-ES" altLang="es-ES" dirty="0"/>
          </a:p>
          <a:p>
            <a:pPr marL="0" indent="0">
              <a:lnSpc>
                <a:spcPct val="90000"/>
              </a:lnSpc>
              <a:spcAft>
                <a:spcPts val="1200"/>
              </a:spcAft>
              <a:buNone/>
              <a:defRPr/>
            </a:pPr>
            <a:endParaRPr lang="es-ES" altLang="es-ES" dirty="0"/>
          </a:p>
        </p:txBody>
      </p:sp>
      <p:grpSp>
        <p:nvGrpSpPr>
          <p:cNvPr id="27656" name="2 Grupo"/>
          <p:cNvGrpSpPr>
            <a:grpSpLocks/>
          </p:cNvGrpSpPr>
          <p:nvPr/>
        </p:nvGrpSpPr>
        <p:grpSpPr bwMode="auto">
          <a:xfrm>
            <a:off x="3225801" y="3573464"/>
            <a:ext cx="5421313" cy="2592387"/>
            <a:chOff x="1691680" y="3429000"/>
            <a:chExt cx="5421213" cy="2592288"/>
          </a:xfrm>
        </p:grpSpPr>
        <p:sp>
          <p:nvSpPr>
            <p:cNvPr id="10" name="9 Rectángulo redondeado"/>
            <p:cNvSpPr/>
            <p:nvPr/>
          </p:nvSpPr>
          <p:spPr>
            <a:xfrm>
              <a:off x="1691680" y="3429000"/>
              <a:ext cx="5421213" cy="2592288"/>
            </a:xfrm>
            <a:prstGeom prst="round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2400" b="1" dirty="0"/>
                <a:t>RSC</a:t>
              </a:r>
            </a:p>
            <a:p>
              <a:pPr algn="ctr">
                <a:defRPr/>
              </a:pPr>
              <a:endParaRPr lang="es-ES" sz="2400" b="1" dirty="0"/>
            </a:p>
            <a:p>
              <a:pPr algn="ctr">
                <a:defRPr/>
              </a:pPr>
              <a:endParaRPr lang="es-ES" sz="2400" b="1" dirty="0"/>
            </a:p>
            <a:p>
              <a:pPr algn="ctr">
                <a:defRPr/>
              </a:pPr>
              <a:r>
                <a:rPr lang="es-ES" sz="2400" b="1" dirty="0"/>
                <a:t>Actividad básica de la empresa</a:t>
              </a:r>
            </a:p>
            <a:p>
              <a:pPr algn="ctr">
                <a:defRPr/>
              </a:pPr>
              <a:r>
                <a:rPr lang="es-ES" sz="2400" b="1" dirty="0"/>
                <a:t>Vocación de permanencia</a:t>
              </a:r>
            </a:p>
            <a:p>
              <a:pPr algn="ctr">
                <a:defRPr/>
              </a:pPr>
              <a:r>
                <a:rPr lang="es-ES" sz="2400" b="1" dirty="0"/>
                <a:t>Compromiso de la alta dirección</a:t>
              </a:r>
            </a:p>
            <a:p>
              <a:pPr algn="ctr">
                <a:defRPr/>
              </a:pPr>
              <a:endParaRPr lang="es-ES" sz="2000" b="1" dirty="0"/>
            </a:p>
          </p:txBody>
        </p:sp>
        <p:sp>
          <p:nvSpPr>
            <p:cNvPr id="2" name="1 Flecha abajo"/>
            <p:cNvSpPr/>
            <p:nvPr/>
          </p:nvSpPr>
          <p:spPr>
            <a:xfrm>
              <a:off x="4222108" y="3933806"/>
              <a:ext cx="360356" cy="574653"/>
            </a:xfrm>
            <a:prstGeom prst="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grpSp>
    </p:spTree>
    <p:extLst>
      <p:ext uri="{BB962C8B-B14F-4D97-AF65-F5344CB8AC3E}">
        <p14:creationId xmlns:p14="http://schemas.microsoft.com/office/powerpoint/2010/main" val="4019080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5"/>
          <p:cNvSpPr>
            <a:spLocks noGrp="1" noChangeArrowheads="1"/>
          </p:cNvSpPr>
          <p:nvPr>
            <p:ph type="ftr" sz="quarter"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0099"/>
              </a:buClr>
              <a:buFont typeface="Wingdings" panose="05000000000000000000" pitchFamily="2" charset="2"/>
              <a:buChar char="ü"/>
              <a:defRPr sz="2800">
                <a:solidFill>
                  <a:schemeClr val="tx2"/>
                </a:solidFill>
                <a:latin typeface="Arial" panose="020B0604020202020204" pitchFamily="34" charset="0"/>
              </a:defRPr>
            </a:lvl1pPr>
            <a:lvl2pPr marL="742950" indent="-285750">
              <a:spcBef>
                <a:spcPct val="20000"/>
              </a:spcBef>
              <a:buClr>
                <a:srgbClr val="000099"/>
              </a:buClr>
              <a:buFont typeface="Wingdings" panose="05000000000000000000" pitchFamily="2" charset="2"/>
              <a:buChar char="ü"/>
              <a:defRPr sz="2400">
                <a:solidFill>
                  <a:schemeClr val="tx2"/>
                </a:solidFill>
                <a:latin typeface="Arial" panose="020B0604020202020204" pitchFamily="34" charset="0"/>
              </a:defRPr>
            </a:lvl2pPr>
            <a:lvl3pPr marL="1143000" indent="-228600">
              <a:spcBef>
                <a:spcPct val="20000"/>
              </a:spcBef>
              <a:buClr>
                <a:srgbClr val="000099"/>
              </a:buClr>
              <a:buFont typeface="Wingdings" panose="05000000000000000000" pitchFamily="2" charset="2"/>
              <a:buChar char="ü"/>
              <a:defRPr sz="2200">
                <a:solidFill>
                  <a:schemeClr val="tx2"/>
                </a:solidFill>
                <a:latin typeface="Arial" panose="020B0604020202020204" pitchFamily="34" charset="0"/>
              </a:defRPr>
            </a:lvl3pPr>
            <a:lvl4pPr marL="16002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4pPr>
            <a:lvl5pPr marL="2057400" indent="-228600">
              <a:spcBef>
                <a:spcPct val="20000"/>
              </a:spcBef>
              <a:buClr>
                <a:srgbClr val="000099"/>
              </a:buClr>
              <a:buFont typeface="Wingdings" panose="05000000000000000000" pitchFamily="2" charset="2"/>
              <a:buChar char="ü"/>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000099"/>
              </a:buClr>
              <a:buFont typeface="Wingdings" panose="05000000000000000000" pitchFamily="2" charset="2"/>
              <a:buChar char="ü"/>
              <a:defRPr sz="2000">
                <a:solidFill>
                  <a:schemeClr val="tx2"/>
                </a:solidFill>
                <a:latin typeface="Arial" panose="020B0604020202020204" pitchFamily="34" charset="0"/>
              </a:defRPr>
            </a:lvl9pPr>
          </a:lstStyle>
          <a:p>
            <a:pPr>
              <a:spcBef>
                <a:spcPct val="0"/>
              </a:spcBef>
              <a:buClrTx/>
              <a:buFontTx/>
              <a:buNone/>
            </a:pPr>
            <a:r>
              <a:rPr lang="es-ES" altLang="es-ES" sz="1600">
                <a:solidFill>
                  <a:schemeClr val="bg1"/>
                </a:solidFill>
              </a:rPr>
              <a:t> </a:t>
            </a:r>
          </a:p>
          <a:p>
            <a:pPr>
              <a:spcBef>
                <a:spcPct val="0"/>
              </a:spcBef>
              <a:buClrTx/>
              <a:buFontTx/>
              <a:buNone/>
            </a:pPr>
            <a:endParaRPr lang="es-ES" altLang="es-ES" sz="1000">
              <a:solidFill>
                <a:schemeClr val="tx1"/>
              </a:solidFill>
            </a:endParaRPr>
          </a:p>
        </p:txBody>
      </p:sp>
      <p:sp>
        <p:nvSpPr>
          <p:cNvPr id="71683" name="Rectangle 2"/>
          <p:cNvSpPr>
            <a:spLocks noGrp="1" noChangeArrowheads="1"/>
          </p:cNvSpPr>
          <p:nvPr>
            <p:ph type="body" idx="4294967295"/>
          </p:nvPr>
        </p:nvSpPr>
        <p:spPr>
          <a:xfrm>
            <a:off x="1703388" y="692150"/>
            <a:ext cx="882015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None/>
            </a:pPr>
            <a:endParaRPr lang="es-ES_tradnl" altLang="es-ES" sz="2000" dirty="0"/>
          </a:p>
          <a:p>
            <a:pPr>
              <a:lnSpc>
                <a:spcPct val="80000"/>
              </a:lnSpc>
              <a:buFont typeface="Wingdings" panose="05000000000000000000" pitchFamily="2" charset="2"/>
              <a:buNone/>
            </a:pPr>
            <a:endParaRPr lang="es-ES" altLang="es-ES" sz="1800" b="1" dirty="0"/>
          </a:p>
          <a:p>
            <a:pPr>
              <a:lnSpc>
                <a:spcPct val="80000"/>
              </a:lnSpc>
              <a:buFont typeface="Wingdings" panose="05000000000000000000" pitchFamily="2" charset="2"/>
              <a:buNone/>
            </a:pPr>
            <a:endParaRPr lang="es-ES" altLang="es-ES" sz="1800" b="1" dirty="0"/>
          </a:p>
          <a:p>
            <a:pPr>
              <a:lnSpc>
                <a:spcPct val="80000"/>
              </a:lnSpc>
              <a:buFont typeface="Wingdings" panose="05000000000000000000" pitchFamily="2" charset="2"/>
              <a:buNone/>
            </a:pPr>
            <a:endParaRPr lang="es-ES" altLang="es-ES" sz="1800" b="1" dirty="0"/>
          </a:p>
          <a:p>
            <a:pPr>
              <a:lnSpc>
                <a:spcPct val="80000"/>
              </a:lnSpc>
              <a:buFont typeface="Wingdings" panose="05000000000000000000" pitchFamily="2" charset="2"/>
              <a:buNone/>
            </a:pPr>
            <a:endParaRPr lang="es-ES" altLang="es-ES" sz="1800" b="1" dirty="0"/>
          </a:p>
          <a:p>
            <a:pPr>
              <a:lnSpc>
                <a:spcPct val="80000"/>
              </a:lnSpc>
              <a:buFont typeface="Wingdings" panose="05000000000000000000" pitchFamily="2" charset="2"/>
              <a:buNone/>
            </a:pPr>
            <a:endParaRPr lang="es-ES" altLang="es-ES" sz="1000" b="1" dirty="0"/>
          </a:p>
          <a:p>
            <a:pPr>
              <a:lnSpc>
                <a:spcPct val="80000"/>
              </a:lnSpc>
              <a:buFont typeface="Wingdings" panose="05000000000000000000" pitchFamily="2" charset="2"/>
              <a:buNone/>
            </a:pPr>
            <a:r>
              <a:rPr lang="es-ES" altLang="es-ES" sz="1000" dirty="0"/>
              <a:t>  </a:t>
            </a:r>
            <a:endParaRPr lang="es-ES" altLang="es-ES" sz="1000" b="1" dirty="0"/>
          </a:p>
        </p:txBody>
      </p:sp>
      <p:sp>
        <p:nvSpPr>
          <p:cNvPr id="71684" name="Rectangle 3"/>
          <p:cNvSpPr>
            <a:spLocks noGrp="1" noChangeArrowheads="1"/>
          </p:cNvSpPr>
          <p:nvPr>
            <p:ph type="title" idx="4294967295"/>
          </p:nvPr>
        </p:nvSpPr>
        <p:spPr>
          <a:xfrm>
            <a:off x="868680" y="-42862"/>
            <a:ext cx="10847070" cy="857250"/>
          </a:xfrm>
        </p:spPr>
        <p:txBody>
          <a:bodyPr>
            <a:normAutofit/>
          </a:bodyPr>
          <a:lstStyle/>
          <a:p>
            <a:pPr algn="l"/>
            <a:r>
              <a:rPr lang="es-ES" altLang="es-ES" dirty="0"/>
              <a:t> </a:t>
            </a:r>
            <a:r>
              <a:rPr lang="es-ES" altLang="es-ES" sz="2800" b="1" dirty="0"/>
              <a:t>INICIATIVAS EMPRESARIALES  RELACIONADAS CON RSC  </a:t>
            </a:r>
          </a:p>
        </p:txBody>
      </p:sp>
      <p:sp>
        <p:nvSpPr>
          <p:cNvPr id="71685" name="Rectángulo 1"/>
          <p:cNvSpPr>
            <a:spLocks noChangeArrowheads="1"/>
          </p:cNvSpPr>
          <p:nvPr/>
        </p:nvSpPr>
        <p:spPr bwMode="auto">
          <a:xfrm>
            <a:off x="388620" y="1828800"/>
            <a:ext cx="995553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ES" altLang="es-ES" sz="2400" b="1" dirty="0">
                <a:hlinkClick r:id="rId3"/>
              </a:rPr>
              <a:t>https://www.csreurope.org/</a:t>
            </a:r>
            <a:endParaRPr lang="es-ES" altLang="es-ES" sz="2400" b="1" dirty="0"/>
          </a:p>
          <a:p>
            <a:pPr algn="ctr"/>
            <a:endParaRPr lang="es-ES" altLang="es-ES" sz="2400" dirty="0">
              <a:solidFill>
                <a:schemeClr val="tx2"/>
              </a:solidFill>
            </a:endParaRPr>
          </a:p>
          <a:p>
            <a:pPr algn="ctr"/>
            <a:r>
              <a:rPr lang="es-ES" altLang="es-ES" sz="2400" dirty="0">
                <a:solidFill>
                  <a:schemeClr val="tx2"/>
                </a:solidFill>
              </a:rPr>
              <a:t>Plataforma de 39 multinacionales y 10.000 empresas europeas para trabajar conjuntamente sobre </a:t>
            </a:r>
            <a:r>
              <a:rPr lang="es-ES" altLang="es-ES" sz="2400" b="1" dirty="0">
                <a:solidFill>
                  <a:schemeClr val="tx2"/>
                </a:solidFill>
              </a:rPr>
              <a:t>RSC</a:t>
            </a:r>
          </a:p>
          <a:p>
            <a:pPr algn="ctr"/>
            <a:endParaRPr lang="es-ES" altLang="es-ES" sz="2400" b="1" dirty="0">
              <a:solidFill>
                <a:schemeClr val="tx2"/>
              </a:solidFill>
            </a:endParaRPr>
          </a:p>
          <a:p>
            <a:pPr algn="ctr"/>
            <a:endParaRPr lang="es-ES" altLang="es-ES" sz="2400" b="1" dirty="0">
              <a:solidFill>
                <a:schemeClr val="tx2"/>
              </a:solidFill>
            </a:endParaRPr>
          </a:p>
          <a:p>
            <a:pPr algn="ctr"/>
            <a:endParaRPr lang="es-ES" altLang="es-ES" sz="2400" b="1" dirty="0">
              <a:solidFill>
                <a:schemeClr val="tx2"/>
              </a:solidFill>
            </a:endParaRPr>
          </a:p>
          <a:p>
            <a:pPr algn="ctr"/>
            <a:endParaRPr lang="es-ES" altLang="es-ES" sz="2400" b="1" dirty="0">
              <a:solidFill>
                <a:schemeClr val="tx2"/>
              </a:solidFill>
              <a:hlinkClick r:id="rId4"/>
            </a:endParaRPr>
          </a:p>
          <a:p>
            <a:pPr algn="ctr"/>
            <a:endParaRPr lang="es-ES" altLang="es-ES" sz="2400" b="1" dirty="0">
              <a:solidFill>
                <a:schemeClr val="tx2"/>
              </a:solidFill>
              <a:hlinkClick r:id="rId4"/>
            </a:endParaRPr>
          </a:p>
          <a:p>
            <a:pPr algn="ctr"/>
            <a:r>
              <a:rPr lang="es-ES" altLang="es-ES" sz="2400" b="1" dirty="0">
                <a:solidFill>
                  <a:schemeClr val="tx2"/>
                </a:solidFill>
                <a:hlinkClick r:id="rId4"/>
              </a:rPr>
              <a:t>https://www.bcorpspain.es/movimiento-b</a:t>
            </a:r>
            <a:endParaRPr lang="es-ES" altLang="es-ES" sz="2400" b="1" dirty="0">
              <a:solidFill>
                <a:schemeClr val="tx2"/>
              </a:solidFill>
            </a:endParaRPr>
          </a:p>
          <a:p>
            <a:pPr algn="ctr"/>
            <a:endParaRPr lang="es-ES" altLang="es-ES" sz="2400" b="1" dirty="0">
              <a:solidFill>
                <a:schemeClr val="tx2"/>
              </a:solidFill>
            </a:endParaRPr>
          </a:p>
        </p:txBody>
      </p:sp>
      <p:pic>
        <p:nvPicPr>
          <p:cNvPr id="71686" name="Picture 6"/>
          <p:cNvPicPr>
            <a:picLocks noChangeAspect="1" noChangeArrowheads="1"/>
          </p:cNvPicPr>
          <p:nvPr/>
        </p:nvPicPr>
        <p:blipFill>
          <a:blip r:embed="rId5">
            <a:extLst>
              <a:ext uri="{28A0092B-C50C-407E-A947-70E740481C1C}">
                <a14:useLocalDpi xmlns:a14="http://schemas.microsoft.com/office/drawing/2010/main" val="0"/>
              </a:ext>
            </a:extLst>
          </a:blip>
          <a:srcRect l="16797" t="14746" r="55312" b="67084"/>
          <a:stretch>
            <a:fillRect/>
          </a:stretch>
        </p:blipFill>
        <p:spPr bwMode="auto">
          <a:xfrm>
            <a:off x="7359969" y="770731"/>
            <a:ext cx="4248150" cy="155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Imagen 1"/>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236379" y="4363213"/>
            <a:ext cx="1615281" cy="1538753"/>
          </a:xfrm>
          <a:prstGeom prst="rect">
            <a:avLst/>
          </a:prstGeom>
        </p:spPr>
      </p:pic>
    </p:spTree>
    <p:extLst>
      <p:ext uri="{BB962C8B-B14F-4D97-AF65-F5344CB8AC3E}">
        <p14:creationId xmlns:p14="http://schemas.microsoft.com/office/powerpoint/2010/main" val="2175635188"/>
      </p:ext>
    </p:extLst>
  </p:cSld>
  <p:clrMapOvr>
    <a:masterClrMapping/>
  </p:clrMapOvr>
  <p:transition/>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8af6109-1e16-47a3-9a05-e98a00a39cd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69F542BAC80FA84FBF5A6B6B634ED86F" ma:contentTypeVersion="16" ma:contentTypeDescription="Crear nuevo documento." ma:contentTypeScope="" ma:versionID="165ca254c389941b400af4f7be8ea3d5">
  <xsd:schema xmlns:xsd="http://www.w3.org/2001/XMLSchema" xmlns:xs="http://www.w3.org/2001/XMLSchema" xmlns:p="http://schemas.microsoft.com/office/2006/metadata/properties" xmlns:ns3="28af6109-1e16-47a3-9a05-e98a00a39cdc" xmlns:ns4="d5740eb8-95a7-477f-8a2b-0b5e189fc3b6" targetNamespace="http://schemas.microsoft.com/office/2006/metadata/properties" ma:root="true" ma:fieldsID="8999d555bcff385f2ce3647c5b45bc79" ns3:_="" ns4:_="">
    <xsd:import namespace="28af6109-1e16-47a3-9a05-e98a00a39cdc"/>
    <xsd:import namespace="d5740eb8-95a7-477f-8a2b-0b5e189fc3b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_activity" minOccurs="0"/>
                <xsd:element ref="ns3:MediaServiceObjectDetectorVersions" minOccurs="0"/>
                <xsd:element ref="ns3:MediaServiceSystemTag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af6109-1e16-47a3-9a05-e98a00a39c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740eb8-95a7-477f-8a2b-0b5e189fc3b6"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SharingHintHash" ma:index="12"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00F88F-4974-404D-9C20-C967F417DACF}">
  <ds:schemaRefs>
    <ds:schemaRef ds:uri="http://purl.org/dc/elements/1.1/"/>
    <ds:schemaRef ds:uri="http://www.w3.org/XML/1998/namespace"/>
    <ds:schemaRef ds:uri="28af6109-1e16-47a3-9a05-e98a00a39cdc"/>
    <ds:schemaRef ds:uri="http://purl.org/dc/terms/"/>
    <ds:schemaRef ds:uri="http://schemas.microsoft.com/office/2006/metadata/properties"/>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d5740eb8-95a7-477f-8a2b-0b5e189fc3b6"/>
  </ds:schemaRefs>
</ds:datastoreItem>
</file>

<file path=customXml/itemProps2.xml><?xml version="1.0" encoding="utf-8"?>
<ds:datastoreItem xmlns:ds="http://schemas.openxmlformats.org/officeDocument/2006/customXml" ds:itemID="{9F0B8E4C-5270-439C-B3BA-2A542C44E7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af6109-1e16-47a3-9a05-e98a00a39cdc"/>
    <ds:schemaRef ds:uri="d5740eb8-95a7-477f-8a2b-0b5e189fc3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4081592-A7F0-47B5-8156-4224D38D19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5126</TotalTime>
  <Words>6343</Words>
  <Application>Microsoft Office PowerPoint</Application>
  <PresentationFormat>Panorámica</PresentationFormat>
  <Paragraphs>655</Paragraphs>
  <Slides>49</Slides>
  <Notes>40</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49</vt:i4>
      </vt:variant>
    </vt:vector>
  </HeadingPairs>
  <TitlesOfParts>
    <vt:vector size="61" baseType="lpstr">
      <vt:lpstr>MS PGothic</vt:lpstr>
      <vt:lpstr>MS PGothic</vt:lpstr>
      <vt:lpstr>Arial</vt:lpstr>
      <vt:lpstr>BlurMedium</vt:lpstr>
      <vt:lpstr>Calibri</vt:lpstr>
      <vt:lpstr>Comic Sans MS</vt:lpstr>
      <vt:lpstr>Lato</vt:lpstr>
      <vt:lpstr>Lucida Sans</vt:lpstr>
      <vt:lpstr>Times New Roman</vt:lpstr>
      <vt:lpstr>Wingdings</vt:lpstr>
      <vt:lpstr>Wingdings 3</vt:lpstr>
      <vt:lpstr>Tema de Office</vt:lpstr>
      <vt:lpstr>ETICA E INGENIERÍA</vt:lpstr>
      <vt:lpstr>INDICE</vt:lpstr>
      <vt:lpstr>PREGUNTAS POR RESOLVER</vt:lpstr>
      <vt:lpstr>Ética y TIC </vt:lpstr>
      <vt:lpstr>2.2 Etica del profesional: concepto</vt:lpstr>
      <vt:lpstr>2.2 Ética del profesional: finalidad</vt:lpstr>
      <vt:lpstr>2.2 Etica del profesional. Algunas teorías éticas para decidir</vt:lpstr>
      <vt:lpstr> 2.2.1 Ética consecuencialista/utilitarista  </vt:lpstr>
      <vt:lpstr>2.2.2 Etica de la justicia</vt:lpstr>
      <vt:lpstr> 2.2.3 Ética deontológica/deber racional </vt:lpstr>
      <vt:lpstr>2.2.4 Ética dialógica</vt:lpstr>
      <vt:lpstr>2.2.5 Ética de la virtud</vt:lpstr>
      <vt:lpstr>2.2.6 Ética del cuidado</vt:lpstr>
      <vt:lpstr>Ética profesional</vt:lpstr>
      <vt:lpstr>Presentación de PowerPoint</vt:lpstr>
      <vt:lpstr>Códigos deontológicos (ética profesional)</vt:lpstr>
      <vt:lpstr>Códigos de ética en la ingeniería TIC</vt:lpstr>
      <vt:lpstr>2.2 Problemas éticos relevantes en ingeniería: Seguridad, uso dual</vt:lpstr>
      <vt:lpstr>2.2 Problemas éticos relevantes en ingeniería: Seguridad, uso dual</vt:lpstr>
      <vt:lpstr>   2.2 Problemas éticos relevantes en ingeniería: Conflicto de intereses</vt:lpstr>
      <vt:lpstr>2.2 Problemas éticos relevantes en ingeniería: Conflicto de intereses</vt:lpstr>
      <vt:lpstr>2.2 Problemas éticos relevantes en ingeniería: confidencialidad</vt:lpstr>
      <vt:lpstr>2.2 Problemas éticos relevantes en ingeniería: confidencialidad</vt:lpstr>
      <vt:lpstr>2.2 Problemas éticos relevantes en ingeniería: denuncia</vt:lpstr>
      <vt:lpstr>2.2 Problemas éticos relevantes en ingeniería: no discriminación</vt:lpstr>
      <vt:lpstr>2.2 Problemas éticos relevantes en ingeniería: no discriminación</vt:lpstr>
      <vt:lpstr>2.2 Problemas éticos relevantes en ingeniería: propiedad intelectual</vt:lpstr>
      <vt:lpstr>2.2 Problemas éticos relevantes en ingeniería: privacidad</vt:lpstr>
      <vt:lpstr>2.2 Problemas éticos: falta de transparencia</vt:lpstr>
      <vt:lpstr>Presentación de PowerPoint</vt:lpstr>
      <vt:lpstr>Lecturas obligatorias y documental recomendado</vt:lpstr>
      <vt:lpstr>Reflexión del prof. Sergio D´Antonio Maceiras</vt:lpstr>
      <vt:lpstr>Ética y TIC </vt:lpstr>
      <vt:lpstr>¿Por qué es importante la ética empresarial?</vt:lpstr>
      <vt:lpstr>  Contexto de las empresas tecnológicas</vt:lpstr>
      <vt:lpstr>  Contexto de las empresas tecnológicas</vt:lpstr>
      <vt:lpstr>Presentación de PowerPoint</vt:lpstr>
      <vt:lpstr>Ética/Responsabilidad de las organizaciones</vt:lpstr>
      <vt:lpstr>Presentación de PowerPoint</vt:lpstr>
      <vt:lpstr>Presentación de PowerPoint</vt:lpstr>
      <vt:lpstr>Debida diligencia</vt:lpstr>
      <vt:lpstr>Debida diligencia</vt:lpstr>
      <vt:lpstr>RSC Responsabilidad social corporativa</vt:lpstr>
      <vt:lpstr> Principios de la RSC</vt:lpstr>
      <vt:lpstr>RSC reactiva vs RSC estratégica</vt:lpstr>
      <vt:lpstr>RSC estratégica: asuntos relevantes sector TIC</vt:lpstr>
      <vt:lpstr>RSC estratégica: asuntos relevantes sector TIC</vt:lpstr>
      <vt:lpstr>¿Qué NO es la RSC?</vt:lpstr>
      <vt:lpstr> INICIATIVAS EMPRESARIALES  RELACIONADAS CON RSC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ALEJANDRO D ANTONIO MACEIRAS</dc:creator>
  <cp:lastModifiedBy>MARIA CELIA FERNANDEZ ALLER</cp:lastModifiedBy>
  <cp:revision>158</cp:revision>
  <cp:lastPrinted>2023-03-15T14:40:05Z</cp:lastPrinted>
  <dcterms:created xsi:type="dcterms:W3CDTF">2023-01-30T17:12:15Z</dcterms:created>
  <dcterms:modified xsi:type="dcterms:W3CDTF">2025-03-27T09:50:26Z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0x01010069F542BAC80FA84FBF5A6B6B634ED86F</vt:lpwstr>
  </property>
</Properties>
</file>